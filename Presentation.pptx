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notesMasterIdLst>
    <p:notesMasterId r:id="rId39"/>
  </p:notesMasterIdLst>
  <p:sldIdLst>
    <p:sldId id="256" r:id="rId3"/>
    <p:sldId id="257" r:id="rId4"/>
    <p:sldId id="258" r:id="rId5"/>
    <p:sldId id="279" r:id="rId6"/>
    <p:sldId id="278" r:id="rId7"/>
    <p:sldId id="259" r:id="rId8"/>
    <p:sldId id="280" r:id="rId9"/>
    <p:sldId id="301" r:id="rId10"/>
    <p:sldId id="302" r:id="rId11"/>
    <p:sldId id="281" r:id="rId12"/>
    <p:sldId id="267" r:id="rId13"/>
    <p:sldId id="262" r:id="rId14"/>
    <p:sldId id="282" r:id="rId15"/>
    <p:sldId id="264" r:id="rId16"/>
    <p:sldId id="286" r:id="rId17"/>
    <p:sldId id="270" r:id="rId18"/>
    <p:sldId id="289" r:id="rId19"/>
    <p:sldId id="297" r:id="rId20"/>
    <p:sldId id="293" r:id="rId21"/>
    <p:sldId id="272" r:id="rId22"/>
    <p:sldId id="291" r:id="rId23"/>
    <p:sldId id="292" r:id="rId24"/>
    <p:sldId id="271" r:id="rId25"/>
    <p:sldId id="287" r:id="rId26"/>
    <p:sldId id="288" r:id="rId27"/>
    <p:sldId id="295" r:id="rId28"/>
    <p:sldId id="294" r:id="rId29"/>
    <p:sldId id="296" r:id="rId30"/>
    <p:sldId id="274" r:id="rId31"/>
    <p:sldId id="283" r:id="rId32"/>
    <p:sldId id="263" r:id="rId33"/>
    <p:sldId id="284" r:id="rId34"/>
    <p:sldId id="285" r:id="rId35"/>
    <p:sldId id="265" r:id="rId36"/>
    <p:sldId id="299" r:id="rId37"/>
    <p:sldId id="300" r:id="rId38"/>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14" y="2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B4EBA5E0-F94D-4162-81E2-E10296F5B20D}" type="datetimeFigureOut">
              <a:rPr lang="en-US" smtClean="0"/>
              <a:t>1/21/2026</a:t>
            </a:fld>
            <a:endParaRPr lang="en-US"/>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91428A36-CDCF-4C83-A1B7-FC41F9BEDEBC}" type="slidenum">
              <a:rPr lang="en-US" smtClean="0"/>
              <a:t>‹#›</a:t>
            </a:fld>
            <a:endParaRPr lang="en-US"/>
          </a:p>
        </p:txBody>
      </p:sp>
    </p:spTree>
    <p:extLst>
      <p:ext uri="{BB962C8B-B14F-4D97-AF65-F5344CB8AC3E}">
        <p14:creationId xmlns:p14="http://schemas.microsoft.com/office/powerpoint/2010/main" val="2037313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428A36-CDCF-4C83-A1B7-FC41F9BEDEBC}" type="slidenum">
              <a:rPr lang="en-US" smtClean="0"/>
              <a:t>10</a:t>
            </a:fld>
            <a:endParaRPr lang="en-US"/>
          </a:p>
        </p:txBody>
      </p:sp>
    </p:spTree>
    <p:extLst>
      <p:ext uri="{BB962C8B-B14F-4D97-AF65-F5344CB8AC3E}">
        <p14:creationId xmlns:p14="http://schemas.microsoft.com/office/powerpoint/2010/main" val="2722850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F3258-43A4-38B8-05E8-BFA2414DA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1F0AF-EE52-A868-C752-42EBD6A7A2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C172D9-C5D3-1B0D-FBB1-5639FF2B86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A9A1FD-4A14-C470-1410-DBCA348D8FE1}"/>
              </a:ext>
            </a:extLst>
          </p:cNvPr>
          <p:cNvSpPr>
            <a:spLocks noGrp="1"/>
          </p:cNvSpPr>
          <p:nvPr>
            <p:ph type="sldNum" sz="quarter" idx="5"/>
          </p:nvPr>
        </p:nvSpPr>
        <p:spPr/>
        <p:txBody>
          <a:bodyPr/>
          <a:lstStyle/>
          <a:p>
            <a:fld id="{91428A36-CDCF-4C83-A1B7-FC41F9BEDEBC}" type="slidenum">
              <a:rPr lang="en-US" smtClean="0"/>
              <a:t>13</a:t>
            </a:fld>
            <a:endParaRPr lang="en-US"/>
          </a:p>
        </p:txBody>
      </p:sp>
    </p:spTree>
    <p:extLst>
      <p:ext uri="{BB962C8B-B14F-4D97-AF65-F5344CB8AC3E}">
        <p14:creationId xmlns:p14="http://schemas.microsoft.com/office/powerpoint/2010/main" val="1412758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B361C-954D-B7E5-940A-0E0504FE6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08F9E-C473-7B67-BBF3-EFD04103C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0323E-A983-3A0D-BE3E-0BB1170DC1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BA3BCE-5DA9-1C1E-7B84-3DB0EA2FF4A1}"/>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142086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9795C-A40B-DE5A-909C-798E60599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41BB44-E27A-76EF-C5EF-B64DA016C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AE9031-1F39-DC6E-E1EE-4A1E45F642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769EC8-7008-1B63-C864-2523CFBF794B}"/>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243467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6A66C-5132-6865-1EE8-BFB4B4D5E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F85C7-6CCB-441F-040F-DB5F89810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3FB54-8259-19AF-0898-70660F07B5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CB2A6D-E971-99C1-D8E1-D28613E5D4A1}"/>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903470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F05C8-C5E6-B8BF-3FA5-962BDD661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B71B6-5CEA-6F5C-3D48-AC8D2FB90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0A28EB-4C6A-58BC-2C63-16BA2E5831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C0F14D-47A1-6434-4628-EDEE668FFDD5}"/>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277978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57A3B-0CEE-070C-A19C-7B70AD5CE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151D02-D122-AB0F-C7BA-36F142114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0F27D4-7916-23D8-673E-3679776835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25F824-B959-7E97-7B9B-E493206322AC}"/>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4012456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6800" b="0" i="0">
                <a:solidFill>
                  <a:srgbClr val="F1EADE"/>
                </a:solidFill>
                <a:latin typeface="Garamond"/>
                <a:cs typeface="Garamond"/>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000" b="0" i="0">
                <a:solidFill>
                  <a:srgbClr val="F1EADE"/>
                </a:solidFill>
                <a:latin typeface="Gill Sans MT"/>
                <a:cs typeface="Gill Sans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5F8262"/>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0"/>
            <a:ext cx="8236483" cy="5824548"/>
          </a:xfrm>
          <a:prstGeom prst="rect">
            <a:avLst/>
          </a:prstGeom>
        </p:spPr>
      </p:pic>
      <p:pic>
        <p:nvPicPr>
          <p:cNvPr id="18" name="bg object 18"/>
          <p:cNvPicPr/>
          <p:nvPr/>
        </p:nvPicPr>
        <p:blipFill>
          <a:blip r:embed="rId3" cstate="print"/>
          <a:stretch>
            <a:fillRect/>
          </a:stretch>
        </p:blipFill>
        <p:spPr>
          <a:xfrm>
            <a:off x="10032082" y="3139242"/>
            <a:ext cx="8255917" cy="7147784"/>
          </a:xfrm>
          <a:prstGeom prst="rect">
            <a:avLst/>
          </a:prstGeom>
        </p:spPr>
      </p:pic>
      <p:sp>
        <p:nvSpPr>
          <p:cNvPr id="2" name="Holder 2"/>
          <p:cNvSpPr>
            <a:spLocks noGrp="1"/>
          </p:cNvSpPr>
          <p:nvPr>
            <p:ph type="title"/>
          </p:nvPr>
        </p:nvSpPr>
        <p:spPr/>
        <p:txBody>
          <a:bodyPr lIns="0" tIns="0" rIns="0" bIns="0"/>
          <a:lstStyle>
            <a:lvl1pPr>
              <a:defRPr sz="6800" b="0" i="0">
                <a:solidFill>
                  <a:srgbClr val="F1EADE"/>
                </a:solidFill>
                <a:latin typeface="Garamond"/>
                <a:cs typeface="Garamond"/>
              </a:defRPr>
            </a:lvl1pPr>
          </a:lstStyle>
          <a:p>
            <a:endParaRPr/>
          </a:p>
        </p:txBody>
      </p:sp>
      <p:sp>
        <p:nvSpPr>
          <p:cNvPr id="3" name="Holder 3"/>
          <p:cNvSpPr>
            <a:spLocks noGrp="1"/>
          </p:cNvSpPr>
          <p:nvPr>
            <p:ph type="body" idx="1"/>
          </p:nvPr>
        </p:nvSpPr>
        <p:spPr/>
        <p:txBody>
          <a:bodyPr lIns="0" tIns="0" rIns="0" bIns="0"/>
          <a:lstStyle>
            <a:lvl1pPr>
              <a:defRPr sz="3000" b="0" i="0">
                <a:solidFill>
                  <a:srgbClr val="F1EADE"/>
                </a:solidFill>
                <a:latin typeface="Gill Sans MT"/>
                <a:cs typeface="Gill Sans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800" b="0" i="0">
                <a:solidFill>
                  <a:srgbClr val="F1EADE"/>
                </a:solidFill>
                <a:latin typeface="Garamond"/>
                <a:cs typeface="Garamond"/>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5F8262"/>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0"/>
            <a:ext cx="8779396" cy="6549746"/>
          </a:xfrm>
          <a:prstGeom prst="rect">
            <a:avLst/>
          </a:prstGeom>
        </p:spPr>
      </p:pic>
      <p:pic>
        <p:nvPicPr>
          <p:cNvPr id="18" name="bg object 18"/>
          <p:cNvPicPr/>
          <p:nvPr/>
        </p:nvPicPr>
        <p:blipFill>
          <a:blip r:embed="rId3" cstate="print"/>
          <a:stretch>
            <a:fillRect/>
          </a:stretch>
        </p:blipFill>
        <p:spPr>
          <a:xfrm>
            <a:off x="10032098" y="3139248"/>
            <a:ext cx="8255901" cy="7147778"/>
          </a:xfrm>
          <a:prstGeom prst="rect">
            <a:avLst/>
          </a:prstGeom>
        </p:spPr>
      </p:pic>
      <p:sp>
        <p:nvSpPr>
          <p:cNvPr id="2" name="Holder 2"/>
          <p:cNvSpPr>
            <a:spLocks noGrp="1"/>
          </p:cNvSpPr>
          <p:nvPr>
            <p:ph type="title"/>
          </p:nvPr>
        </p:nvSpPr>
        <p:spPr/>
        <p:txBody>
          <a:bodyPr lIns="0" tIns="0" rIns="0" bIns="0"/>
          <a:lstStyle>
            <a:lvl1pPr>
              <a:defRPr sz="6800" b="0" i="0">
                <a:solidFill>
                  <a:srgbClr val="F1EADE"/>
                </a:solidFill>
                <a:latin typeface="Garamond"/>
                <a:cs typeface="Garamond"/>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8687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46D24-9150-70C3-80A5-063197CEA291}"/>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A72DB428-025B-2A35-FD1F-76DF9E87F2FF}"/>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CB1A35F4-C446-9A08-620D-349152F1AE70}"/>
              </a:ext>
            </a:extLst>
          </p:cNvPr>
          <p:cNvSpPr>
            <a:spLocks noGrp="1"/>
          </p:cNvSpPr>
          <p:nvPr>
            <p:ph type="dt" sz="half" idx="10"/>
          </p:nvPr>
        </p:nvSpPr>
        <p:spPr/>
        <p:txBody>
          <a:bodyPr/>
          <a:lstStyle/>
          <a:p>
            <a:fld id="{1D8BD707-D9CF-40AE-B4C6-C98DA3205C09}" type="datetimeFigureOut">
              <a:rPr lang="en-US" smtClean="0"/>
              <a:t>1/21/2026</a:t>
            </a:fld>
            <a:endParaRPr lang="en-US"/>
          </a:p>
        </p:txBody>
      </p:sp>
      <p:sp>
        <p:nvSpPr>
          <p:cNvPr id="5" name="Footer Placeholder 4">
            <a:extLst>
              <a:ext uri="{FF2B5EF4-FFF2-40B4-BE49-F238E27FC236}">
                <a16:creationId xmlns:a16="http://schemas.microsoft.com/office/drawing/2014/main" id="{437FB695-1085-A5D2-AC66-3312FAB366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3870C7-F742-BB9A-2A99-81F9067D367E}"/>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12183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273AF-21AA-E464-687B-B641ED79A6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E01AEC-96F4-9895-0760-8439A0D77B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EB4E81-E7F8-CB39-B260-9CB0926624A3}"/>
              </a:ext>
            </a:extLst>
          </p:cNvPr>
          <p:cNvSpPr>
            <a:spLocks noGrp="1"/>
          </p:cNvSpPr>
          <p:nvPr>
            <p:ph type="dt" sz="half" idx="10"/>
          </p:nvPr>
        </p:nvSpPr>
        <p:spPr/>
        <p:txBody>
          <a:bodyPr/>
          <a:lstStyle/>
          <a:p>
            <a:fld id="{1D8BD707-D9CF-40AE-B4C6-C98DA3205C09}" type="datetimeFigureOut">
              <a:rPr lang="en-US" smtClean="0"/>
              <a:t>1/21/2026</a:t>
            </a:fld>
            <a:endParaRPr lang="en-US"/>
          </a:p>
        </p:txBody>
      </p:sp>
      <p:sp>
        <p:nvSpPr>
          <p:cNvPr id="5" name="Footer Placeholder 4">
            <a:extLst>
              <a:ext uri="{FF2B5EF4-FFF2-40B4-BE49-F238E27FC236}">
                <a16:creationId xmlns:a16="http://schemas.microsoft.com/office/drawing/2014/main" id="{04121E40-4669-DA2C-E113-28E7B87806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06C698-7A16-B951-40E6-11C1FC41889D}"/>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25171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678C9-539F-D521-F054-C51EC6AB5B2C}"/>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a:extLst>
              <a:ext uri="{FF2B5EF4-FFF2-40B4-BE49-F238E27FC236}">
                <a16:creationId xmlns:a16="http://schemas.microsoft.com/office/drawing/2014/main" id="{B4F7AF85-D9EE-7846-7981-A69278117AE6}"/>
              </a:ext>
            </a:extLst>
          </p:cNvPr>
          <p:cNvSpPr>
            <a:spLocks noGrp="1"/>
          </p:cNvSpPr>
          <p:nvPr>
            <p:ph type="body" idx="1"/>
          </p:nvPr>
        </p:nvSpPr>
        <p:spPr>
          <a:xfrm>
            <a:off x="1247775" y="6884195"/>
            <a:ext cx="15773400" cy="2250281"/>
          </a:xfrm>
        </p:spPr>
        <p:txBody>
          <a:bodyPr/>
          <a:lstStyle>
            <a:lvl1pPr marL="0" indent="0">
              <a:buNone/>
              <a:defRPr sz="3600">
                <a:solidFill>
                  <a:schemeClr val="tx1">
                    <a:tint val="82000"/>
                  </a:schemeClr>
                </a:solidFill>
              </a:defRPr>
            </a:lvl1pPr>
            <a:lvl2pPr marL="685800" indent="0">
              <a:buNone/>
              <a:defRPr sz="3000">
                <a:solidFill>
                  <a:schemeClr val="tx1">
                    <a:tint val="82000"/>
                  </a:schemeClr>
                </a:solidFill>
              </a:defRPr>
            </a:lvl2pPr>
            <a:lvl3pPr marL="1371600" indent="0">
              <a:buNone/>
              <a:defRPr sz="2700">
                <a:solidFill>
                  <a:schemeClr val="tx1">
                    <a:tint val="82000"/>
                  </a:schemeClr>
                </a:solidFill>
              </a:defRPr>
            </a:lvl3pPr>
            <a:lvl4pPr marL="2057400" indent="0">
              <a:buNone/>
              <a:defRPr sz="2400">
                <a:solidFill>
                  <a:schemeClr val="tx1">
                    <a:tint val="82000"/>
                  </a:schemeClr>
                </a:solidFill>
              </a:defRPr>
            </a:lvl4pPr>
            <a:lvl5pPr marL="2743200" indent="0">
              <a:buNone/>
              <a:defRPr sz="2400">
                <a:solidFill>
                  <a:schemeClr val="tx1">
                    <a:tint val="82000"/>
                  </a:schemeClr>
                </a:solidFill>
              </a:defRPr>
            </a:lvl5pPr>
            <a:lvl6pPr marL="3429000" indent="0">
              <a:buNone/>
              <a:defRPr sz="2400">
                <a:solidFill>
                  <a:schemeClr val="tx1">
                    <a:tint val="82000"/>
                  </a:schemeClr>
                </a:solidFill>
              </a:defRPr>
            </a:lvl6pPr>
            <a:lvl7pPr marL="4114800" indent="0">
              <a:buNone/>
              <a:defRPr sz="2400">
                <a:solidFill>
                  <a:schemeClr val="tx1">
                    <a:tint val="82000"/>
                  </a:schemeClr>
                </a:solidFill>
              </a:defRPr>
            </a:lvl7pPr>
            <a:lvl8pPr marL="4800600" indent="0">
              <a:buNone/>
              <a:defRPr sz="2400">
                <a:solidFill>
                  <a:schemeClr val="tx1">
                    <a:tint val="82000"/>
                  </a:schemeClr>
                </a:solidFill>
              </a:defRPr>
            </a:lvl8pPr>
            <a:lvl9pPr marL="5486400" indent="0">
              <a:buNone/>
              <a:defRPr sz="24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514DEE-8824-1E29-25C7-8EF597EC6D35}"/>
              </a:ext>
            </a:extLst>
          </p:cNvPr>
          <p:cNvSpPr>
            <a:spLocks noGrp="1"/>
          </p:cNvSpPr>
          <p:nvPr>
            <p:ph type="dt" sz="half" idx="10"/>
          </p:nvPr>
        </p:nvSpPr>
        <p:spPr/>
        <p:txBody>
          <a:bodyPr/>
          <a:lstStyle/>
          <a:p>
            <a:fld id="{1D8BD707-D9CF-40AE-B4C6-C98DA3205C09}" type="datetimeFigureOut">
              <a:rPr lang="en-US" smtClean="0"/>
              <a:t>1/21/2026</a:t>
            </a:fld>
            <a:endParaRPr lang="en-US"/>
          </a:p>
        </p:txBody>
      </p:sp>
      <p:sp>
        <p:nvSpPr>
          <p:cNvPr id="5" name="Footer Placeholder 4">
            <a:extLst>
              <a:ext uri="{FF2B5EF4-FFF2-40B4-BE49-F238E27FC236}">
                <a16:creationId xmlns:a16="http://schemas.microsoft.com/office/drawing/2014/main" id="{E6ED9878-9909-CFBF-B69B-80CF31E5B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08F31-9670-BEAA-150D-51ABAF1FE402}"/>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812064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B2708-871B-0C8A-75A6-C447AC54E6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F4DD88-E3B0-645D-9386-EFC72D7883DD}"/>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3B700B-6EC3-6494-7007-9288FABD0D71}"/>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F22CC5-BC14-CF43-B5A4-09285EE2BE20}"/>
              </a:ext>
            </a:extLst>
          </p:cNvPr>
          <p:cNvSpPr>
            <a:spLocks noGrp="1"/>
          </p:cNvSpPr>
          <p:nvPr>
            <p:ph type="dt" sz="half" idx="10"/>
          </p:nvPr>
        </p:nvSpPr>
        <p:spPr/>
        <p:txBody>
          <a:bodyPr/>
          <a:lstStyle/>
          <a:p>
            <a:fld id="{1D8BD707-D9CF-40AE-B4C6-C98DA3205C09}" type="datetimeFigureOut">
              <a:rPr lang="en-US" smtClean="0"/>
              <a:t>1/21/2026</a:t>
            </a:fld>
            <a:endParaRPr lang="en-US"/>
          </a:p>
        </p:txBody>
      </p:sp>
      <p:sp>
        <p:nvSpPr>
          <p:cNvPr id="6" name="Footer Placeholder 5">
            <a:extLst>
              <a:ext uri="{FF2B5EF4-FFF2-40B4-BE49-F238E27FC236}">
                <a16:creationId xmlns:a16="http://schemas.microsoft.com/office/drawing/2014/main" id="{689E58EB-26C0-2BDA-492B-01B1151017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362F50-367A-8DCE-467D-D0BBAC1E1814}"/>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689944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C1F23-2B66-D9AB-5E8C-20BA7345C589}"/>
              </a:ext>
            </a:extLst>
          </p:cNvPr>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4B9FEE-A3A1-ED28-808C-A29966241318}"/>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27A84F47-C698-944F-6057-60F023A06626}"/>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5E46B5-91DE-39C4-9A07-ADC5773E4A02}"/>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C57238A9-8FB8-3C90-05C3-5E91A7499696}"/>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934C97-451D-BED2-A2AD-BC967D38AE00}"/>
              </a:ext>
            </a:extLst>
          </p:cNvPr>
          <p:cNvSpPr>
            <a:spLocks noGrp="1"/>
          </p:cNvSpPr>
          <p:nvPr>
            <p:ph type="dt" sz="half" idx="10"/>
          </p:nvPr>
        </p:nvSpPr>
        <p:spPr/>
        <p:txBody>
          <a:bodyPr/>
          <a:lstStyle/>
          <a:p>
            <a:fld id="{1D8BD707-D9CF-40AE-B4C6-C98DA3205C09}" type="datetimeFigureOut">
              <a:rPr lang="en-US" smtClean="0"/>
              <a:t>1/21/2026</a:t>
            </a:fld>
            <a:endParaRPr lang="en-US"/>
          </a:p>
        </p:txBody>
      </p:sp>
      <p:sp>
        <p:nvSpPr>
          <p:cNvPr id="8" name="Footer Placeholder 7">
            <a:extLst>
              <a:ext uri="{FF2B5EF4-FFF2-40B4-BE49-F238E27FC236}">
                <a16:creationId xmlns:a16="http://schemas.microsoft.com/office/drawing/2014/main" id="{69C2A7CA-C155-3B97-126F-1D52699D40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EC9BCE-5DC0-3559-00BC-C4A9DB6CFCC4}"/>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82003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73A58-0A63-0C18-7E9B-C6AB2DE1D6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241905-FB91-437C-35C0-4984F4F12B79}"/>
              </a:ext>
            </a:extLst>
          </p:cNvPr>
          <p:cNvSpPr>
            <a:spLocks noGrp="1"/>
          </p:cNvSpPr>
          <p:nvPr>
            <p:ph type="dt" sz="half" idx="10"/>
          </p:nvPr>
        </p:nvSpPr>
        <p:spPr/>
        <p:txBody>
          <a:bodyPr/>
          <a:lstStyle/>
          <a:p>
            <a:fld id="{1D8BD707-D9CF-40AE-B4C6-C98DA3205C09}" type="datetimeFigureOut">
              <a:rPr lang="en-US" smtClean="0"/>
              <a:t>1/21/2026</a:t>
            </a:fld>
            <a:endParaRPr lang="en-US"/>
          </a:p>
        </p:txBody>
      </p:sp>
      <p:sp>
        <p:nvSpPr>
          <p:cNvPr id="4" name="Footer Placeholder 3">
            <a:extLst>
              <a:ext uri="{FF2B5EF4-FFF2-40B4-BE49-F238E27FC236}">
                <a16:creationId xmlns:a16="http://schemas.microsoft.com/office/drawing/2014/main" id="{B4B29A68-5206-DC26-91DF-9B44435937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6EBAC8-8031-4E3B-DD23-14B73CCE3630}"/>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4623302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7ED834-7D10-92A4-8A6D-31F2AD76E9DC}"/>
              </a:ext>
            </a:extLst>
          </p:cNvPr>
          <p:cNvSpPr>
            <a:spLocks noGrp="1"/>
          </p:cNvSpPr>
          <p:nvPr>
            <p:ph type="dt" sz="half" idx="10"/>
          </p:nvPr>
        </p:nvSpPr>
        <p:spPr/>
        <p:txBody>
          <a:bodyPr/>
          <a:lstStyle/>
          <a:p>
            <a:fld id="{1D8BD707-D9CF-40AE-B4C6-C98DA3205C09}" type="datetimeFigureOut">
              <a:rPr lang="en-US" smtClean="0"/>
              <a:t>1/21/2026</a:t>
            </a:fld>
            <a:endParaRPr lang="en-US"/>
          </a:p>
        </p:txBody>
      </p:sp>
      <p:sp>
        <p:nvSpPr>
          <p:cNvPr id="3" name="Footer Placeholder 2">
            <a:extLst>
              <a:ext uri="{FF2B5EF4-FFF2-40B4-BE49-F238E27FC236}">
                <a16:creationId xmlns:a16="http://schemas.microsoft.com/office/drawing/2014/main" id="{0341D72F-EF1D-9685-C9D1-8297E2EC07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189FE9-DD4D-412A-A205-57A35AC87A78}"/>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28540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49A84-CBCE-DE4A-6D61-01B57878A41A}"/>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809828FE-E342-4A25-2E1F-E32AFE62338E}"/>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BDC09A-A5E8-9579-19B6-E310CABD41E6}"/>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80D720B2-0826-AEF6-F1A1-74521653716A}"/>
              </a:ext>
            </a:extLst>
          </p:cNvPr>
          <p:cNvSpPr>
            <a:spLocks noGrp="1"/>
          </p:cNvSpPr>
          <p:nvPr>
            <p:ph type="dt" sz="half" idx="10"/>
          </p:nvPr>
        </p:nvSpPr>
        <p:spPr/>
        <p:txBody>
          <a:bodyPr/>
          <a:lstStyle/>
          <a:p>
            <a:fld id="{1D8BD707-D9CF-40AE-B4C6-C98DA3205C09}" type="datetimeFigureOut">
              <a:rPr lang="en-US" smtClean="0"/>
              <a:t>1/21/2026</a:t>
            </a:fld>
            <a:endParaRPr lang="en-US"/>
          </a:p>
        </p:txBody>
      </p:sp>
      <p:sp>
        <p:nvSpPr>
          <p:cNvPr id="6" name="Footer Placeholder 5">
            <a:extLst>
              <a:ext uri="{FF2B5EF4-FFF2-40B4-BE49-F238E27FC236}">
                <a16:creationId xmlns:a16="http://schemas.microsoft.com/office/drawing/2014/main" id="{2F6783EA-8A7D-BF03-1CFA-38BE6A96D8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E96EAE-4B1D-F5D0-3B5F-9A49C5B95E73}"/>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447207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0D64C-F898-859C-8A80-F1F5864F2982}"/>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a:extLst>
              <a:ext uri="{FF2B5EF4-FFF2-40B4-BE49-F238E27FC236}">
                <a16:creationId xmlns:a16="http://schemas.microsoft.com/office/drawing/2014/main" id="{CED6959E-4133-18F8-8010-01534D082BB9}"/>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a:extLst>
              <a:ext uri="{FF2B5EF4-FFF2-40B4-BE49-F238E27FC236}">
                <a16:creationId xmlns:a16="http://schemas.microsoft.com/office/drawing/2014/main" id="{FC2BF636-657D-4639-6E68-7BB67878332F}"/>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6FE42288-1A16-59F9-A48A-5F3FF1B17475}"/>
              </a:ext>
            </a:extLst>
          </p:cNvPr>
          <p:cNvSpPr>
            <a:spLocks noGrp="1"/>
          </p:cNvSpPr>
          <p:nvPr>
            <p:ph type="dt" sz="half" idx="10"/>
          </p:nvPr>
        </p:nvSpPr>
        <p:spPr/>
        <p:txBody>
          <a:bodyPr/>
          <a:lstStyle/>
          <a:p>
            <a:fld id="{1D8BD707-D9CF-40AE-B4C6-C98DA3205C09}" type="datetimeFigureOut">
              <a:rPr lang="en-US" smtClean="0"/>
              <a:t>1/21/2026</a:t>
            </a:fld>
            <a:endParaRPr lang="en-US"/>
          </a:p>
        </p:txBody>
      </p:sp>
      <p:sp>
        <p:nvSpPr>
          <p:cNvPr id="6" name="Footer Placeholder 5">
            <a:extLst>
              <a:ext uri="{FF2B5EF4-FFF2-40B4-BE49-F238E27FC236}">
                <a16:creationId xmlns:a16="http://schemas.microsoft.com/office/drawing/2014/main" id="{15DF5590-7B35-8024-92BD-B0026F8947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BBD864-7CEC-11D9-599B-3BFB0C30FEF8}"/>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0620160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9AB52-3A78-A7D4-CF4E-ACA700953A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7B1A21-27D4-205C-3550-2E4E2F7CD0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41D0B8-E7EB-A449-EDBB-C00420B8DF72}"/>
              </a:ext>
            </a:extLst>
          </p:cNvPr>
          <p:cNvSpPr>
            <a:spLocks noGrp="1"/>
          </p:cNvSpPr>
          <p:nvPr>
            <p:ph type="dt" sz="half" idx="10"/>
          </p:nvPr>
        </p:nvSpPr>
        <p:spPr/>
        <p:txBody>
          <a:bodyPr/>
          <a:lstStyle/>
          <a:p>
            <a:fld id="{1D8BD707-D9CF-40AE-B4C6-C98DA3205C09}" type="datetimeFigureOut">
              <a:rPr lang="en-US" smtClean="0"/>
              <a:t>1/21/2026</a:t>
            </a:fld>
            <a:endParaRPr lang="en-US"/>
          </a:p>
        </p:txBody>
      </p:sp>
      <p:sp>
        <p:nvSpPr>
          <p:cNvPr id="5" name="Footer Placeholder 4">
            <a:extLst>
              <a:ext uri="{FF2B5EF4-FFF2-40B4-BE49-F238E27FC236}">
                <a16:creationId xmlns:a16="http://schemas.microsoft.com/office/drawing/2014/main" id="{EFD0213B-C6F5-5D28-DBD6-B7CAAD60E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49B3AE-2BBB-CA5A-BBE0-AFBD53509ED7}"/>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5285499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EE89A9-1AD2-1C63-5168-C3E8338C49B5}"/>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CF4121-B681-B2FB-DE53-B5A5DA80B933}"/>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536A0D-4ABF-6C04-BA8A-6BC4645F1CCD}"/>
              </a:ext>
            </a:extLst>
          </p:cNvPr>
          <p:cNvSpPr>
            <a:spLocks noGrp="1"/>
          </p:cNvSpPr>
          <p:nvPr>
            <p:ph type="dt" sz="half" idx="10"/>
          </p:nvPr>
        </p:nvSpPr>
        <p:spPr/>
        <p:txBody>
          <a:bodyPr/>
          <a:lstStyle/>
          <a:p>
            <a:fld id="{1D8BD707-D9CF-40AE-B4C6-C98DA3205C09}" type="datetimeFigureOut">
              <a:rPr lang="en-US" smtClean="0"/>
              <a:t>1/21/2026</a:t>
            </a:fld>
            <a:endParaRPr lang="en-US"/>
          </a:p>
        </p:txBody>
      </p:sp>
      <p:sp>
        <p:nvSpPr>
          <p:cNvPr id="5" name="Footer Placeholder 4">
            <a:extLst>
              <a:ext uri="{FF2B5EF4-FFF2-40B4-BE49-F238E27FC236}">
                <a16:creationId xmlns:a16="http://schemas.microsoft.com/office/drawing/2014/main" id="{6C9E3943-D4BA-812B-A2C9-EBEA1F7B0B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69321E-B2A4-7BA9-50E4-B9ADB7B66E23}"/>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861581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45084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5F8262"/>
          </a:solidFill>
        </p:spPr>
        <p:txBody>
          <a:bodyPr wrap="square" lIns="0" tIns="0" rIns="0" bIns="0" rtlCol="0"/>
          <a:lstStyle/>
          <a:p>
            <a:endParaRPr/>
          </a:p>
        </p:txBody>
      </p:sp>
      <p:sp>
        <p:nvSpPr>
          <p:cNvPr id="2" name="Holder 2"/>
          <p:cNvSpPr>
            <a:spLocks noGrp="1"/>
          </p:cNvSpPr>
          <p:nvPr>
            <p:ph type="title"/>
          </p:nvPr>
        </p:nvSpPr>
        <p:spPr>
          <a:xfrm>
            <a:off x="3152419" y="1927569"/>
            <a:ext cx="11983161" cy="1066629"/>
          </a:xfrm>
          <a:prstGeom prst="rect">
            <a:avLst/>
          </a:prstGeom>
        </p:spPr>
        <p:txBody>
          <a:bodyPr wrap="square" lIns="0" tIns="0" rIns="0" bIns="0">
            <a:spAutoFit/>
          </a:bodyPr>
          <a:lstStyle>
            <a:lvl1pPr>
              <a:defRPr sz="6800" b="0" i="0">
                <a:solidFill>
                  <a:srgbClr val="F1EADE"/>
                </a:solidFill>
                <a:latin typeface="Garamond"/>
                <a:cs typeface="Garamond"/>
              </a:defRPr>
            </a:lvl1pPr>
          </a:lstStyle>
          <a:p>
            <a:endParaRPr/>
          </a:p>
        </p:txBody>
      </p:sp>
      <p:sp>
        <p:nvSpPr>
          <p:cNvPr id="3" name="Holder 3"/>
          <p:cNvSpPr>
            <a:spLocks noGrp="1"/>
          </p:cNvSpPr>
          <p:nvPr>
            <p:ph type="body" idx="1"/>
          </p:nvPr>
        </p:nvSpPr>
        <p:spPr>
          <a:xfrm>
            <a:off x="803175" y="3680561"/>
            <a:ext cx="7534946" cy="5664200"/>
          </a:xfrm>
          <a:prstGeom prst="rect">
            <a:avLst/>
          </a:prstGeom>
        </p:spPr>
        <p:txBody>
          <a:bodyPr wrap="square" lIns="0" tIns="0" rIns="0" bIns="0">
            <a:spAutoFit/>
          </a:bodyPr>
          <a:lstStyle>
            <a:lvl1pPr>
              <a:defRPr sz="3000" b="0" i="0">
                <a:solidFill>
                  <a:srgbClr val="F1EADE"/>
                </a:solidFill>
                <a:latin typeface="Gill Sans MT"/>
                <a:cs typeface="Gill Sans MT"/>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4F43E8-8215-FF9A-1C90-58222A3803BF}"/>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AF0491-6C76-8E48-CC83-EE358A7E2AF8}"/>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E40CA1-1BFC-5EE9-AB38-804026B2FB54}"/>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82000"/>
                  </a:schemeClr>
                </a:solidFill>
              </a:defRPr>
            </a:lvl1pPr>
          </a:lstStyle>
          <a:p>
            <a:fld id="{1D8BD707-D9CF-40AE-B4C6-C98DA3205C09}" type="datetimeFigureOut">
              <a:rPr lang="en-US" smtClean="0"/>
              <a:t>1/21/2026</a:t>
            </a:fld>
            <a:endParaRPr lang="en-US"/>
          </a:p>
        </p:txBody>
      </p:sp>
      <p:sp>
        <p:nvSpPr>
          <p:cNvPr id="5" name="Footer Placeholder 4">
            <a:extLst>
              <a:ext uri="{FF2B5EF4-FFF2-40B4-BE49-F238E27FC236}">
                <a16:creationId xmlns:a16="http://schemas.microsoft.com/office/drawing/2014/main" id="{347E617C-2DFE-DEE0-E5CB-06EEBCB85EE8}"/>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E8C82FB-AB09-2BF0-1CA3-1A709169346B}"/>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82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17621344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8.xml"/><Relationship Id="rId5" Type="http://schemas.openxmlformats.org/officeDocument/2006/relationships/image" Target="../media/image32.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23657" y="8104967"/>
            <a:ext cx="5575416" cy="1438342"/>
          </a:xfrm>
          <a:prstGeom prst="rect">
            <a:avLst/>
          </a:prstGeom>
        </p:spPr>
        <p:txBody>
          <a:bodyPr vert="horz" wrap="square" lIns="0" tIns="102870" rIns="0" bIns="0" rtlCol="0">
            <a:spAutoFit/>
          </a:bodyPr>
          <a:lstStyle/>
          <a:p>
            <a:pPr algn="ctr">
              <a:lnSpc>
                <a:spcPct val="150000"/>
              </a:lnSpc>
              <a:spcBef>
                <a:spcPts val="810"/>
              </a:spcBef>
            </a:pPr>
            <a:r>
              <a:rPr lang="en-US" sz="2800" b="1" spc="60" dirty="0">
                <a:solidFill>
                  <a:srgbClr val="F1EADE"/>
                </a:solidFill>
                <a:latin typeface="Garamond" panose="02020404030301010803" pitchFamily="18" charset="0"/>
                <a:cs typeface="Arial Narrow"/>
              </a:rPr>
              <a:t>Presented By: Sujal</a:t>
            </a:r>
            <a:r>
              <a:rPr lang="en-US" sz="2800" b="1" spc="50" dirty="0">
                <a:solidFill>
                  <a:srgbClr val="F1EADE"/>
                </a:solidFill>
                <a:latin typeface="Garamond" panose="02020404030301010803" pitchFamily="18" charset="0"/>
                <a:cs typeface="Arial Narrow"/>
              </a:rPr>
              <a:t> </a:t>
            </a:r>
            <a:r>
              <a:rPr lang="en-US" sz="2800" b="1" spc="75" dirty="0">
                <a:solidFill>
                  <a:srgbClr val="F1EADE"/>
                </a:solidFill>
                <a:latin typeface="Garamond" panose="02020404030301010803" pitchFamily="18" charset="0"/>
                <a:cs typeface="Arial Narrow"/>
              </a:rPr>
              <a:t>Parajuli</a:t>
            </a:r>
            <a:endParaRPr lang="en-US" sz="2800" b="1" dirty="0">
              <a:latin typeface="Garamond" panose="02020404030301010803" pitchFamily="18" charset="0"/>
              <a:cs typeface="Arial Narrow"/>
            </a:endParaRPr>
          </a:p>
          <a:p>
            <a:pPr algn="ctr">
              <a:lnSpc>
                <a:spcPct val="150000"/>
              </a:lnSpc>
              <a:spcBef>
                <a:spcPts val="810"/>
              </a:spcBef>
            </a:pPr>
            <a:r>
              <a:rPr lang="en-US" sz="2800" b="1" spc="105" dirty="0">
                <a:solidFill>
                  <a:srgbClr val="F1EADE"/>
                </a:solidFill>
                <a:latin typeface="Garamond" panose="02020404030301010803" pitchFamily="18" charset="0"/>
                <a:cs typeface="Arial Narrow"/>
              </a:rPr>
              <a:t>London Met ID: 23050262</a:t>
            </a:r>
            <a:endParaRPr sz="2800" b="1" dirty="0">
              <a:latin typeface="Garamond" panose="02020404030301010803" pitchFamily="18" charset="0"/>
              <a:cs typeface="Arial Narrow"/>
            </a:endParaRPr>
          </a:p>
        </p:txBody>
      </p:sp>
      <p:sp>
        <p:nvSpPr>
          <p:cNvPr id="3" name="object 3"/>
          <p:cNvSpPr txBox="1"/>
          <p:nvPr/>
        </p:nvSpPr>
        <p:spPr>
          <a:xfrm>
            <a:off x="4267200" y="1181100"/>
            <a:ext cx="10106660" cy="5359400"/>
          </a:xfrm>
          <a:prstGeom prst="rect">
            <a:avLst/>
          </a:prstGeom>
        </p:spPr>
        <p:txBody>
          <a:bodyPr vert="horz" wrap="square" lIns="0" tIns="266700" rIns="0" bIns="0" rtlCol="0">
            <a:spAutoFit/>
          </a:bodyPr>
          <a:lstStyle/>
          <a:p>
            <a:pPr marL="795655" marR="767080" indent="-22860" algn="ctr">
              <a:lnSpc>
                <a:spcPts val="10000"/>
              </a:lnSpc>
              <a:spcBef>
                <a:spcPts val="2100"/>
              </a:spcBef>
            </a:pPr>
            <a:r>
              <a:rPr sz="10000" spc="690" dirty="0">
                <a:solidFill>
                  <a:srgbClr val="F1EADE"/>
                </a:solidFill>
                <a:latin typeface="Garamond"/>
                <a:cs typeface="Garamond"/>
              </a:rPr>
              <a:t>Personalized </a:t>
            </a:r>
            <a:r>
              <a:rPr sz="10000" spc="225" dirty="0">
                <a:solidFill>
                  <a:srgbClr val="F1EADE"/>
                </a:solidFill>
                <a:latin typeface="Garamond"/>
                <a:cs typeface="Garamond"/>
              </a:rPr>
              <a:t>Top-</a:t>
            </a:r>
            <a:r>
              <a:rPr sz="10000" spc="925" dirty="0">
                <a:solidFill>
                  <a:srgbClr val="F1EADE"/>
                </a:solidFill>
                <a:latin typeface="Garamond"/>
                <a:cs typeface="Garamond"/>
              </a:rPr>
              <a:t>N</a:t>
            </a:r>
            <a:r>
              <a:rPr sz="10000" dirty="0">
                <a:solidFill>
                  <a:srgbClr val="F1EADE"/>
                </a:solidFill>
                <a:latin typeface="Garamond"/>
                <a:cs typeface="Garamond"/>
              </a:rPr>
              <a:t> </a:t>
            </a:r>
            <a:r>
              <a:rPr sz="10000" spc="610" dirty="0">
                <a:solidFill>
                  <a:srgbClr val="F1EADE"/>
                </a:solidFill>
                <a:latin typeface="Garamond"/>
                <a:cs typeface="Garamond"/>
              </a:rPr>
              <a:t>Product</a:t>
            </a:r>
            <a:endParaRPr sz="10000" dirty="0">
              <a:latin typeface="Garamond"/>
              <a:cs typeface="Garamond"/>
            </a:endParaRPr>
          </a:p>
          <a:p>
            <a:pPr marL="12700" marR="5080" algn="ctr">
              <a:lnSpc>
                <a:spcPts val="10000"/>
              </a:lnSpc>
            </a:pPr>
            <a:r>
              <a:rPr sz="10000" spc="725" dirty="0">
                <a:solidFill>
                  <a:srgbClr val="F1EADE"/>
                </a:solidFill>
                <a:latin typeface="Garamond"/>
                <a:cs typeface="Garamond"/>
              </a:rPr>
              <a:t>Recommendation </a:t>
            </a:r>
            <a:r>
              <a:rPr sz="10000" spc="800" dirty="0">
                <a:solidFill>
                  <a:srgbClr val="F1EADE"/>
                </a:solidFill>
                <a:latin typeface="Garamond"/>
                <a:cs typeface="Garamond"/>
              </a:rPr>
              <a:t>System</a:t>
            </a:r>
            <a:endParaRPr sz="10000" dirty="0">
              <a:latin typeface="Garamond"/>
              <a:cs typeface="Garamond"/>
            </a:endParaRPr>
          </a:p>
        </p:txBody>
      </p:sp>
      <p:pic>
        <p:nvPicPr>
          <p:cNvPr id="4" name="object 4"/>
          <p:cNvPicPr/>
          <p:nvPr/>
        </p:nvPicPr>
        <p:blipFill>
          <a:blip r:embed="rId2" cstate="print"/>
          <a:stretch>
            <a:fillRect/>
          </a:stretch>
        </p:blipFill>
        <p:spPr>
          <a:xfrm>
            <a:off x="-158225" y="-179619"/>
            <a:ext cx="7884046" cy="5884104"/>
          </a:xfrm>
          <a:prstGeom prst="rect">
            <a:avLst/>
          </a:prstGeom>
        </p:spPr>
      </p:pic>
      <p:pic>
        <p:nvPicPr>
          <p:cNvPr id="5" name="object 5"/>
          <p:cNvPicPr/>
          <p:nvPr/>
        </p:nvPicPr>
        <p:blipFill>
          <a:blip r:embed="rId3" cstate="print"/>
          <a:stretch>
            <a:fillRect/>
          </a:stretch>
        </p:blipFill>
        <p:spPr>
          <a:xfrm>
            <a:off x="12175274" y="4921963"/>
            <a:ext cx="6722380" cy="5365056"/>
          </a:xfrm>
          <a:prstGeom prst="rect">
            <a:avLst/>
          </a:prstGeom>
        </p:spPr>
      </p:pic>
      <p:sp>
        <p:nvSpPr>
          <p:cNvPr id="6" name="TextBox 5">
            <a:extLst>
              <a:ext uri="{FF2B5EF4-FFF2-40B4-BE49-F238E27FC236}">
                <a16:creationId xmlns:a16="http://schemas.microsoft.com/office/drawing/2014/main" id="{A5E1D308-45B6-40D1-20FD-A03E09D78AD9}"/>
              </a:ext>
            </a:extLst>
          </p:cNvPr>
          <p:cNvSpPr txBox="1"/>
          <p:nvPr/>
        </p:nvSpPr>
        <p:spPr>
          <a:xfrm>
            <a:off x="5105400" y="7142826"/>
            <a:ext cx="9601200" cy="461665"/>
          </a:xfrm>
          <a:prstGeom prst="rect">
            <a:avLst/>
          </a:prstGeom>
          <a:noFill/>
        </p:spPr>
        <p:txBody>
          <a:bodyPr wrap="square" rtlCol="0">
            <a:spAutoFit/>
          </a:bodyPr>
          <a:lstStyle/>
          <a:p>
            <a:pPr marL="0" indent="0">
              <a:buNone/>
            </a:pPr>
            <a:r>
              <a:rPr lang="en-US" sz="2400" b="1" dirty="0">
                <a:solidFill>
                  <a:schemeClr val="bg2"/>
                </a:solidFill>
                <a:latin typeface="Garamond" panose="02020404030301010803" pitchFamily="18" charset="0"/>
                <a:ea typeface="Calibri" pitchFamily="34" charset="-122"/>
                <a:cs typeface="Calibri" pitchFamily="34" charset="-120"/>
              </a:rPr>
              <a:t>Amazon Reviews 2023 (McAuley Lab, UCSD) — Electronics</a:t>
            </a:r>
            <a:endParaRPr lang="en-US" sz="2400" b="1" dirty="0">
              <a:solidFill>
                <a:schemeClr val="bg2"/>
              </a:solidFill>
              <a:latin typeface="Garamond" panose="02020404030301010803" pitchFamily="18" charset="0"/>
            </a:endParaRPr>
          </a:p>
        </p:txBody>
      </p:sp>
      <p:cxnSp>
        <p:nvCxnSpPr>
          <p:cNvPr id="8" name="Straight Connector 7">
            <a:extLst>
              <a:ext uri="{FF2B5EF4-FFF2-40B4-BE49-F238E27FC236}">
                <a16:creationId xmlns:a16="http://schemas.microsoft.com/office/drawing/2014/main" id="{51326289-9975-F035-0FE9-87487015291A}"/>
              </a:ext>
            </a:extLst>
          </p:cNvPr>
          <p:cNvCxnSpPr/>
          <p:nvPr/>
        </p:nvCxnSpPr>
        <p:spPr>
          <a:xfrm>
            <a:off x="4572000" y="7810500"/>
            <a:ext cx="86868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60EF90D6-F186-C0A7-0A9E-FDB3563C5A41}"/>
              </a:ext>
            </a:extLst>
          </p:cNvPr>
          <p:cNvSpPr/>
          <p:nvPr/>
        </p:nvSpPr>
        <p:spPr>
          <a:xfrm>
            <a:off x="-18585" y="-1"/>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3" name="object 3" descr="$PPTXTitle"/>
          <p:cNvSpPr txBox="1">
            <a:spLocks noGrp="1"/>
          </p:cNvSpPr>
          <p:nvPr>
            <p:ph type="title"/>
          </p:nvPr>
        </p:nvSpPr>
        <p:spPr>
          <a:xfrm>
            <a:off x="898705" y="772609"/>
            <a:ext cx="5806895" cy="1120820"/>
          </a:xfrm>
          <a:prstGeom prst="rect">
            <a:avLst/>
          </a:prstGeom>
        </p:spPr>
        <p:txBody>
          <a:bodyPr vert="horz" wrap="square" lIns="0" tIns="12700" rIns="0" bIns="0" rtlCol="0">
            <a:spAutoFit/>
          </a:bodyPr>
          <a:lstStyle/>
          <a:p>
            <a:pPr marL="12700">
              <a:lnSpc>
                <a:spcPct val="100000"/>
              </a:lnSpc>
              <a:spcBef>
                <a:spcPts val="100"/>
              </a:spcBef>
            </a:pPr>
            <a:r>
              <a:rPr sz="7200" spc="375" dirty="0">
                <a:solidFill>
                  <a:srgbClr val="37403A"/>
                </a:solidFill>
              </a:rPr>
              <a:t>Agenda</a:t>
            </a:r>
          </a:p>
        </p:txBody>
      </p:sp>
      <p:pic>
        <p:nvPicPr>
          <p:cNvPr id="4" name="object 4"/>
          <p:cNvPicPr/>
          <p:nvPr/>
        </p:nvPicPr>
        <p:blipFill>
          <a:blip r:embed="rId2" cstate="print"/>
          <a:stretch>
            <a:fillRect/>
          </a:stretch>
        </p:blipFill>
        <p:spPr>
          <a:xfrm>
            <a:off x="11671389" y="4308155"/>
            <a:ext cx="6616611" cy="5978844"/>
          </a:xfrm>
          <a:prstGeom prst="rect">
            <a:avLst/>
          </a:prstGeom>
        </p:spPr>
      </p:pic>
      <p:sp>
        <p:nvSpPr>
          <p:cNvPr id="5" name="object 5"/>
          <p:cNvSpPr txBox="1"/>
          <p:nvPr/>
        </p:nvSpPr>
        <p:spPr>
          <a:xfrm>
            <a:off x="898705" y="2276810"/>
            <a:ext cx="8016695" cy="6912149"/>
          </a:xfrm>
          <a:prstGeom prst="rect">
            <a:avLst/>
          </a:prstGeom>
        </p:spPr>
        <p:txBody>
          <a:bodyPr vert="horz" wrap="square" lIns="0" tIns="266700" rIns="0" bIns="0" rtlCol="0">
            <a:spAutoFit/>
          </a:bodyPr>
          <a:lstStyle/>
          <a:p>
            <a:pPr marL="472440" indent="-377190">
              <a:lnSpc>
                <a:spcPct val="100000"/>
              </a:lnSpc>
              <a:spcBef>
                <a:spcPts val="2100"/>
              </a:spcBef>
              <a:buAutoNum type="arabicPeriod"/>
              <a:tabLst>
                <a:tab pos="472440" algn="l"/>
              </a:tabLst>
            </a:pPr>
            <a:r>
              <a:rPr lang="en-US" sz="2800" spc="50" dirty="0">
                <a:solidFill>
                  <a:srgbClr val="37403A"/>
                </a:solidFill>
                <a:latin typeface="Gill Sans MT"/>
                <a:cs typeface="Gill Sans MT"/>
              </a:rPr>
              <a:t>Introduction</a:t>
            </a:r>
          </a:p>
          <a:p>
            <a:pPr marL="472440" indent="-377190">
              <a:lnSpc>
                <a:spcPct val="100000"/>
              </a:lnSpc>
              <a:spcBef>
                <a:spcPts val="2100"/>
              </a:spcBef>
              <a:buAutoNum type="arabicPeriod"/>
              <a:tabLst>
                <a:tab pos="472440" algn="l"/>
              </a:tabLst>
            </a:pPr>
            <a:r>
              <a:rPr lang="en-US" sz="2800" spc="50" dirty="0">
                <a:solidFill>
                  <a:srgbClr val="37403A"/>
                </a:solidFill>
                <a:latin typeface="Gill Sans MT"/>
                <a:cs typeface="Gill Sans MT"/>
              </a:rPr>
              <a:t>Problem</a:t>
            </a:r>
            <a:r>
              <a:rPr sz="2800" spc="-105" dirty="0">
                <a:solidFill>
                  <a:srgbClr val="37403A"/>
                </a:solidFill>
                <a:latin typeface="Gill Sans MT"/>
                <a:cs typeface="Gill Sans MT"/>
              </a:rPr>
              <a:t> </a:t>
            </a:r>
            <a:r>
              <a:rPr sz="2800" spc="225" dirty="0">
                <a:solidFill>
                  <a:srgbClr val="37403A"/>
                </a:solidFill>
                <a:latin typeface="Gill Sans MT"/>
                <a:cs typeface="Gill Sans MT"/>
              </a:rPr>
              <a:t>&amp;</a:t>
            </a:r>
            <a:r>
              <a:rPr sz="2800" spc="-100" dirty="0">
                <a:solidFill>
                  <a:srgbClr val="37403A"/>
                </a:solidFill>
                <a:latin typeface="Gill Sans MT"/>
                <a:cs typeface="Gill Sans MT"/>
              </a:rPr>
              <a:t> </a:t>
            </a:r>
            <a:r>
              <a:rPr sz="2800" spc="90" dirty="0">
                <a:solidFill>
                  <a:srgbClr val="37403A"/>
                </a:solidFill>
                <a:latin typeface="Gill Sans MT"/>
                <a:cs typeface="Gill Sans MT"/>
              </a:rPr>
              <a:t>Motivation</a:t>
            </a:r>
            <a:endParaRPr lang="en-US" sz="2800" spc="90" dirty="0">
              <a:solidFill>
                <a:srgbClr val="37403A"/>
              </a:solidFill>
              <a:latin typeface="Gill Sans MT"/>
              <a:cs typeface="Gill Sans MT"/>
            </a:endParaRPr>
          </a:p>
          <a:p>
            <a:pPr marL="472440" indent="-377190">
              <a:lnSpc>
                <a:spcPct val="100000"/>
              </a:lnSpc>
              <a:spcBef>
                <a:spcPts val="2100"/>
              </a:spcBef>
              <a:buAutoNum type="arabicPeriod"/>
              <a:tabLst>
                <a:tab pos="472440" algn="l"/>
              </a:tabLst>
            </a:pPr>
            <a:r>
              <a:rPr lang="en-US" sz="2800" spc="90" dirty="0">
                <a:solidFill>
                  <a:srgbClr val="37403A"/>
                </a:solidFill>
                <a:latin typeface="Gill Sans MT"/>
                <a:cs typeface="Gill Sans MT"/>
              </a:rPr>
              <a:t>Dataset Overview</a:t>
            </a:r>
            <a:endParaRPr sz="2800" dirty="0">
              <a:latin typeface="Gill Sans MT"/>
              <a:cs typeface="Gill Sans MT"/>
            </a:endParaRPr>
          </a:p>
          <a:p>
            <a:pPr marL="472440" indent="-442595">
              <a:lnSpc>
                <a:spcPct val="100000"/>
              </a:lnSpc>
              <a:spcBef>
                <a:spcPts val="2000"/>
              </a:spcBef>
              <a:buAutoNum type="arabicPeriod"/>
              <a:tabLst>
                <a:tab pos="472440" algn="l"/>
              </a:tabLst>
            </a:pPr>
            <a:r>
              <a:rPr sz="2800" dirty="0">
                <a:solidFill>
                  <a:srgbClr val="37403A"/>
                </a:solidFill>
                <a:latin typeface="Gill Sans MT"/>
                <a:cs typeface="Gill Sans MT"/>
              </a:rPr>
              <a:t>AI</a:t>
            </a:r>
            <a:r>
              <a:rPr sz="2800" spc="45" dirty="0">
                <a:solidFill>
                  <a:srgbClr val="37403A"/>
                </a:solidFill>
                <a:latin typeface="Gill Sans MT"/>
                <a:cs typeface="Gill Sans MT"/>
              </a:rPr>
              <a:t> </a:t>
            </a:r>
            <a:r>
              <a:rPr sz="2800" dirty="0">
                <a:solidFill>
                  <a:srgbClr val="37403A"/>
                </a:solidFill>
                <a:latin typeface="Gill Sans MT"/>
                <a:cs typeface="Gill Sans MT"/>
              </a:rPr>
              <a:t>Concepts</a:t>
            </a:r>
            <a:r>
              <a:rPr sz="2800" spc="45" dirty="0">
                <a:solidFill>
                  <a:srgbClr val="37403A"/>
                </a:solidFill>
                <a:latin typeface="Gill Sans MT"/>
                <a:cs typeface="Gill Sans MT"/>
              </a:rPr>
              <a:t> </a:t>
            </a:r>
            <a:r>
              <a:rPr sz="2800" spc="225" dirty="0">
                <a:solidFill>
                  <a:srgbClr val="37403A"/>
                </a:solidFill>
                <a:latin typeface="Gill Sans MT"/>
                <a:cs typeface="Gill Sans MT"/>
              </a:rPr>
              <a:t>&amp;</a:t>
            </a:r>
            <a:r>
              <a:rPr sz="2800" spc="45" dirty="0">
                <a:solidFill>
                  <a:srgbClr val="37403A"/>
                </a:solidFill>
                <a:latin typeface="Gill Sans MT"/>
                <a:cs typeface="Gill Sans MT"/>
              </a:rPr>
              <a:t> </a:t>
            </a:r>
            <a:r>
              <a:rPr sz="2800" dirty="0">
                <a:solidFill>
                  <a:srgbClr val="37403A"/>
                </a:solidFill>
                <a:latin typeface="Gill Sans MT"/>
                <a:cs typeface="Gill Sans MT"/>
              </a:rPr>
              <a:t>Research</a:t>
            </a:r>
            <a:r>
              <a:rPr sz="2800" spc="45" dirty="0">
                <a:solidFill>
                  <a:srgbClr val="37403A"/>
                </a:solidFill>
                <a:latin typeface="Gill Sans MT"/>
                <a:cs typeface="Gill Sans MT"/>
              </a:rPr>
              <a:t> </a:t>
            </a:r>
            <a:r>
              <a:rPr lang="en-US" sz="2800" spc="80" dirty="0">
                <a:solidFill>
                  <a:srgbClr val="37403A"/>
                </a:solidFill>
                <a:latin typeface="Gill Sans MT"/>
                <a:cs typeface="Gill Sans MT"/>
              </a:rPr>
              <a:t>Evidence</a:t>
            </a:r>
            <a:endParaRPr sz="2800" dirty="0">
              <a:latin typeface="Gill Sans MT"/>
              <a:cs typeface="Gill Sans MT"/>
            </a:endParaRPr>
          </a:p>
          <a:p>
            <a:pPr marL="472440" indent="-431800">
              <a:lnSpc>
                <a:spcPct val="100000"/>
              </a:lnSpc>
              <a:spcBef>
                <a:spcPts val="2000"/>
              </a:spcBef>
              <a:buAutoNum type="arabicPeriod"/>
              <a:tabLst>
                <a:tab pos="472440" algn="l"/>
              </a:tabLst>
            </a:pPr>
            <a:r>
              <a:rPr lang="en-US" sz="2800" spc="80" dirty="0">
                <a:solidFill>
                  <a:srgbClr val="37403A"/>
                </a:solidFill>
                <a:latin typeface="Gill Sans MT"/>
                <a:cs typeface="Gill Sans MT"/>
              </a:rPr>
              <a:t>System Pipeline: How it works</a:t>
            </a:r>
            <a:endParaRPr sz="2800" dirty="0">
              <a:latin typeface="Gill Sans MT"/>
              <a:cs typeface="Gill Sans MT"/>
            </a:endParaRPr>
          </a:p>
          <a:p>
            <a:pPr marL="472440" indent="-459740">
              <a:lnSpc>
                <a:spcPct val="100000"/>
              </a:lnSpc>
              <a:spcBef>
                <a:spcPts val="2005"/>
              </a:spcBef>
              <a:buAutoNum type="arabicPeriod"/>
              <a:tabLst>
                <a:tab pos="472440" algn="l"/>
              </a:tabLst>
            </a:pPr>
            <a:r>
              <a:rPr lang="en-US" sz="2800" spc="125" dirty="0">
                <a:solidFill>
                  <a:srgbClr val="37403A"/>
                </a:solidFill>
                <a:latin typeface="Gill Sans MT"/>
                <a:cs typeface="Gill Sans MT"/>
              </a:rPr>
              <a:t>Comparison of Methods</a:t>
            </a:r>
          </a:p>
          <a:p>
            <a:pPr marL="472440" indent="-459740">
              <a:lnSpc>
                <a:spcPct val="100000"/>
              </a:lnSpc>
              <a:spcBef>
                <a:spcPts val="2005"/>
              </a:spcBef>
              <a:buAutoNum type="arabicPeriod"/>
              <a:tabLst>
                <a:tab pos="472440" algn="l"/>
              </a:tabLst>
            </a:pPr>
            <a:r>
              <a:rPr lang="en-US" sz="2800" dirty="0">
                <a:solidFill>
                  <a:schemeClr val="tx1">
                    <a:lumMod val="75000"/>
                    <a:lumOff val="25000"/>
                  </a:schemeClr>
                </a:solidFill>
                <a:latin typeface="Gill Sans MT"/>
                <a:cs typeface="Gill Sans MT"/>
              </a:rPr>
              <a:t>Solution and Achieved Results</a:t>
            </a:r>
            <a:endParaRPr sz="2800" dirty="0">
              <a:solidFill>
                <a:schemeClr val="tx1">
                  <a:lumMod val="75000"/>
                  <a:lumOff val="25000"/>
                </a:schemeClr>
              </a:solidFill>
              <a:latin typeface="Gill Sans MT"/>
              <a:cs typeface="Gill Sans MT"/>
            </a:endParaRPr>
          </a:p>
          <a:p>
            <a:pPr marL="472440" indent="-448309">
              <a:lnSpc>
                <a:spcPct val="100000"/>
              </a:lnSpc>
              <a:spcBef>
                <a:spcPts val="2000"/>
              </a:spcBef>
              <a:buAutoNum type="arabicPeriod"/>
              <a:tabLst>
                <a:tab pos="472440" algn="l"/>
              </a:tabLst>
            </a:pPr>
            <a:r>
              <a:rPr lang="en-US" sz="2800" spc="95" dirty="0">
                <a:solidFill>
                  <a:srgbClr val="37403A"/>
                </a:solidFill>
                <a:latin typeface="Gill Sans MT"/>
                <a:cs typeface="Gill Sans MT"/>
              </a:rPr>
              <a:t>TruncatedSVD: How the Main Model Works</a:t>
            </a:r>
          </a:p>
          <a:p>
            <a:pPr marL="472440" indent="-448309">
              <a:lnSpc>
                <a:spcPct val="100000"/>
              </a:lnSpc>
              <a:spcBef>
                <a:spcPts val="2000"/>
              </a:spcBef>
              <a:buAutoNum type="arabicPeriod"/>
              <a:tabLst>
                <a:tab pos="472440" algn="l"/>
              </a:tabLst>
            </a:pPr>
            <a:r>
              <a:rPr lang="en-US" sz="2800" spc="95" dirty="0">
                <a:solidFill>
                  <a:srgbClr val="37403A"/>
                </a:solidFill>
                <a:latin typeface="Gill Sans MT"/>
                <a:cs typeface="Gill Sans MT"/>
              </a:rPr>
              <a:t>Synthesis: </a:t>
            </a:r>
            <a:r>
              <a:rPr lang="en-US" sz="2800" spc="95" dirty="0">
                <a:solidFill>
                  <a:srgbClr val="37403A"/>
                </a:solidFill>
                <a:latin typeface="Gill Sans MT" panose="020B0502020104020203" pitchFamily="34" charset="0"/>
                <a:cs typeface="Gill Sans MT"/>
              </a:rPr>
              <a:t>Pseudocode and Flowchart</a:t>
            </a:r>
          </a:p>
          <a:p>
            <a:pPr marL="472440" indent="-448309">
              <a:lnSpc>
                <a:spcPct val="100000"/>
              </a:lnSpc>
              <a:spcBef>
                <a:spcPts val="2000"/>
              </a:spcBef>
              <a:buAutoNum type="arabicPeriod"/>
              <a:tabLst>
                <a:tab pos="472440" algn="l"/>
              </a:tabLst>
            </a:pPr>
            <a:r>
              <a:rPr lang="en-US" sz="2800" dirty="0">
                <a:solidFill>
                  <a:schemeClr val="tx1">
                    <a:lumMod val="75000"/>
                    <a:lumOff val="25000"/>
                  </a:schemeClr>
                </a:solidFill>
                <a:latin typeface="Gill Sans MT"/>
                <a:cs typeface="Gill Sans MT"/>
              </a:rPr>
              <a:t>Conclusion and Further Work</a:t>
            </a:r>
            <a:endParaRPr sz="2800" dirty="0">
              <a:solidFill>
                <a:schemeClr val="tx1">
                  <a:lumMod val="75000"/>
                  <a:lumOff val="25000"/>
                </a:schemeClr>
              </a:solidFill>
              <a:latin typeface="Gill Sans MT"/>
              <a:cs typeface="Gill Sans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descr="$PPTXTitle"/>
          <p:cNvSpPr txBox="1">
            <a:spLocks noGrp="1"/>
          </p:cNvSpPr>
          <p:nvPr>
            <p:ph type="title"/>
          </p:nvPr>
        </p:nvSpPr>
        <p:spPr>
          <a:xfrm>
            <a:off x="6477000" y="4054831"/>
            <a:ext cx="10266680" cy="1061720"/>
          </a:xfrm>
          <a:prstGeom prst="rect">
            <a:avLst/>
          </a:prstGeom>
        </p:spPr>
        <p:txBody>
          <a:bodyPr vert="horz" wrap="square" lIns="0" tIns="12700" rIns="0" bIns="0" rtlCol="0">
            <a:spAutoFit/>
          </a:bodyPr>
          <a:lstStyle/>
          <a:p>
            <a:pPr marL="12700">
              <a:lnSpc>
                <a:spcPct val="100000"/>
              </a:lnSpc>
              <a:spcBef>
                <a:spcPts val="100"/>
              </a:spcBef>
            </a:pPr>
            <a:r>
              <a:rPr lang="en-US" spc="409" dirty="0"/>
              <a:t> Introduction</a:t>
            </a:r>
            <a:endParaRPr spc="33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7AC336A-01B4-F586-24B7-7F6737171682}"/>
            </a:ext>
          </a:extLst>
        </p:cNvPr>
        <p:cNvGrpSpPr/>
        <p:nvPr/>
      </p:nvGrpSpPr>
      <p:grpSpPr>
        <a:xfrm>
          <a:off x="0" y="0"/>
          <a:ext cx="0" cy="0"/>
          <a:chOff x="0" y="0"/>
          <a:chExt cx="0" cy="0"/>
        </a:xfrm>
      </p:grpSpPr>
      <p:sp>
        <p:nvSpPr>
          <p:cNvPr id="6" name="object 2">
            <a:extLst>
              <a:ext uri="{FF2B5EF4-FFF2-40B4-BE49-F238E27FC236}">
                <a16:creationId xmlns:a16="http://schemas.microsoft.com/office/drawing/2014/main" id="{68452863-31F5-F3B6-5092-392963CE1C2E}"/>
              </a:ext>
            </a:extLst>
          </p:cNvPr>
          <p:cNvSpPr/>
          <p:nvPr/>
        </p:nvSpPr>
        <p:spPr>
          <a:xfrm>
            <a:off x="-18585" y="-1"/>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dirty="0"/>
          </a:p>
        </p:txBody>
      </p:sp>
      <p:sp>
        <p:nvSpPr>
          <p:cNvPr id="8" name="object 3" descr="$PPTXTitle">
            <a:extLst>
              <a:ext uri="{FF2B5EF4-FFF2-40B4-BE49-F238E27FC236}">
                <a16:creationId xmlns:a16="http://schemas.microsoft.com/office/drawing/2014/main" id="{50309D66-424C-7EDA-4956-B24B51EC2559}"/>
              </a:ext>
            </a:extLst>
          </p:cNvPr>
          <p:cNvSpPr txBox="1">
            <a:spLocks noGrp="1"/>
          </p:cNvSpPr>
          <p:nvPr>
            <p:ph type="title"/>
          </p:nvPr>
        </p:nvSpPr>
        <p:spPr>
          <a:xfrm>
            <a:off x="898705" y="772609"/>
            <a:ext cx="7254695" cy="1120820"/>
          </a:xfrm>
          <a:prstGeom prst="rect">
            <a:avLst/>
          </a:prstGeom>
        </p:spPr>
        <p:txBody>
          <a:bodyPr vert="horz" wrap="square" lIns="0" tIns="12700" rIns="0" bIns="0" rtlCol="0">
            <a:spAutoFit/>
          </a:bodyPr>
          <a:lstStyle/>
          <a:p>
            <a:pPr marL="12700">
              <a:lnSpc>
                <a:spcPct val="100000"/>
              </a:lnSpc>
              <a:spcBef>
                <a:spcPts val="100"/>
              </a:spcBef>
            </a:pPr>
            <a:r>
              <a:rPr lang="en-US" sz="7200" spc="375" dirty="0">
                <a:solidFill>
                  <a:srgbClr val="37403A"/>
                </a:solidFill>
              </a:rPr>
              <a:t>1. Introduction</a:t>
            </a:r>
            <a:endParaRPr sz="7200" spc="375" dirty="0">
              <a:solidFill>
                <a:srgbClr val="37403A"/>
              </a:solidFill>
            </a:endParaRPr>
          </a:p>
        </p:txBody>
      </p:sp>
      <p:pic>
        <p:nvPicPr>
          <p:cNvPr id="9" name="Google Shape;183;p30">
            <a:extLst>
              <a:ext uri="{FF2B5EF4-FFF2-40B4-BE49-F238E27FC236}">
                <a16:creationId xmlns:a16="http://schemas.microsoft.com/office/drawing/2014/main" id="{7903E94E-1300-D30D-C96C-3F9951AADA71}"/>
              </a:ext>
            </a:extLst>
          </p:cNvPr>
          <p:cNvPicPr/>
          <p:nvPr/>
        </p:nvPicPr>
        <p:blipFill>
          <a:blip r:embed="rId2"/>
          <a:srcRect t="12490" b="12490"/>
          <a:stretch/>
        </p:blipFill>
        <p:spPr>
          <a:xfrm>
            <a:off x="11201400" y="8363"/>
            <a:ext cx="7068015" cy="10287001"/>
          </a:xfrm>
          <a:prstGeom prst="rect">
            <a:avLst/>
          </a:prstGeom>
          <a:noFill/>
          <a:ln w="0">
            <a:noFill/>
          </a:ln>
        </p:spPr>
      </p:pic>
      <p:sp>
        <p:nvSpPr>
          <p:cNvPr id="11" name="TextBox 10">
            <a:extLst>
              <a:ext uri="{FF2B5EF4-FFF2-40B4-BE49-F238E27FC236}">
                <a16:creationId xmlns:a16="http://schemas.microsoft.com/office/drawing/2014/main" id="{0C1524A0-D0DD-4BDF-D937-3CF0613DE8E7}"/>
              </a:ext>
            </a:extLst>
          </p:cNvPr>
          <p:cNvSpPr txBox="1"/>
          <p:nvPr/>
        </p:nvSpPr>
        <p:spPr>
          <a:xfrm>
            <a:off x="685800" y="2940054"/>
            <a:ext cx="9155150" cy="4555863"/>
          </a:xfrm>
          <a:prstGeom prst="rect">
            <a:avLst/>
          </a:prstGeom>
          <a:noFill/>
        </p:spPr>
        <p:txBody>
          <a:bodyPr wrap="square">
            <a:spAutoFit/>
          </a:bodyPr>
          <a:lstStyle/>
          <a:p>
            <a:pPr indent="0" algn="just">
              <a:lnSpc>
                <a:spcPct val="150000"/>
              </a:lnSpc>
              <a:buNone/>
              <a:tabLst>
                <a:tab pos="0" algn="l"/>
              </a:tabLst>
            </a:pPr>
            <a:r>
              <a:rPr lang="en-US" sz="2800" b="1" u="none" strike="noStrike" dirty="0">
                <a:solidFill>
                  <a:schemeClr val="tx1"/>
                </a:solidFill>
                <a:effectLst/>
                <a:uFillTx/>
                <a:latin typeface="Garamond" panose="02020404030301010803" pitchFamily="18" charset="0"/>
                <a:ea typeface="Cabin"/>
              </a:rPr>
              <a:t>This project develops a personalized Top-N product recommendation system using the Amazon Electronics Reviews 2023 dataset. It addresses choice overload by generating tailored product rankings per user. The solution integrates collaborative filtering and matrix factorization techniques, delivering a working CLI demo that outputs ranked product titles for enhanced user discovery.</a:t>
            </a:r>
            <a:endParaRPr lang="en-US" sz="2800" b="1" u="none" strike="noStrike" dirty="0">
              <a:solidFill>
                <a:schemeClr val="tx1"/>
              </a:solidFill>
              <a:effectLst/>
              <a:uFillTx/>
              <a:latin typeface="Garamond" panose="02020404030301010803" pitchFamily="18" charset="0"/>
            </a:endParaRPr>
          </a:p>
        </p:txBody>
      </p:sp>
      <p:cxnSp>
        <p:nvCxnSpPr>
          <p:cNvPr id="13" name="Google Shape;359;p45">
            <a:extLst>
              <a:ext uri="{FF2B5EF4-FFF2-40B4-BE49-F238E27FC236}">
                <a16:creationId xmlns:a16="http://schemas.microsoft.com/office/drawing/2014/main" id="{F8C3BC42-5EF5-4D45-AD7A-4E3A919418EA}"/>
              </a:ext>
            </a:extLst>
          </p:cNvPr>
          <p:cNvCxnSpPr>
            <a:cxnSpLocks/>
          </p:cNvCxnSpPr>
          <p:nvPr/>
        </p:nvCxnSpPr>
        <p:spPr>
          <a:xfrm>
            <a:off x="898705" y="2416741"/>
            <a:ext cx="5806895" cy="0"/>
          </a:xfrm>
          <a:prstGeom prst="straightConnector1">
            <a:avLst/>
          </a:prstGeom>
          <a:ln w="9525">
            <a:solidFill>
              <a:schemeClr val="tx1"/>
            </a:solidFill>
            <a:round/>
          </a:ln>
        </p:spPr>
      </p:cxnSp>
    </p:spTree>
    <p:extLst>
      <p:ext uri="{BB962C8B-B14F-4D97-AF65-F5344CB8AC3E}">
        <p14:creationId xmlns:p14="http://schemas.microsoft.com/office/powerpoint/2010/main" val="151787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E176-14C4-FFE9-2D21-CACF78C25BCB}"/>
            </a:ext>
          </a:extLst>
        </p:cNvPr>
        <p:cNvGrpSpPr/>
        <p:nvPr/>
      </p:nvGrpSpPr>
      <p:grpSpPr>
        <a:xfrm>
          <a:off x="0" y="0"/>
          <a:ext cx="0" cy="0"/>
          <a:chOff x="0" y="0"/>
          <a:chExt cx="0" cy="0"/>
        </a:xfrm>
      </p:grpSpPr>
      <p:sp>
        <p:nvSpPr>
          <p:cNvPr id="4" name="object 4" descr="$PPTXTitle">
            <a:extLst>
              <a:ext uri="{FF2B5EF4-FFF2-40B4-BE49-F238E27FC236}">
                <a16:creationId xmlns:a16="http://schemas.microsoft.com/office/drawing/2014/main" id="{ED3BF820-6E69-C485-9E99-F9E55DE210F7}"/>
              </a:ext>
            </a:extLst>
          </p:cNvPr>
          <p:cNvSpPr txBox="1">
            <a:spLocks noGrp="1"/>
          </p:cNvSpPr>
          <p:nvPr>
            <p:ph type="title"/>
          </p:nvPr>
        </p:nvSpPr>
        <p:spPr>
          <a:xfrm>
            <a:off x="4800600" y="4101295"/>
            <a:ext cx="10266680" cy="1061720"/>
          </a:xfrm>
          <a:prstGeom prst="rect">
            <a:avLst/>
          </a:prstGeom>
        </p:spPr>
        <p:txBody>
          <a:bodyPr vert="horz" wrap="square" lIns="0" tIns="12700" rIns="0" bIns="0" rtlCol="0">
            <a:spAutoFit/>
          </a:bodyPr>
          <a:lstStyle/>
          <a:p>
            <a:pPr marL="12700">
              <a:lnSpc>
                <a:spcPct val="100000"/>
              </a:lnSpc>
              <a:spcBef>
                <a:spcPts val="100"/>
              </a:spcBef>
            </a:pPr>
            <a:r>
              <a:rPr lang="en-US" spc="409" dirty="0"/>
              <a:t>Problem</a:t>
            </a:r>
            <a:r>
              <a:rPr spc="-5" dirty="0"/>
              <a:t> </a:t>
            </a:r>
            <a:r>
              <a:rPr spc="690" dirty="0"/>
              <a:t>&amp;</a:t>
            </a:r>
            <a:r>
              <a:rPr spc="-5" dirty="0"/>
              <a:t> </a:t>
            </a:r>
            <a:r>
              <a:rPr spc="335" dirty="0"/>
              <a:t>Motivation</a:t>
            </a:r>
          </a:p>
        </p:txBody>
      </p:sp>
    </p:spTree>
    <p:extLst>
      <p:ext uri="{BB962C8B-B14F-4D97-AF65-F5344CB8AC3E}">
        <p14:creationId xmlns:p14="http://schemas.microsoft.com/office/powerpoint/2010/main" val="1295319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15" name="object 4" descr="$PPTXTitle">
            <a:extLst>
              <a:ext uri="{FF2B5EF4-FFF2-40B4-BE49-F238E27FC236}">
                <a16:creationId xmlns:a16="http://schemas.microsoft.com/office/drawing/2014/main" id="{13F80C8C-2579-4BB5-6AB6-9E8F5DB56859}"/>
              </a:ext>
            </a:extLst>
          </p:cNvPr>
          <p:cNvSpPr txBox="1">
            <a:spLocks noGrp="1"/>
          </p:cNvSpPr>
          <p:nvPr>
            <p:ph type="title"/>
          </p:nvPr>
        </p:nvSpPr>
        <p:spPr>
          <a:xfrm>
            <a:off x="762000" y="571500"/>
            <a:ext cx="10266680" cy="1061720"/>
          </a:xfrm>
          <a:prstGeom prst="rect">
            <a:avLst/>
          </a:prstGeom>
        </p:spPr>
        <p:txBody>
          <a:bodyPr vert="horz" wrap="square" lIns="0" tIns="12700" rIns="0" bIns="0" rtlCol="0">
            <a:spAutoFit/>
          </a:bodyPr>
          <a:lstStyle/>
          <a:p>
            <a:pPr marL="12700">
              <a:lnSpc>
                <a:spcPct val="100000"/>
              </a:lnSpc>
              <a:spcBef>
                <a:spcPts val="100"/>
              </a:spcBef>
            </a:pPr>
            <a:r>
              <a:rPr lang="en-US" spc="409" dirty="0">
                <a:solidFill>
                  <a:schemeClr val="tx1"/>
                </a:solidFill>
              </a:rPr>
              <a:t>2.1. Problem:</a:t>
            </a:r>
            <a:endParaRPr spc="335" dirty="0">
              <a:solidFill>
                <a:schemeClr val="tx1"/>
              </a:solidFill>
            </a:endParaRPr>
          </a:p>
        </p:txBody>
      </p:sp>
      <p:pic>
        <p:nvPicPr>
          <p:cNvPr id="16" name="Google Shape;358;p45">
            <a:extLst>
              <a:ext uri="{FF2B5EF4-FFF2-40B4-BE49-F238E27FC236}">
                <a16:creationId xmlns:a16="http://schemas.microsoft.com/office/drawing/2014/main" id="{34731178-49EA-001E-8793-A0E7525EC3A2}"/>
              </a:ext>
            </a:extLst>
          </p:cNvPr>
          <p:cNvPicPr/>
          <p:nvPr/>
        </p:nvPicPr>
        <p:blipFill>
          <a:blip r:embed="rId2"/>
          <a:srcRect t="209" b="209"/>
          <a:stretch/>
        </p:blipFill>
        <p:spPr>
          <a:xfrm>
            <a:off x="9144000" y="-23232"/>
            <a:ext cx="9144000" cy="10310232"/>
          </a:xfrm>
          <a:prstGeom prst="rect">
            <a:avLst/>
          </a:prstGeom>
          <a:noFill/>
          <a:ln w="0">
            <a:noFill/>
          </a:ln>
        </p:spPr>
      </p:pic>
      <p:sp>
        <p:nvSpPr>
          <p:cNvPr id="18" name="Shape 2">
            <a:extLst>
              <a:ext uri="{FF2B5EF4-FFF2-40B4-BE49-F238E27FC236}">
                <a16:creationId xmlns:a16="http://schemas.microsoft.com/office/drawing/2014/main" id="{E28DF8B9-8418-A723-7C40-CD2A942379EF}"/>
              </a:ext>
            </a:extLst>
          </p:cNvPr>
          <p:cNvSpPr/>
          <p:nvPr/>
        </p:nvSpPr>
        <p:spPr>
          <a:xfrm>
            <a:off x="337882" y="2177956"/>
            <a:ext cx="8272718" cy="7766143"/>
          </a:xfrm>
          <a:prstGeom prst="roundRect">
            <a:avLst/>
          </a:prstGeom>
          <a:solidFill>
            <a:schemeClr val="bg1">
              <a:lumMod val="95000"/>
            </a:schemeClr>
          </a:solidFill>
          <a:ln w="12700">
            <a:solidFill>
              <a:srgbClr val="E2E8F0"/>
            </a:solidFill>
            <a:prstDash val="solid"/>
          </a:ln>
          <a:effectLst>
            <a:outerShdw blurRad="38100" dist="12700" dir="2700000" algn="bl" rotWithShape="0">
              <a:srgbClr val="000000">
                <a:alpha val="12000"/>
              </a:srgbClr>
            </a:outerShdw>
          </a:effectLst>
        </p:spPr>
        <p:txBody>
          <a:bodyPr/>
          <a:lstStyle/>
          <a:p>
            <a:endParaRPr lang="en-US"/>
          </a:p>
        </p:txBody>
      </p:sp>
      <p:sp>
        <p:nvSpPr>
          <p:cNvPr id="19" name="Text 3">
            <a:extLst>
              <a:ext uri="{FF2B5EF4-FFF2-40B4-BE49-F238E27FC236}">
                <a16:creationId xmlns:a16="http://schemas.microsoft.com/office/drawing/2014/main" id="{0C416031-CB5C-BC3B-4312-244A1510CB2C}"/>
              </a:ext>
            </a:extLst>
          </p:cNvPr>
          <p:cNvSpPr/>
          <p:nvPr/>
        </p:nvSpPr>
        <p:spPr>
          <a:xfrm>
            <a:off x="771797" y="3268713"/>
            <a:ext cx="7610203" cy="481089"/>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000" b="1" dirty="0">
                <a:solidFill>
                  <a:srgbClr val="0F172A"/>
                </a:solidFill>
                <a:latin typeface="Garamond" panose="02020404030301010803" pitchFamily="18" charset="0"/>
                <a:ea typeface="Calibri" pitchFamily="34" charset="-122"/>
                <a:cs typeface="Calibri" pitchFamily="34" charset="-120"/>
              </a:rPr>
              <a:t>Choice Overload:</a:t>
            </a:r>
            <a:endParaRPr lang="en-US" sz="4000" dirty="0">
              <a:latin typeface="Garamond" panose="02020404030301010803" pitchFamily="18" charset="0"/>
            </a:endParaRPr>
          </a:p>
        </p:txBody>
      </p:sp>
      <p:sp>
        <p:nvSpPr>
          <p:cNvPr id="20" name="Text 4">
            <a:extLst>
              <a:ext uri="{FF2B5EF4-FFF2-40B4-BE49-F238E27FC236}">
                <a16:creationId xmlns:a16="http://schemas.microsoft.com/office/drawing/2014/main" id="{5C5B14F2-FCB2-8E45-5502-0E733173FCD7}"/>
              </a:ext>
            </a:extLst>
          </p:cNvPr>
          <p:cNvSpPr/>
          <p:nvPr/>
        </p:nvSpPr>
        <p:spPr>
          <a:xfrm>
            <a:off x="762000" y="3944279"/>
            <a:ext cx="7610203" cy="4114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a:lnSpc>
                <a:spcPct val="150000"/>
              </a:lnSpc>
              <a:buNone/>
              <a:tabLst>
                <a:tab pos="0" algn="l"/>
              </a:tabLst>
            </a:pPr>
            <a:r>
              <a:rPr lang="en-US" sz="2800" dirty="0">
                <a:latin typeface="Garamond" panose="02020404030301010803" pitchFamily="18" charset="0"/>
                <a:ea typeface="Cabin"/>
              </a:rPr>
              <a:t>E-commerce platforms offer vast product selections, causing choice overload for users. This complexity makes it difficult and time-consuming for consumers to find relevant products efficiently. The abundance of options often leads to decision fatigue and can reduce user satisfaction and engagement.</a:t>
            </a:r>
            <a:endParaRPr lang="en-US" sz="2800" dirty="0">
              <a:latin typeface="Garamond" panose="02020404030301010803"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C0492EA-9164-14C8-8239-DBDB0920D2C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FE95F4A-1D13-D122-A5FF-28DD9AB3B995}"/>
              </a:ext>
            </a:extLst>
          </p:cNvPr>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pic>
        <p:nvPicPr>
          <p:cNvPr id="5" name="Image 0" descr="preencoded.png">
            <a:extLst>
              <a:ext uri="{FF2B5EF4-FFF2-40B4-BE49-F238E27FC236}">
                <a16:creationId xmlns:a16="http://schemas.microsoft.com/office/drawing/2014/main" id="{0D93E356-6C57-957F-93A9-C65574932C42}"/>
              </a:ext>
            </a:extLst>
          </p:cNvPr>
          <p:cNvPicPr>
            <a:picLocks noChangeAspect="1"/>
          </p:cNvPicPr>
          <p:nvPr/>
        </p:nvPicPr>
        <p:blipFill>
          <a:blip r:embed="rId2"/>
          <a:stretch>
            <a:fillRect/>
          </a:stretch>
        </p:blipFill>
        <p:spPr>
          <a:xfrm>
            <a:off x="19050" y="0"/>
            <a:ext cx="18288000" cy="3295770"/>
          </a:xfrm>
          <a:prstGeom prst="rect">
            <a:avLst/>
          </a:prstGeom>
        </p:spPr>
      </p:pic>
      <p:sp>
        <p:nvSpPr>
          <p:cNvPr id="6" name="Text 0">
            <a:extLst>
              <a:ext uri="{FF2B5EF4-FFF2-40B4-BE49-F238E27FC236}">
                <a16:creationId xmlns:a16="http://schemas.microsoft.com/office/drawing/2014/main" id="{5C84E77A-4DAE-DD58-14B3-444881F4EDA7}"/>
              </a:ext>
            </a:extLst>
          </p:cNvPr>
          <p:cNvSpPr/>
          <p:nvPr/>
        </p:nvSpPr>
        <p:spPr>
          <a:xfrm>
            <a:off x="2362200" y="4189809"/>
            <a:ext cx="5321260" cy="610910"/>
          </a:xfrm>
          <a:prstGeom prst="rect">
            <a:avLst/>
          </a:prstGeom>
          <a:noFill/>
          <a:ln/>
        </p:spPr>
        <p:txBody>
          <a:bodyPr wrap="none" lIns="0" tIns="0" rIns="0" bIns="0" rtlCol="0" anchor="t"/>
          <a:lstStyle/>
          <a:p>
            <a:pPr marL="0" indent="0" algn="l">
              <a:lnSpc>
                <a:spcPts val="4800"/>
              </a:lnSpc>
              <a:buNone/>
            </a:pPr>
            <a:r>
              <a:rPr lang="en-US" sz="5400" dirty="0">
                <a:solidFill>
                  <a:srgbClr val="201B18"/>
                </a:solidFill>
                <a:latin typeface="Garamond" panose="02020404030301010803" pitchFamily="18" charset="0"/>
                <a:ea typeface="Platypi Medium" pitchFamily="34" charset="-122"/>
                <a:cs typeface="Platypi Medium" pitchFamily="34" charset="-120"/>
              </a:rPr>
              <a:t>2.2. Motivation after addressing the problems:</a:t>
            </a:r>
            <a:endParaRPr lang="en-US" sz="5400" dirty="0">
              <a:latin typeface="Garamond" panose="02020404030301010803" pitchFamily="18" charset="0"/>
            </a:endParaRPr>
          </a:p>
        </p:txBody>
      </p:sp>
      <p:sp>
        <p:nvSpPr>
          <p:cNvPr id="7" name="Shape 1">
            <a:extLst>
              <a:ext uri="{FF2B5EF4-FFF2-40B4-BE49-F238E27FC236}">
                <a16:creationId xmlns:a16="http://schemas.microsoft.com/office/drawing/2014/main" id="{8BDFC682-82BC-7ACC-A9DE-7F47C66EC789}"/>
              </a:ext>
            </a:extLst>
          </p:cNvPr>
          <p:cNvSpPr/>
          <p:nvPr/>
        </p:nvSpPr>
        <p:spPr>
          <a:xfrm>
            <a:off x="2362200" y="5093970"/>
            <a:ext cx="6085165" cy="1797844"/>
          </a:xfrm>
          <a:prstGeom prst="roundRect">
            <a:avLst>
              <a:gd name="adj" fmla="val 6103"/>
            </a:avLst>
          </a:prstGeom>
          <a:solidFill>
            <a:srgbClr val="FFFFFF"/>
          </a:solidFill>
          <a:ln w="22860">
            <a:solidFill>
              <a:srgbClr val="D8D4D4"/>
            </a:solidFill>
            <a:prstDash val="solid"/>
          </a:ln>
        </p:spPr>
        <p:txBody>
          <a:bodyPr/>
          <a:lstStyle/>
          <a:p>
            <a:endParaRPr lang="en-US">
              <a:latin typeface="Garamond" panose="02020404030301010803" pitchFamily="18" charset="0"/>
            </a:endParaRPr>
          </a:p>
        </p:txBody>
      </p:sp>
      <p:sp>
        <p:nvSpPr>
          <p:cNvPr id="8" name="Shape 2">
            <a:extLst>
              <a:ext uri="{FF2B5EF4-FFF2-40B4-BE49-F238E27FC236}">
                <a16:creationId xmlns:a16="http://schemas.microsoft.com/office/drawing/2014/main" id="{3288116B-F4B4-D8F2-1985-F9879A2FAA21}"/>
              </a:ext>
            </a:extLst>
          </p:cNvPr>
          <p:cNvSpPr/>
          <p:nvPr/>
        </p:nvSpPr>
        <p:spPr>
          <a:xfrm>
            <a:off x="2339340" y="5093970"/>
            <a:ext cx="91440" cy="1797844"/>
          </a:xfrm>
          <a:prstGeom prst="roundRect">
            <a:avLst>
              <a:gd name="adj" fmla="val 32072"/>
            </a:avLst>
          </a:prstGeom>
          <a:solidFill>
            <a:srgbClr val="3E2513"/>
          </a:solidFill>
          <a:ln/>
        </p:spPr>
        <p:txBody>
          <a:bodyPr/>
          <a:lstStyle/>
          <a:p>
            <a:endParaRPr lang="en-US">
              <a:latin typeface="Garamond" panose="02020404030301010803" pitchFamily="18" charset="0"/>
            </a:endParaRPr>
          </a:p>
        </p:txBody>
      </p:sp>
      <p:sp>
        <p:nvSpPr>
          <p:cNvPr id="9" name="Text 3">
            <a:extLst>
              <a:ext uri="{FF2B5EF4-FFF2-40B4-BE49-F238E27FC236}">
                <a16:creationId xmlns:a16="http://schemas.microsoft.com/office/drawing/2014/main" id="{ED421BBD-9F7A-C03C-A5C2-DEA6D573D28A}"/>
              </a:ext>
            </a:extLst>
          </p:cNvPr>
          <p:cNvSpPr/>
          <p:nvPr/>
        </p:nvSpPr>
        <p:spPr>
          <a:xfrm>
            <a:off x="2649141" y="5312330"/>
            <a:ext cx="2443758" cy="305514"/>
          </a:xfrm>
          <a:prstGeom prst="rect">
            <a:avLst/>
          </a:prstGeom>
          <a:noFill/>
          <a:ln/>
        </p:spPr>
        <p:txBody>
          <a:bodyPr wrap="none" lIns="0" tIns="0" rIns="0" bIns="0" rtlCol="0" anchor="t"/>
          <a:lstStyle/>
          <a:p>
            <a:pPr marL="0" indent="0" algn="l">
              <a:lnSpc>
                <a:spcPts val="2400"/>
              </a:lnSpc>
              <a:buNone/>
            </a:pPr>
            <a:r>
              <a:rPr lang="en-US" sz="2800" dirty="0">
                <a:solidFill>
                  <a:srgbClr val="504C49"/>
                </a:solidFill>
                <a:latin typeface="Garamond" panose="02020404030301010803" pitchFamily="18" charset="0"/>
                <a:ea typeface="Platypi Medium" pitchFamily="34" charset="-122"/>
                <a:cs typeface="Platypi Medium" pitchFamily="34" charset="-120"/>
              </a:rPr>
              <a:t>Choice Overload</a:t>
            </a:r>
            <a:endParaRPr lang="en-US" sz="2800" dirty="0">
              <a:latin typeface="Garamond" panose="02020404030301010803" pitchFamily="18" charset="0"/>
            </a:endParaRPr>
          </a:p>
        </p:txBody>
      </p:sp>
      <p:sp>
        <p:nvSpPr>
          <p:cNvPr id="10" name="Text 4">
            <a:extLst>
              <a:ext uri="{FF2B5EF4-FFF2-40B4-BE49-F238E27FC236}">
                <a16:creationId xmlns:a16="http://schemas.microsoft.com/office/drawing/2014/main" id="{4113CEB9-66E0-F627-B884-F978DAC59644}"/>
              </a:ext>
            </a:extLst>
          </p:cNvPr>
          <p:cNvSpPr/>
          <p:nvPr/>
        </p:nvSpPr>
        <p:spPr>
          <a:xfrm>
            <a:off x="2649141" y="5735121"/>
            <a:ext cx="5579864" cy="938332"/>
          </a:xfrm>
          <a:prstGeom prst="rect">
            <a:avLst/>
          </a:prstGeom>
          <a:noFill/>
          <a:ln/>
        </p:spPr>
        <p:txBody>
          <a:bodyPr wrap="square" lIns="0" tIns="0" rIns="0" bIns="0" rtlCol="0" anchor="t"/>
          <a:lstStyle/>
          <a:p>
            <a:pPr marL="0" indent="0" algn="l">
              <a:lnSpc>
                <a:spcPts val="2450"/>
              </a:lnSpc>
              <a:buNone/>
            </a:pPr>
            <a:r>
              <a:rPr lang="en-US" sz="2000" b="1" dirty="0">
                <a:solidFill>
                  <a:srgbClr val="504C49"/>
                </a:solidFill>
                <a:latin typeface="Garamond" panose="02020404030301010803" pitchFamily="18" charset="0"/>
                <a:ea typeface="Source Serif 4" pitchFamily="34" charset="-122"/>
                <a:cs typeface="Source Serif 4" pitchFamily="34" charset="-120"/>
              </a:rPr>
              <a:t>The exponential growth of e-commerce platforms leads to an overwhelming number of product choices for consumers.</a:t>
            </a:r>
            <a:endParaRPr lang="en-US" sz="2000" b="1" dirty="0">
              <a:latin typeface="Garamond" panose="02020404030301010803" pitchFamily="18" charset="0"/>
            </a:endParaRPr>
          </a:p>
        </p:txBody>
      </p:sp>
      <p:sp>
        <p:nvSpPr>
          <p:cNvPr id="11" name="Shape 5">
            <a:extLst>
              <a:ext uri="{FF2B5EF4-FFF2-40B4-BE49-F238E27FC236}">
                <a16:creationId xmlns:a16="http://schemas.microsoft.com/office/drawing/2014/main" id="{CE47A9A8-6D0E-B06F-EAAD-E56A6BAF9B17}"/>
              </a:ext>
            </a:extLst>
          </p:cNvPr>
          <p:cNvSpPr/>
          <p:nvPr/>
        </p:nvSpPr>
        <p:spPr>
          <a:xfrm>
            <a:off x="8642866" y="5093970"/>
            <a:ext cx="6085284" cy="1797844"/>
          </a:xfrm>
          <a:prstGeom prst="roundRect">
            <a:avLst>
              <a:gd name="adj" fmla="val 6103"/>
            </a:avLst>
          </a:prstGeom>
          <a:solidFill>
            <a:srgbClr val="FFFFFF"/>
          </a:solidFill>
          <a:ln w="22860">
            <a:solidFill>
              <a:srgbClr val="D8D4D4"/>
            </a:solidFill>
            <a:prstDash val="solid"/>
          </a:ln>
        </p:spPr>
        <p:txBody>
          <a:bodyPr/>
          <a:lstStyle/>
          <a:p>
            <a:endParaRPr lang="en-US">
              <a:latin typeface="Garamond" panose="02020404030301010803" pitchFamily="18" charset="0"/>
            </a:endParaRPr>
          </a:p>
        </p:txBody>
      </p:sp>
      <p:sp>
        <p:nvSpPr>
          <p:cNvPr id="12" name="Shape 6">
            <a:extLst>
              <a:ext uri="{FF2B5EF4-FFF2-40B4-BE49-F238E27FC236}">
                <a16:creationId xmlns:a16="http://schemas.microsoft.com/office/drawing/2014/main" id="{F1AF0393-72A0-67EC-F0E4-F31EFA6F0617}"/>
              </a:ext>
            </a:extLst>
          </p:cNvPr>
          <p:cNvSpPr/>
          <p:nvPr/>
        </p:nvSpPr>
        <p:spPr>
          <a:xfrm>
            <a:off x="8620006" y="5093970"/>
            <a:ext cx="91440" cy="1797844"/>
          </a:xfrm>
          <a:prstGeom prst="roundRect">
            <a:avLst>
              <a:gd name="adj" fmla="val 32072"/>
            </a:avLst>
          </a:prstGeom>
          <a:solidFill>
            <a:srgbClr val="3E2513"/>
          </a:solidFill>
          <a:ln/>
        </p:spPr>
        <p:txBody>
          <a:bodyPr/>
          <a:lstStyle/>
          <a:p>
            <a:endParaRPr lang="en-US">
              <a:latin typeface="Garamond" panose="02020404030301010803" pitchFamily="18" charset="0"/>
            </a:endParaRPr>
          </a:p>
        </p:txBody>
      </p:sp>
      <p:sp>
        <p:nvSpPr>
          <p:cNvPr id="13" name="Text 7">
            <a:extLst>
              <a:ext uri="{FF2B5EF4-FFF2-40B4-BE49-F238E27FC236}">
                <a16:creationId xmlns:a16="http://schemas.microsoft.com/office/drawing/2014/main" id="{FC66909A-5410-9CF9-E9AE-537FC76EC41A}"/>
              </a:ext>
            </a:extLst>
          </p:cNvPr>
          <p:cNvSpPr/>
          <p:nvPr/>
        </p:nvSpPr>
        <p:spPr>
          <a:xfrm>
            <a:off x="8929807" y="5312330"/>
            <a:ext cx="2762726" cy="305514"/>
          </a:xfrm>
          <a:prstGeom prst="rect">
            <a:avLst/>
          </a:prstGeom>
          <a:noFill/>
          <a:ln/>
        </p:spPr>
        <p:txBody>
          <a:bodyPr wrap="none" lIns="0" tIns="0" rIns="0" bIns="0" rtlCol="0" anchor="t"/>
          <a:lstStyle/>
          <a:p>
            <a:pPr marL="0" indent="0" algn="l">
              <a:lnSpc>
                <a:spcPts val="2400"/>
              </a:lnSpc>
              <a:buNone/>
            </a:pPr>
            <a:r>
              <a:rPr lang="en-US" sz="2800" dirty="0">
                <a:solidFill>
                  <a:srgbClr val="504C49"/>
                </a:solidFill>
                <a:latin typeface="Garamond" panose="02020404030301010803" pitchFamily="18" charset="0"/>
                <a:ea typeface="Platypi Medium" pitchFamily="34" charset="-122"/>
                <a:cs typeface="Platypi Medium" pitchFamily="34" charset="-120"/>
              </a:rPr>
              <a:t>Personalized Discovery</a:t>
            </a:r>
            <a:endParaRPr lang="en-US" sz="2800" dirty="0">
              <a:latin typeface="Garamond" panose="02020404030301010803" pitchFamily="18" charset="0"/>
            </a:endParaRPr>
          </a:p>
        </p:txBody>
      </p:sp>
      <p:sp>
        <p:nvSpPr>
          <p:cNvPr id="14" name="Text 8">
            <a:extLst>
              <a:ext uri="{FF2B5EF4-FFF2-40B4-BE49-F238E27FC236}">
                <a16:creationId xmlns:a16="http://schemas.microsoft.com/office/drawing/2014/main" id="{91CAA04D-265D-F6CC-E758-07D460FA96F0}"/>
              </a:ext>
            </a:extLst>
          </p:cNvPr>
          <p:cNvSpPr/>
          <p:nvPr/>
        </p:nvSpPr>
        <p:spPr>
          <a:xfrm>
            <a:off x="8929807" y="5735121"/>
            <a:ext cx="5579983" cy="938332"/>
          </a:xfrm>
          <a:prstGeom prst="rect">
            <a:avLst/>
          </a:prstGeom>
          <a:noFill/>
          <a:ln/>
        </p:spPr>
        <p:txBody>
          <a:bodyPr wrap="square" lIns="0" tIns="0" rIns="0" bIns="0" rtlCol="0" anchor="t"/>
          <a:lstStyle/>
          <a:p>
            <a:pPr marL="0" indent="0" algn="l">
              <a:lnSpc>
                <a:spcPts val="2450"/>
              </a:lnSpc>
              <a:buNone/>
            </a:pPr>
            <a:r>
              <a:rPr lang="en-US" sz="2000" b="1" dirty="0">
                <a:solidFill>
                  <a:srgbClr val="504C49"/>
                </a:solidFill>
                <a:latin typeface="Garamond" panose="02020404030301010803" pitchFamily="18" charset="0"/>
                <a:ea typeface="Source Serif 4" pitchFamily="34" charset="-122"/>
                <a:cs typeface="Source Serif 4" pitchFamily="34" charset="-120"/>
              </a:rPr>
              <a:t>Users require tailored recommendations to efficiently discover relevant products, saving time and enhancing their shopping experience.</a:t>
            </a:r>
            <a:endParaRPr lang="en-US" sz="2000" b="1" dirty="0">
              <a:latin typeface="Garamond" panose="02020404030301010803" pitchFamily="18" charset="0"/>
            </a:endParaRPr>
          </a:p>
        </p:txBody>
      </p:sp>
      <p:sp>
        <p:nvSpPr>
          <p:cNvPr id="17" name="Shape 9">
            <a:extLst>
              <a:ext uri="{FF2B5EF4-FFF2-40B4-BE49-F238E27FC236}">
                <a16:creationId xmlns:a16="http://schemas.microsoft.com/office/drawing/2014/main" id="{A5145632-B69D-169D-D188-600B6F3296C1}"/>
              </a:ext>
            </a:extLst>
          </p:cNvPr>
          <p:cNvSpPr/>
          <p:nvPr/>
        </p:nvSpPr>
        <p:spPr>
          <a:xfrm>
            <a:off x="2362200" y="7087314"/>
            <a:ext cx="6085165" cy="1797844"/>
          </a:xfrm>
          <a:prstGeom prst="roundRect">
            <a:avLst>
              <a:gd name="adj" fmla="val 7389"/>
            </a:avLst>
          </a:prstGeom>
          <a:solidFill>
            <a:srgbClr val="FFFFFF"/>
          </a:solidFill>
          <a:ln w="22860">
            <a:solidFill>
              <a:srgbClr val="D8D4D4"/>
            </a:solidFill>
            <a:prstDash val="solid"/>
          </a:ln>
        </p:spPr>
        <p:txBody>
          <a:bodyPr/>
          <a:lstStyle/>
          <a:p>
            <a:endParaRPr lang="en-US">
              <a:latin typeface="Garamond" panose="02020404030301010803" pitchFamily="18" charset="0"/>
            </a:endParaRPr>
          </a:p>
        </p:txBody>
      </p:sp>
      <p:sp>
        <p:nvSpPr>
          <p:cNvPr id="21" name="Shape 10">
            <a:extLst>
              <a:ext uri="{FF2B5EF4-FFF2-40B4-BE49-F238E27FC236}">
                <a16:creationId xmlns:a16="http://schemas.microsoft.com/office/drawing/2014/main" id="{1E099BD2-AFC3-7989-8E2F-CD2DB1A746CE}"/>
              </a:ext>
            </a:extLst>
          </p:cNvPr>
          <p:cNvSpPr/>
          <p:nvPr/>
        </p:nvSpPr>
        <p:spPr>
          <a:xfrm>
            <a:off x="2339340" y="7087315"/>
            <a:ext cx="110699" cy="1797844"/>
          </a:xfrm>
          <a:prstGeom prst="roundRect">
            <a:avLst>
              <a:gd name="adj" fmla="val 32072"/>
            </a:avLst>
          </a:prstGeom>
          <a:solidFill>
            <a:srgbClr val="3E2513"/>
          </a:solidFill>
          <a:ln/>
        </p:spPr>
        <p:txBody>
          <a:bodyPr/>
          <a:lstStyle/>
          <a:p>
            <a:endParaRPr lang="en-US">
              <a:latin typeface="Garamond" panose="02020404030301010803" pitchFamily="18" charset="0"/>
            </a:endParaRPr>
          </a:p>
        </p:txBody>
      </p:sp>
      <p:sp>
        <p:nvSpPr>
          <p:cNvPr id="22" name="Text 11">
            <a:extLst>
              <a:ext uri="{FF2B5EF4-FFF2-40B4-BE49-F238E27FC236}">
                <a16:creationId xmlns:a16="http://schemas.microsoft.com/office/drawing/2014/main" id="{DF479E00-BFDD-D963-B9CE-E9C7C9B46765}"/>
              </a:ext>
            </a:extLst>
          </p:cNvPr>
          <p:cNvSpPr/>
          <p:nvPr/>
        </p:nvSpPr>
        <p:spPr>
          <a:xfrm>
            <a:off x="2649141" y="7305675"/>
            <a:ext cx="2443758" cy="305514"/>
          </a:xfrm>
          <a:prstGeom prst="rect">
            <a:avLst/>
          </a:prstGeom>
          <a:noFill/>
          <a:ln/>
        </p:spPr>
        <p:txBody>
          <a:bodyPr wrap="none" lIns="0" tIns="0" rIns="0" bIns="0" rtlCol="0" anchor="t"/>
          <a:lstStyle/>
          <a:p>
            <a:pPr marL="0" indent="0" algn="l">
              <a:lnSpc>
                <a:spcPts val="2400"/>
              </a:lnSpc>
              <a:buNone/>
            </a:pPr>
            <a:r>
              <a:rPr lang="en-US" sz="2800" dirty="0">
                <a:solidFill>
                  <a:srgbClr val="504C49"/>
                </a:solidFill>
                <a:latin typeface="Garamond" panose="02020404030301010803" pitchFamily="18" charset="0"/>
                <a:ea typeface="Platypi Medium" pitchFamily="34" charset="-122"/>
                <a:cs typeface="Platypi Medium" pitchFamily="34" charset="-120"/>
              </a:rPr>
              <a:t>Project Goal</a:t>
            </a:r>
            <a:endParaRPr lang="en-US" sz="2800" dirty="0">
              <a:latin typeface="Garamond" panose="02020404030301010803" pitchFamily="18" charset="0"/>
            </a:endParaRPr>
          </a:p>
        </p:txBody>
      </p:sp>
      <p:sp>
        <p:nvSpPr>
          <p:cNvPr id="23" name="Text 12">
            <a:extLst>
              <a:ext uri="{FF2B5EF4-FFF2-40B4-BE49-F238E27FC236}">
                <a16:creationId xmlns:a16="http://schemas.microsoft.com/office/drawing/2014/main" id="{00A0FCB9-68D8-B07D-3A6F-94E7249B65F8}"/>
              </a:ext>
            </a:extLst>
          </p:cNvPr>
          <p:cNvSpPr/>
          <p:nvPr/>
        </p:nvSpPr>
        <p:spPr>
          <a:xfrm>
            <a:off x="2649141" y="7728466"/>
            <a:ext cx="5579864" cy="625554"/>
          </a:xfrm>
          <a:prstGeom prst="rect">
            <a:avLst/>
          </a:prstGeom>
          <a:noFill/>
          <a:ln/>
        </p:spPr>
        <p:txBody>
          <a:bodyPr wrap="square" lIns="0" tIns="0" rIns="0" bIns="0" rtlCol="0" anchor="t"/>
          <a:lstStyle/>
          <a:p>
            <a:pPr marL="0" indent="0" algn="l">
              <a:lnSpc>
                <a:spcPts val="2450"/>
              </a:lnSpc>
              <a:buNone/>
            </a:pPr>
            <a:r>
              <a:rPr lang="en-US" sz="2000" b="1" dirty="0">
                <a:solidFill>
                  <a:srgbClr val="504C49"/>
                </a:solidFill>
                <a:latin typeface="Garamond" panose="02020404030301010803" pitchFamily="18" charset="0"/>
                <a:ea typeface="Source Serif 4" pitchFamily="34" charset="-122"/>
                <a:cs typeface="Source Serif 4" pitchFamily="34" charset="-120"/>
              </a:rPr>
              <a:t>Develop a system to generate a personalized Top-N ranked list of product recommendations for individual users.</a:t>
            </a:r>
            <a:endParaRPr lang="en-US" sz="2000" b="1" dirty="0">
              <a:latin typeface="Garamond" panose="02020404030301010803" pitchFamily="18" charset="0"/>
            </a:endParaRPr>
          </a:p>
        </p:txBody>
      </p:sp>
      <p:sp>
        <p:nvSpPr>
          <p:cNvPr id="24" name="Shape 13">
            <a:extLst>
              <a:ext uri="{FF2B5EF4-FFF2-40B4-BE49-F238E27FC236}">
                <a16:creationId xmlns:a16="http://schemas.microsoft.com/office/drawing/2014/main" id="{296AD3F1-C5C7-8AF3-1ED1-4201CFD8DD44}"/>
              </a:ext>
            </a:extLst>
          </p:cNvPr>
          <p:cNvSpPr/>
          <p:nvPr/>
        </p:nvSpPr>
        <p:spPr>
          <a:xfrm>
            <a:off x="8642866" y="7087314"/>
            <a:ext cx="6085284" cy="1797844"/>
          </a:xfrm>
          <a:prstGeom prst="roundRect">
            <a:avLst>
              <a:gd name="adj" fmla="val 7389"/>
            </a:avLst>
          </a:prstGeom>
          <a:solidFill>
            <a:srgbClr val="FFFFFF"/>
          </a:solidFill>
          <a:ln w="22860">
            <a:solidFill>
              <a:srgbClr val="D8D4D4"/>
            </a:solidFill>
            <a:prstDash val="solid"/>
          </a:ln>
        </p:spPr>
        <p:txBody>
          <a:bodyPr/>
          <a:lstStyle/>
          <a:p>
            <a:endParaRPr lang="en-US">
              <a:latin typeface="Garamond" panose="02020404030301010803" pitchFamily="18" charset="0"/>
            </a:endParaRPr>
          </a:p>
        </p:txBody>
      </p:sp>
      <p:sp>
        <p:nvSpPr>
          <p:cNvPr id="25" name="Shape 14">
            <a:extLst>
              <a:ext uri="{FF2B5EF4-FFF2-40B4-BE49-F238E27FC236}">
                <a16:creationId xmlns:a16="http://schemas.microsoft.com/office/drawing/2014/main" id="{86D9AEC6-56B1-4B68-34F4-DCB3E148CB4C}"/>
              </a:ext>
            </a:extLst>
          </p:cNvPr>
          <p:cNvSpPr/>
          <p:nvPr/>
        </p:nvSpPr>
        <p:spPr>
          <a:xfrm>
            <a:off x="8600747" y="7087314"/>
            <a:ext cx="110699" cy="1797844"/>
          </a:xfrm>
          <a:prstGeom prst="roundRect">
            <a:avLst>
              <a:gd name="adj" fmla="val 32072"/>
            </a:avLst>
          </a:prstGeom>
          <a:solidFill>
            <a:srgbClr val="3E2513"/>
          </a:solidFill>
          <a:ln/>
        </p:spPr>
        <p:txBody>
          <a:bodyPr/>
          <a:lstStyle/>
          <a:p>
            <a:endParaRPr lang="en-US">
              <a:latin typeface="Garamond" panose="02020404030301010803" pitchFamily="18" charset="0"/>
            </a:endParaRPr>
          </a:p>
        </p:txBody>
      </p:sp>
      <p:sp>
        <p:nvSpPr>
          <p:cNvPr id="26" name="Text 15">
            <a:extLst>
              <a:ext uri="{FF2B5EF4-FFF2-40B4-BE49-F238E27FC236}">
                <a16:creationId xmlns:a16="http://schemas.microsoft.com/office/drawing/2014/main" id="{264C4511-B3D1-B315-CBCD-E338B1237F9D}"/>
              </a:ext>
            </a:extLst>
          </p:cNvPr>
          <p:cNvSpPr/>
          <p:nvPr/>
        </p:nvSpPr>
        <p:spPr>
          <a:xfrm>
            <a:off x="8929807" y="7305675"/>
            <a:ext cx="2443758" cy="305514"/>
          </a:xfrm>
          <a:prstGeom prst="rect">
            <a:avLst/>
          </a:prstGeom>
          <a:noFill/>
          <a:ln/>
        </p:spPr>
        <p:txBody>
          <a:bodyPr wrap="none" lIns="0" tIns="0" rIns="0" bIns="0" rtlCol="0" anchor="t"/>
          <a:lstStyle/>
          <a:p>
            <a:pPr marL="0" indent="0" algn="l">
              <a:lnSpc>
                <a:spcPts val="2400"/>
              </a:lnSpc>
              <a:buNone/>
            </a:pPr>
            <a:r>
              <a:rPr lang="en-US" sz="2800" dirty="0">
                <a:solidFill>
                  <a:srgbClr val="504C49"/>
                </a:solidFill>
                <a:latin typeface="Garamond" panose="02020404030301010803" pitchFamily="18" charset="0"/>
                <a:ea typeface="Platypi Medium" pitchFamily="34" charset="-122"/>
                <a:cs typeface="Platypi Medium" pitchFamily="34" charset="-120"/>
              </a:rPr>
              <a:t>Deliverable</a:t>
            </a:r>
            <a:endParaRPr lang="en-US" sz="2800" dirty="0">
              <a:latin typeface="Garamond" panose="02020404030301010803" pitchFamily="18" charset="0"/>
            </a:endParaRPr>
          </a:p>
        </p:txBody>
      </p:sp>
      <p:sp>
        <p:nvSpPr>
          <p:cNvPr id="27" name="Text 16">
            <a:extLst>
              <a:ext uri="{FF2B5EF4-FFF2-40B4-BE49-F238E27FC236}">
                <a16:creationId xmlns:a16="http://schemas.microsoft.com/office/drawing/2014/main" id="{B9222859-2618-843E-8CB5-67951AD449EA}"/>
              </a:ext>
            </a:extLst>
          </p:cNvPr>
          <p:cNvSpPr/>
          <p:nvPr/>
        </p:nvSpPr>
        <p:spPr>
          <a:xfrm>
            <a:off x="8929807" y="7728466"/>
            <a:ext cx="5579983" cy="625554"/>
          </a:xfrm>
          <a:prstGeom prst="rect">
            <a:avLst/>
          </a:prstGeom>
          <a:noFill/>
          <a:ln/>
        </p:spPr>
        <p:txBody>
          <a:bodyPr wrap="square" lIns="0" tIns="0" rIns="0" bIns="0" rtlCol="0" anchor="t"/>
          <a:lstStyle/>
          <a:p>
            <a:pPr marL="0" indent="0" algn="l">
              <a:lnSpc>
                <a:spcPts val="2450"/>
              </a:lnSpc>
              <a:buNone/>
            </a:pPr>
            <a:r>
              <a:rPr lang="en-US" sz="2000" b="1" dirty="0">
                <a:solidFill>
                  <a:srgbClr val="504C49"/>
                </a:solidFill>
                <a:latin typeface="Garamond" panose="02020404030301010803" pitchFamily="18" charset="0"/>
                <a:ea typeface="Source Serif 4" pitchFamily="34" charset="-122"/>
                <a:cs typeface="Source Serif 4" pitchFamily="34" charset="-120"/>
              </a:rPr>
              <a:t>A working Command Line Interface (CLI) demonstration outputting recommended product titles.</a:t>
            </a:r>
            <a:endParaRPr lang="en-US" sz="2000" b="1" dirty="0">
              <a:latin typeface="Garamond" panose="02020404030301010803" pitchFamily="18" charset="0"/>
            </a:endParaRPr>
          </a:p>
        </p:txBody>
      </p:sp>
    </p:spTree>
    <p:extLst>
      <p:ext uri="{BB962C8B-B14F-4D97-AF65-F5344CB8AC3E}">
        <p14:creationId xmlns:p14="http://schemas.microsoft.com/office/powerpoint/2010/main" val="994015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6E8149-2589-88CF-0255-A7CAF1C2620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6B18C3D-14A4-B7F3-C112-595A27A1422E}"/>
              </a:ext>
            </a:extLst>
          </p:cNvPr>
          <p:cNvSpPr>
            <a:spLocks noGrp="1" noRot="1" noMove="1" noResize="1" noEditPoints="1" noAdjustHandles="1" noChangeArrowheads="1" noChangeShapeType="1"/>
          </p:cNvSpPr>
          <p:nvPr/>
        </p:nvSpPr>
        <p:spPr>
          <a:xfrm>
            <a:off x="0" y="6505"/>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3" name="PlaceHolder 1">
            <a:extLst>
              <a:ext uri="{FF2B5EF4-FFF2-40B4-BE49-F238E27FC236}">
                <a16:creationId xmlns:a16="http://schemas.microsoft.com/office/drawing/2014/main" id="{E6E6C799-A29C-04A3-9236-08CD802C2B08}"/>
              </a:ext>
            </a:extLst>
          </p:cNvPr>
          <p:cNvSpPr txBox="1">
            <a:spLocks/>
          </p:cNvSpPr>
          <p:nvPr/>
        </p:nvSpPr>
        <p:spPr>
          <a:xfrm>
            <a:off x="1109547" y="3032521"/>
            <a:ext cx="8036312" cy="4234968"/>
          </a:xfrm>
          <a:prstGeom prst="rect">
            <a:avLst/>
          </a:prstGeom>
          <a:noFill/>
          <a:ln w="0">
            <a:noFill/>
          </a:ln>
        </p:spPr>
        <p:txBody>
          <a:bodyPr wrap="square" lIns="91440" tIns="91440" rIns="91440" bIns="91440" anchor="t">
            <a:normAutofit/>
          </a:bodyPr>
          <a:lstStyle>
            <a:lvl1pPr>
              <a:defRPr sz="6800" b="0" i="0">
                <a:solidFill>
                  <a:srgbClr val="F1EADE"/>
                </a:solidFill>
                <a:latin typeface="Garamond"/>
                <a:ea typeface="+mj-ea"/>
                <a:cs typeface="Garamond"/>
              </a:defRPr>
            </a:lvl1pPr>
          </a:lstStyle>
          <a:p>
            <a:pPr algn="just">
              <a:lnSpc>
                <a:spcPct val="150000"/>
              </a:lnSpc>
              <a:tabLst>
                <a:tab pos="0" algn="l"/>
              </a:tabLst>
            </a:pPr>
            <a:r>
              <a:rPr lang="en-US" sz="2800" dirty="0">
                <a:solidFill>
                  <a:schemeClr val="dk1"/>
                </a:solidFill>
                <a:latin typeface="Garamond" panose="02020404030301010803" pitchFamily="18" charset="0"/>
                <a:ea typeface="Cabin"/>
              </a:rPr>
              <a:t>Personalized recommendations helps by filtering and ranking products based on individual user preferences and behaviors. This tailored approach increases discovery efficiency, saves users’ time, and improves shopping experience, which benefits both consumers and vendors. </a:t>
            </a:r>
            <a:endParaRPr lang="fr-FR" sz="2800" dirty="0">
              <a:solidFill>
                <a:srgbClr val="000000"/>
              </a:solidFill>
              <a:latin typeface="Garamond" panose="02020404030301010803" pitchFamily="18" charset="0"/>
            </a:endParaRPr>
          </a:p>
        </p:txBody>
      </p:sp>
      <p:sp>
        <p:nvSpPr>
          <p:cNvPr id="4" name="PlaceHolder 2">
            <a:extLst>
              <a:ext uri="{FF2B5EF4-FFF2-40B4-BE49-F238E27FC236}">
                <a16:creationId xmlns:a16="http://schemas.microsoft.com/office/drawing/2014/main" id="{8CAFF526-1C14-DAF4-652A-C82066435697}"/>
              </a:ext>
            </a:extLst>
          </p:cNvPr>
          <p:cNvSpPr>
            <a:spLocks noGrp="1"/>
          </p:cNvSpPr>
          <p:nvPr>
            <p:ph type="title"/>
          </p:nvPr>
        </p:nvSpPr>
        <p:spPr>
          <a:xfrm>
            <a:off x="1107688" y="1485900"/>
            <a:ext cx="10363200" cy="1133280"/>
          </a:xfrm>
          <a:prstGeom prst="rect">
            <a:avLst/>
          </a:prstGeom>
          <a:noFill/>
          <a:ln w="0">
            <a:noFill/>
          </a:ln>
        </p:spPr>
        <p:txBody>
          <a:bodyPr lIns="91440" tIns="91440" rIns="91440" bIns="91440" anchor="b">
            <a:noAutofit/>
          </a:bodyPr>
          <a:lstStyle/>
          <a:p>
            <a:pPr indent="0">
              <a:lnSpc>
                <a:spcPct val="100000"/>
              </a:lnSpc>
              <a:buNone/>
              <a:tabLst>
                <a:tab pos="0" algn="l"/>
              </a:tabLst>
            </a:pPr>
            <a:r>
              <a:rPr lang="en-US" sz="4800" b="1" u="none" strike="noStrike" dirty="0">
                <a:solidFill>
                  <a:schemeClr val="dk1"/>
                </a:solidFill>
                <a:effectLst/>
                <a:uFillTx/>
                <a:latin typeface="Garamond" panose="02020404030301010803" pitchFamily="18" charset="0"/>
                <a:ea typeface="EB Garamond"/>
              </a:rPr>
              <a:t>2.3. Final Thoughts after addressing the problems:</a:t>
            </a:r>
            <a:endParaRPr lang="fr-FR" sz="4800" b="1" u="none" strike="noStrike" dirty="0">
              <a:solidFill>
                <a:schemeClr val="dk1"/>
              </a:solidFill>
              <a:effectLst/>
              <a:uFillTx/>
              <a:latin typeface="Garamond" panose="02020404030301010803" pitchFamily="18" charset="0"/>
            </a:endParaRPr>
          </a:p>
        </p:txBody>
      </p:sp>
      <p:pic>
        <p:nvPicPr>
          <p:cNvPr id="15" name="Google Shape;183;p30">
            <a:extLst>
              <a:ext uri="{FF2B5EF4-FFF2-40B4-BE49-F238E27FC236}">
                <a16:creationId xmlns:a16="http://schemas.microsoft.com/office/drawing/2014/main" id="{36A44D71-1340-0868-CD60-7730CBBC38C4}"/>
              </a:ext>
            </a:extLst>
          </p:cNvPr>
          <p:cNvPicPr/>
          <p:nvPr/>
        </p:nvPicPr>
        <p:blipFill>
          <a:blip r:embed="rId2"/>
          <a:srcRect t="12490" b="12490"/>
          <a:stretch/>
        </p:blipFill>
        <p:spPr>
          <a:xfrm>
            <a:off x="10896600" y="6505"/>
            <a:ext cx="7391400" cy="10287000"/>
          </a:xfrm>
          <a:prstGeom prst="rect">
            <a:avLst/>
          </a:prstGeom>
          <a:noFill/>
          <a:ln w="0">
            <a:noFill/>
          </a:ln>
        </p:spPr>
      </p:pic>
    </p:spTree>
    <p:extLst>
      <p:ext uri="{BB962C8B-B14F-4D97-AF65-F5344CB8AC3E}">
        <p14:creationId xmlns:p14="http://schemas.microsoft.com/office/powerpoint/2010/main" val="3955008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39D51-00DB-4D91-36C9-9FC9F3798838}"/>
            </a:ext>
          </a:extLst>
        </p:cNvPr>
        <p:cNvGrpSpPr/>
        <p:nvPr/>
      </p:nvGrpSpPr>
      <p:grpSpPr>
        <a:xfrm>
          <a:off x="0" y="0"/>
          <a:ext cx="0" cy="0"/>
          <a:chOff x="0" y="0"/>
          <a:chExt cx="0" cy="0"/>
        </a:xfrm>
      </p:grpSpPr>
      <p:sp>
        <p:nvSpPr>
          <p:cNvPr id="4" name="object 4" descr="$PPTXTitle">
            <a:extLst>
              <a:ext uri="{FF2B5EF4-FFF2-40B4-BE49-F238E27FC236}">
                <a16:creationId xmlns:a16="http://schemas.microsoft.com/office/drawing/2014/main" id="{1C166840-0B5C-4342-AE22-F7C5CC2F7358}"/>
              </a:ext>
            </a:extLst>
          </p:cNvPr>
          <p:cNvSpPr txBox="1">
            <a:spLocks noGrp="1"/>
          </p:cNvSpPr>
          <p:nvPr>
            <p:ph type="title"/>
          </p:nvPr>
        </p:nvSpPr>
        <p:spPr>
          <a:xfrm>
            <a:off x="6019800" y="4057433"/>
            <a:ext cx="15697200" cy="1086067"/>
          </a:xfrm>
          <a:prstGeom prst="rect">
            <a:avLst/>
          </a:prstGeom>
        </p:spPr>
        <p:txBody>
          <a:bodyPr vert="horz" wrap="square" lIns="0" tIns="185420" rIns="0" bIns="0" rtlCol="0">
            <a:spAutoFit/>
          </a:bodyPr>
          <a:lstStyle/>
          <a:p>
            <a:pPr marL="2280920" marR="5080" indent="-2268855">
              <a:lnSpc>
                <a:spcPts val="6800"/>
              </a:lnSpc>
              <a:spcBef>
                <a:spcPts val="1460"/>
              </a:spcBef>
            </a:pPr>
            <a:r>
              <a:rPr lang="en-US" spc="-295" dirty="0"/>
              <a:t>Data Set Overview</a:t>
            </a:r>
            <a:endParaRPr spc="400" dirty="0"/>
          </a:p>
        </p:txBody>
      </p:sp>
    </p:spTree>
    <p:extLst>
      <p:ext uri="{BB962C8B-B14F-4D97-AF65-F5344CB8AC3E}">
        <p14:creationId xmlns:p14="http://schemas.microsoft.com/office/powerpoint/2010/main" val="3300385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102C5F5-5DEC-23CB-50A6-9E3EF774E94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0E817C5-C2C5-681D-62E8-F15FC288273D}"/>
              </a:ext>
            </a:extLst>
          </p:cNvPr>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21" name="Text 0">
            <a:extLst>
              <a:ext uri="{FF2B5EF4-FFF2-40B4-BE49-F238E27FC236}">
                <a16:creationId xmlns:a16="http://schemas.microsoft.com/office/drawing/2014/main" id="{6BB0DD56-39EB-912F-C6A9-99DAC004F512}"/>
              </a:ext>
            </a:extLst>
          </p:cNvPr>
          <p:cNvSpPr/>
          <p:nvPr/>
        </p:nvSpPr>
        <p:spPr>
          <a:xfrm>
            <a:off x="1447800" y="1181100"/>
            <a:ext cx="11287310" cy="53769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800" b="1" dirty="0">
                <a:solidFill>
                  <a:srgbClr val="0F172A"/>
                </a:solidFill>
                <a:latin typeface="Garamond" panose="02020404030301010803" pitchFamily="18" charset="0"/>
                <a:ea typeface="Calibri" pitchFamily="34" charset="-122"/>
                <a:cs typeface="Calibri" pitchFamily="34" charset="-120"/>
              </a:rPr>
              <a:t>3.1. Dataset Overview</a:t>
            </a:r>
            <a:endParaRPr lang="en-US" sz="4800" dirty="0">
              <a:latin typeface="Garamond" panose="02020404030301010803" pitchFamily="18" charset="0"/>
            </a:endParaRPr>
          </a:p>
        </p:txBody>
      </p:sp>
      <p:sp>
        <p:nvSpPr>
          <p:cNvPr id="22" name="Shape 1">
            <a:extLst>
              <a:ext uri="{FF2B5EF4-FFF2-40B4-BE49-F238E27FC236}">
                <a16:creationId xmlns:a16="http://schemas.microsoft.com/office/drawing/2014/main" id="{2CBD79B5-D57B-4058-A273-AD241A639177}"/>
              </a:ext>
            </a:extLst>
          </p:cNvPr>
          <p:cNvSpPr/>
          <p:nvPr/>
        </p:nvSpPr>
        <p:spPr>
          <a:xfrm>
            <a:off x="1447800" y="1775460"/>
            <a:ext cx="5943600" cy="0"/>
          </a:xfrm>
          <a:prstGeom prst="line">
            <a:avLst/>
          </a:prstGeom>
          <a:noFill/>
          <a:ln w="12700">
            <a:solidFill>
              <a:schemeClr val="tx1">
                <a:lumMod val="75000"/>
                <a:lumOff val="25000"/>
              </a:schemeClr>
            </a:solidFill>
            <a:prstDash val="solid"/>
          </a:ln>
        </p:spPr>
        <p:txBody>
          <a:bodyPr/>
          <a:lstStyle/>
          <a:p>
            <a:endParaRPr lang="en-US"/>
          </a:p>
        </p:txBody>
      </p:sp>
      <p:grpSp>
        <p:nvGrpSpPr>
          <p:cNvPr id="35" name="Group 34">
            <a:extLst>
              <a:ext uri="{FF2B5EF4-FFF2-40B4-BE49-F238E27FC236}">
                <a16:creationId xmlns:a16="http://schemas.microsoft.com/office/drawing/2014/main" id="{0D76EF49-D293-E183-0861-C480F3CD0BD9}"/>
              </a:ext>
            </a:extLst>
          </p:cNvPr>
          <p:cNvGrpSpPr/>
          <p:nvPr/>
        </p:nvGrpSpPr>
        <p:grpSpPr>
          <a:xfrm>
            <a:off x="1143001" y="2381087"/>
            <a:ext cx="7315200" cy="6724805"/>
            <a:chOff x="1493520" y="1958340"/>
            <a:chExt cx="5736174" cy="5242560"/>
          </a:xfrm>
        </p:grpSpPr>
        <p:sp>
          <p:nvSpPr>
            <p:cNvPr id="23" name="Shape 2">
              <a:extLst>
                <a:ext uri="{FF2B5EF4-FFF2-40B4-BE49-F238E27FC236}">
                  <a16:creationId xmlns:a16="http://schemas.microsoft.com/office/drawing/2014/main" id="{A1DD896C-31D3-1210-CC27-30CF4036A474}"/>
                </a:ext>
              </a:extLst>
            </p:cNvPr>
            <p:cNvSpPr/>
            <p:nvPr/>
          </p:nvSpPr>
          <p:spPr>
            <a:xfrm>
              <a:off x="1493520" y="1958340"/>
              <a:ext cx="5736174" cy="5242560"/>
            </a:xfrm>
            <a:prstGeom prst="roundRect">
              <a:avLst/>
            </a:prstGeom>
            <a:solidFill>
              <a:schemeClr val="accent1">
                <a:lumMod val="20000"/>
                <a:lumOff val="80000"/>
              </a:schemeClr>
            </a:solidFill>
            <a:ln w="12700">
              <a:solidFill>
                <a:srgbClr val="E2E8F0"/>
              </a:solidFill>
              <a:prstDash val="solid"/>
            </a:ln>
            <a:effectLst>
              <a:outerShdw blurRad="38100" dist="12700" dir="2700000" algn="bl" rotWithShape="0">
                <a:srgbClr val="000000">
                  <a:alpha val="10000"/>
                </a:srgbClr>
              </a:outerShdw>
            </a:effectLst>
          </p:spPr>
          <p:txBody>
            <a:bodyPr/>
            <a:lstStyle/>
            <a:p>
              <a:endParaRPr lang="en-US" dirty="0">
                <a:latin typeface="Garamond" panose="02020404030301010803" pitchFamily="18" charset="0"/>
              </a:endParaRPr>
            </a:p>
          </p:txBody>
        </p:sp>
        <p:sp>
          <p:nvSpPr>
            <p:cNvPr id="24" name="Text 3">
              <a:extLst>
                <a:ext uri="{FF2B5EF4-FFF2-40B4-BE49-F238E27FC236}">
                  <a16:creationId xmlns:a16="http://schemas.microsoft.com/office/drawing/2014/main" id="{8396C9B6-F089-409F-5E91-3FFA596DB599}"/>
                </a:ext>
              </a:extLst>
            </p:cNvPr>
            <p:cNvSpPr/>
            <p:nvPr/>
          </p:nvSpPr>
          <p:spPr>
            <a:xfrm>
              <a:off x="1859279" y="2278380"/>
              <a:ext cx="5181061" cy="268849"/>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200" b="1" dirty="0">
                  <a:solidFill>
                    <a:srgbClr val="0F172A"/>
                  </a:solidFill>
                  <a:latin typeface="Garamond" panose="02020404030301010803" pitchFamily="18" charset="0"/>
                  <a:ea typeface="Calibri" pitchFamily="34" charset="-122"/>
                  <a:cs typeface="Calibri" pitchFamily="34" charset="-120"/>
                </a:rPr>
                <a:t>Source:</a:t>
              </a:r>
              <a:endParaRPr lang="en-US" sz="3200" dirty="0">
                <a:latin typeface="Garamond" panose="02020404030301010803" pitchFamily="18" charset="0"/>
              </a:endParaRPr>
            </a:p>
          </p:txBody>
        </p:sp>
        <p:sp>
          <p:nvSpPr>
            <p:cNvPr id="25" name="Text 4">
              <a:extLst>
                <a:ext uri="{FF2B5EF4-FFF2-40B4-BE49-F238E27FC236}">
                  <a16:creationId xmlns:a16="http://schemas.microsoft.com/office/drawing/2014/main" id="{030EC2A8-2B40-AFBF-3992-E924DE5A7C7D}"/>
                </a:ext>
              </a:extLst>
            </p:cNvPr>
            <p:cNvSpPr/>
            <p:nvPr/>
          </p:nvSpPr>
          <p:spPr>
            <a:xfrm>
              <a:off x="1859279" y="2598420"/>
              <a:ext cx="4533889" cy="53769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dirty="0">
                  <a:solidFill>
                    <a:srgbClr val="0F172A"/>
                  </a:solidFill>
                  <a:latin typeface="Garamond" panose="02020404030301010803" pitchFamily="18" charset="0"/>
                  <a:ea typeface="Calibri" pitchFamily="34" charset="-122"/>
                  <a:cs typeface="Calibri" pitchFamily="34" charset="-120"/>
                </a:rPr>
                <a:t>Amazon Reviews 2023 (McAuley Lab, UCSD)</a:t>
              </a:r>
              <a:endParaRPr lang="en-US" sz="2400" dirty="0">
                <a:latin typeface="Garamond" panose="02020404030301010803" pitchFamily="18" charset="0"/>
              </a:endParaRPr>
            </a:p>
          </p:txBody>
        </p:sp>
        <p:sp>
          <p:nvSpPr>
            <p:cNvPr id="26" name="Text 5">
              <a:extLst>
                <a:ext uri="{FF2B5EF4-FFF2-40B4-BE49-F238E27FC236}">
                  <a16:creationId xmlns:a16="http://schemas.microsoft.com/office/drawing/2014/main" id="{1A635995-89C5-08C6-6BCB-7081AB8469E5}"/>
                </a:ext>
              </a:extLst>
            </p:cNvPr>
            <p:cNvSpPr/>
            <p:nvPr/>
          </p:nvSpPr>
          <p:spPr>
            <a:xfrm>
              <a:off x="1838875" y="3394993"/>
              <a:ext cx="5181061" cy="268849"/>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200" b="1" dirty="0">
                  <a:solidFill>
                    <a:srgbClr val="0F172A"/>
                  </a:solidFill>
                  <a:latin typeface="Garamond" panose="02020404030301010803" pitchFamily="18" charset="0"/>
                  <a:ea typeface="Calibri" pitchFamily="34" charset="-122"/>
                  <a:cs typeface="Calibri" pitchFamily="34" charset="-120"/>
                </a:rPr>
                <a:t>Fields used:</a:t>
              </a:r>
              <a:endParaRPr lang="en-US" sz="3200" dirty="0">
                <a:latin typeface="Garamond" panose="02020404030301010803" pitchFamily="18" charset="0"/>
              </a:endParaRPr>
            </a:p>
          </p:txBody>
        </p:sp>
        <p:sp>
          <p:nvSpPr>
            <p:cNvPr id="27" name="Text 6">
              <a:extLst>
                <a:ext uri="{FF2B5EF4-FFF2-40B4-BE49-F238E27FC236}">
                  <a16:creationId xmlns:a16="http://schemas.microsoft.com/office/drawing/2014/main" id="{DB3D4B71-5E31-CF95-33E4-AFCB55607706}"/>
                </a:ext>
              </a:extLst>
            </p:cNvPr>
            <p:cNvSpPr/>
            <p:nvPr/>
          </p:nvSpPr>
          <p:spPr>
            <a:xfrm>
              <a:off x="1859279" y="3777094"/>
              <a:ext cx="5181061" cy="53769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dirty="0">
                  <a:solidFill>
                    <a:srgbClr val="0F172A"/>
                  </a:solidFill>
                  <a:latin typeface="Garamond" panose="02020404030301010803" pitchFamily="18" charset="0"/>
                  <a:ea typeface="Calibri" pitchFamily="34" charset="-122"/>
                  <a:cs typeface="Calibri" pitchFamily="34" charset="-120"/>
                </a:rPr>
                <a:t>user_id, parent_asin, rating, timestamp (+ title from metadata)</a:t>
              </a:r>
              <a:endParaRPr lang="en-US" sz="2400" dirty="0">
                <a:latin typeface="Garamond" panose="02020404030301010803" pitchFamily="18" charset="0"/>
              </a:endParaRPr>
            </a:p>
          </p:txBody>
        </p:sp>
        <p:sp>
          <p:nvSpPr>
            <p:cNvPr id="28" name="Text 7">
              <a:extLst>
                <a:ext uri="{FF2B5EF4-FFF2-40B4-BE49-F238E27FC236}">
                  <a16:creationId xmlns:a16="http://schemas.microsoft.com/office/drawing/2014/main" id="{8CC2ED54-A531-507E-CD83-55091D55E420}"/>
                </a:ext>
              </a:extLst>
            </p:cNvPr>
            <p:cNvSpPr/>
            <p:nvPr/>
          </p:nvSpPr>
          <p:spPr>
            <a:xfrm>
              <a:off x="1859279" y="4804569"/>
              <a:ext cx="5181061" cy="268849"/>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200" b="1" dirty="0">
                  <a:solidFill>
                    <a:srgbClr val="0F172A"/>
                  </a:solidFill>
                  <a:latin typeface="Garamond" panose="02020404030301010803" pitchFamily="18" charset="0"/>
                  <a:ea typeface="Calibri" pitchFamily="34" charset="-122"/>
                  <a:cs typeface="Calibri" pitchFamily="34" charset="-120"/>
                </a:rPr>
                <a:t>Final file characteristics</a:t>
              </a:r>
              <a:endParaRPr lang="en-US" sz="3200" dirty="0">
                <a:latin typeface="Garamond" panose="02020404030301010803" pitchFamily="18" charset="0"/>
              </a:endParaRPr>
            </a:p>
          </p:txBody>
        </p:sp>
        <p:sp>
          <p:nvSpPr>
            <p:cNvPr id="29" name="Text 8">
              <a:extLst>
                <a:ext uri="{FF2B5EF4-FFF2-40B4-BE49-F238E27FC236}">
                  <a16:creationId xmlns:a16="http://schemas.microsoft.com/office/drawing/2014/main" id="{8748760C-E347-EA16-E579-DE5D0A675308}"/>
                </a:ext>
              </a:extLst>
            </p:cNvPr>
            <p:cNvSpPr/>
            <p:nvPr/>
          </p:nvSpPr>
          <p:spPr>
            <a:xfrm>
              <a:off x="1859279" y="5235567"/>
              <a:ext cx="5181061" cy="716931"/>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dirty="0">
                  <a:solidFill>
                    <a:srgbClr val="0F172A"/>
                  </a:solidFill>
                  <a:latin typeface="Garamond" panose="02020404030301010803" pitchFamily="18" charset="0"/>
                  <a:ea typeface="Calibri" pitchFamily="34" charset="-122"/>
                  <a:cs typeface="Calibri" pitchFamily="34" charset="-120"/>
                </a:rPr>
                <a:t>10,991 rows × 25 columns</a:t>
              </a:r>
              <a:endParaRPr lang="en-US" sz="2400" dirty="0">
                <a:latin typeface="Garamond" panose="02020404030301010803" pitchFamily="18" charset="0"/>
              </a:endParaRPr>
            </a:p>
            <a:p>
              <a:pPr marL="0" indent="0">
                <a:buNone/>
              </a:pPr>
              <a:r>
                <a:rPr lang="en-US" sz="2400" dirty="0">
                  <a:solidFill>
                    <a:srgbClr val="0F172A"/>
                  </a:solidFill>
                  <a:latin typeface="Garamond" panose="02020404030301010803" pitchFamily="18" charset="0"/>
                  <a:ea typeface="Calibri" pitchFamily="34" charset="-122"/>
                  <a:cs typeface="Calibri" pitchFamily="34" charset="-120"/>
                </a:rPr>
                <a:t>Time span: 2004-06-03 → 2023-03-16</a:t>
              </a:r>
              <a:endParaRPr lang="en-US" sz="2400" dirty="0">
                <a:latin typeface="Garamond" panose="02020404030301010803" pitchFamily="18" charset="0"/>
              </a:endParaRPr>
            </a:p>
          </p:txBody>
        </p:sp>
      </p:grpSp>
      <p:grpSp>
        <p:nvGrpSpPr>
          <p:cNvPr id="34" name="Group 33">
            <a:extLst>
              <a:ext uri="{FF2B5EF4-FFF2-40B4-BE49-F238E27FC236}">
                <a16:creationId xmlns:a16="http://schemas.microsoft.com/office/drawing/2014/main" id="{16C3EE2C-63CD-A7FC-4713-E667D6CFC356}"/>
              </a:ext>
            </a:extLst>
          </p:cNvPr>
          <p:cNvGrpSpPr/>
          <p:nvPr/>
        </p:nvGrpSpPr>
        <p:grpSpPr>
          <a:xfrm>
            <a:off x="9144000" y="2381076"/>
            <a:ext cx="8458200" cy="6724805"/>
            <a:chOff x="7342443" y="1943100"/>
            <a:chExt cx="5227320" cy="5242560"/>
          </a:xfrm>
        </p:grpSpPr>
        <p:sp>
          <p:nvSpPr>
            <p:cNvPr id="30" name="Shape 9">
              <a:extLst>
                <a:ext uri="{FF2B5EF4-FFF2-40B4-BE49-F238E27FC236}">
                  <a16:creationId xmlns:a16="http://schemas.microsoft.com/office/drawing/2014/main" id="{E1D9E150-A055-156D-1C44-BA934A5DA25A}"/>
                </a:ext>
              </a:extLst>
            </p:cNvPr>
            <p:cNvSpPr/>
            <p:nvPr/>
          </p:nvSpPr>
          <p:spPr>
            <a:xfrm>
              <a:off x="7342443" y="1943100"/>
              <a:ext cx="5227320" cy="5242560"/>
            </a:xfrm>
            <a:prstGeom prst="roundRect">
              <a:avLst/>
            </a:prstGeom>
            <a:solidFill>
              <a:srgbClr val="FFFFFF"/>
            </a:solidFill>
            <a:ln w="12700">
              <a:solidFill>
                <a:srgbClr val="E2E8F0"/>
              </a:solidFill>
              <a:prstDash val="solid"/>
            </a:ln>
            <a:effectLst>
              <a:outerShdw blurRad="38100" dist="12700" dir="2700000" algn="bl" rotWithShape="0">
                <a:srgbClr val="000000">
                  <a:alpha val="10000"/>
                </a:srgbClr>
              </a:outerShdw>
            </a:effectLst>
          </p:spPr>
          <p:txBody>
            <a:bodyPr/>
            <a:lstStyle/>
            <a:p>
              <a:endParaRPr lang="en-US"/>
            </a:p>
          </p:txBody>
        </p:sp>
        <p:sp>
          <p:nvSpPr>
            <p:cNvPr id="31" name="Text 10">
              <a:extLst>
                <a:ext uri="{FF2B5EF4-FFF2-40B4-BE49-F238E27FC236}">
                  <a16:creationId xmlns:a16="http://schemas.microsoft.com/office/drawing/2014/main" id="{FCDD3777-FBE0-144D-DE46-3D7DD33CB063}"/>
                </a:ext>
              </a:extLst>
            </p:cNvPr>
            <p:cNvSpPr/>
            <p:nvPr/>
          </p:nvSpPr>
          <p:spPr>
            <a:xfrm>
              <a:off x="7620000" y="2232660"/>
              <a:ext cx="4672206" cy="35846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200" b="1" dirty="0">
                  <a:solidFill>
                    <a:srgbClr val="0F172A"/>
                  </a:solidFill>
                  <a:latin typeface="Garamond" panose="02020404030301010803" pitchFamily="18" charset="0"/>
                  <a:ea typeface="Calibri" pitchFamily="34" charset="-122"/>
                  <a:cs typeface="Calibri" pitchFamily="34" charset="-120"/>
                </a:rPr>
                <a:t>Dataset size (raw vs final)</a:t>
              </a:r>
              <a:endParaRPr lang="en-US" sz="3200" b="1" dirty="0">
                <a:latin typeface="Garamond" panose="02020404030301010803" pitchFamily="18" charset="0"/>
              </a:endParaRPr>
            </a:p>
          </p:txBody>
        </p:sp>
        <p:pic>
          <p:nvPicPr>
            <p:cNvPr id="32" name="table">
              <a:extLst>
                <a:ext uri="{FF2B5EF4-FFF2-40B4-BE49-F238E27FC236}">
                  <a16:creationId xmlns:a16="http://schemas.microsoft.com/office/drawing/2014/main" id="{B53975BF-0450-D4D9-FF5F-567EB628E168}"/>
                </a:ext>
              </a:extLst>
            </p:cNvPr>
            <p:cNvPicPr>
              <a:picLocks noChangeAspect="1"/>
            </p:cNvPicPr>
            <p:nvPr/>
          </p:nvPicPr>
          <p:blipFill>
            <a:blip r:embed="rId3"/>
            <a:stretch>
              <a:fillRect/>
            </a:stretch>
          </p:blipFill>
          <p:spPr>
            <a:xfrm>
              <a:off x="7619999" y="2689859"/>
              <a:ext cx="4746057" cy="2074121"/>
            </a:xfrm>
            <a:prstGeom prst="rect">
              <a:avLst/>
            </a:prstGeom>
          </p:spPr>
        </p:pic>
        <p:sp>
          <p:nvSpPr>
            <p:cNvPr id="33" name="Text 11">
              <a:extLst>
                <a:ext uri="{FF2B5EF4-FFF2-40B4-BE49-F238E27FC236}">
                  <a16:creationId xmlns:a16="http://schemas.microsoft.com/office/drawing/2014/main" id="{D0031F47-2E7A-887E-230C-B01F70E8E1E1}"/>
                </a:ext>
              </a:extLst>
            </p:cNvPr>
            <p:cNvSpPr/>
            <p:nvPr/>
          </p:nvSpPr>
          <p:spPr>
            <a:xfrm>
              <a:off x="7619999" y="4973042"/>
              <a:ext cx="4949763" cy="53769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dirty="0">
                  <a:solidFill>
                    <a:srgbClr val="334155"/>
                  </a:solidFill>
                  <a:latin typeface="Garamond" panose="02020404030301010803" pitchFamily="18" charset="0"/>
                  <a:ea typeface="Calibri" pitchFamily="34" charset="-122"/>
                  <a:cs typeface="Calibri" pitchFamily="34" charset="-120"/>
                </a:rPr>
                <a:t>Note: Raw benchmark statistics are from the Amazon Reviews 2023 documentation.</a:t>
              </a:r>
              <a:endParaRPr lang="en-US" sz="2400" dirty="0">
                <a:latin typeface="Garamond" panose="02020404030301010803" pitchFamily="18" charset="0"/>
              </a:endParaRPr>
            </a:p>
          </p:txBody>
        </p:sp>
      </p:grpSp>
    </p:spTree>
    <p:extLst>
      <p:ext uri="{BB962C8B-B14F-4D97-AF65-F5344CB8AC3E}">
        <p14:creationId xmlns:p14="http://schemas.microsoft.com/office/powerpoint/2010/main" val="348805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794016" y="4328205"/>
            <a:ext cx="7573546" cy="5041900"/>
          </a:xfrm>
          <a:prstGeom prst="rect">
            <a:avLst/>
          </a:prstGeom>
        </p:spPr>
      </p:pic>
      <p:sp>
        <p:nvSpPr>
          <p:cNvPr id="3" name="object 3" descr="$PPTXTitle"/>
          <p:cNvSpPr txBox="1">
            <a:spLocks noGrp="1"/>
          </p:cNvSpPr>
          <p:nvPr>
            <p:ph type="title"/>
          </p:nvPr>
        </p:nvSpPr>
        <p:spPr>
          <a:xfrm>
            <a:off x="1297716" y="2019300"/>
            <a:ext cx="16992600" cy="1059264"/>
          </a:xfrm>
          <a:prstGeom prst="rect">
            <a:avLst/>
          </a:prstGeom>
        </p:spPr>
        <p:txBody>
          <a:bodyPr vert="horz" wrap="square" lIns="0" tIns="12700" rIns="0" bIns="0" rtlCol="0">
            <a:spAutoFit/>
          </a:bodyPr>
          <a:lstStyle/>
          <a:p>
            <a:pPr marL="1230630">
              <a:lnSpc>
                <a:spcPct val="100000"/>
              </a:lnSpc>
              <a:spcBef>
                <a:spcPts val="100"/>
              </a:spcBef>
            </a:pPr>
            <a:r>
              <a:rPr lang="en-US" spc="385" dirty="0"/>
              <a:t>3.2. Original </a:t>
            </a:r>
            <a:r>
              <a:rPr spc="385" dirty="0"/>
              <a:t>Dataset</a:t>
            </a:r>
            <a:r>
              <a:rPr spc="-120" dirty="0"/>
              <a:t> </a:t>
            </a:r>
            <a:r>
              <a:rPr spc="420" dirty="0"/>
              <a:t>Size</a:t>
            </a:r>
            <a:r>
              <a:rPr dirty="0"/>
              <a:t> </a:t>
            </a:r>
            <a:r>
              <a:rPr spc="690" dirty="0"/>
              <a:t>&amp;</a:t>
            </a:r>
            <a:r>
              <a:rPr dirty="0"/>
              <a:t> </a:t>
            </a:r>
            <a:r>
              <a:rPr spc="520" dirty="0"/>
              <a:t>Structure</a:t>
            </a:r>
          </a:p>
        </p:txBody>
      </p:sp>
      <p:sp>
        <p:nvSpPr>
          <p:cNvPr id="4" name="object 4"/>
          <p:cNvSpPr txBox="1"/>
          <p:nvPr/>
        </p:nvSpPr>
        <p:spPr>
          <a:xfrm>
            <a:off x="2209800" y="4708825"/>
            <a:ext cx="7239000" cy="4280659"/>
          </a:xfrm>
          <a:prstGeom prst="rect">
            <a:avLst/>
          </a:prstGeom>
        </p:spPr>
        <p:txBody>
          <a:bodyPr vert="horz" wrap="square" lIns="0" tIns="12700" rIns="0" bIns="0" rtlCol="0">
            <a:spAutoFit/>
          </a:bodyPr>
          <a:lstStyle/>
          <a:p>
            <a:pPr marL="12700">
              <a:lnSpc>
                <a:spcPct val="100000"/>
              </a:lnSpc>
              <a:spcBef>
                <a:spcPts val="100"/>
              </a:spcBef>
            </a:pPr>
            <a:r>
              <a:rPr sz="2800" spc="70" dirty="0">
                <a:solidFill>
                  <a:srgbClr val="F1EADE"/>
                </a:solidFill>
                <a:latin typeface="Gill Sans MT"/>
                <a:cs typeface="Gill Sans MT"/>
              </a:rPr>
              <a:t>Raw</a:t>
            </a:r>
            <a:r>
              <a:rPr sz="2800" spc="-105" dirty="0">
                <a:solidFill>
                  <a:srgbClr val="F1EADE"/>
                </a:solidFill>
                <a:latin typeface="Gill Sans MT"/>
                <a:cs typeface="Gill Sans MT"/>
              </a:rPr>
              <a:t> </a:t>
            </a:r>
            <a:r>
              <a:rPr sz="2800" spc="80" dirty="0">
                <a:solidFill>
                  <a:srgbClr val="F1EADE"/>
                </a:solidFill>
                <a:latin typeface="Gill Sans MT"/>
                <a:cs typeface="Gill Sans MT"/>
              </a:rPr>
              <a:t>Dataset</a:t>
            </a:r>
            <a:r>
              <a:rPr sz="2800" spc="-105" dirty="0">
                <a:solidFill>
                  <a:srgbClr val="F1EADE"/>
                </a:solidFill>
                <a:latin typeface="Gill Sans MT"/>
                <a:cs typeface="Gill Sans MT"/>
              </a:rPr>
              <a:t> </a:t>
            </a:r>
            <a:r>
              <a:rPr sz="2800" spc="110" dirty="0">
                <a:solidFill>
                  <a:srgbClr val="F1EADE"/>
                </a:solidFill>
                <a:latin typeface="Gill Sans MT"/>
                <a:cs typeface="Gill Sans MT"/>
              </a:rPr>
              <a:t>Scale</a:t>
            </a:r>
            <a:endParaRPr sz="2800" dirty="0">
              <a:latin typeface="Gill Sans MT"/>
              <a:cs typeface="Gill Sans MT"/>
            </a:endParaRPr>
          </a:p>
          <a:p>
            <a:pPr marL="12700">
              <a:lnSpc>
                <a:spcPct val="100000"/>
              </a:lnSpc>
              <a:spcBef>
                <a:spcPts val="1800"/>
              </a:spcBef>
            </a:pPr>
            <a:r>
              <a:rPr sz="2800" spc="-65" dirty="0">
                <a:solidFill>
                  <a:srgbClr val="F1EADE"/>
                </a:solidFill>
                <a:latin typeface="Gill Sans MT"/>
                <a:cs typeface="Gill Sans MT"/>
              </a:rPr>
              <a:t>15.5M</a:t>
            </a:r>
            <a:r>
              <a:rPr sz="2800" spc="-45" dirty="0">
                <a:solidFill>
                  <a:srgbClr val="F1EADE"/>
                </a:solidFill>
                <a:latin typeface="Gill Sans MT"/>
                <a:cs typeface="Gill Sans MT"/>
              </a:rPr>
              <a:t> </a:t>
            </a:r>
            <a:r>
              <a:rPr sz="2800" spc="45" dirty="0">
                <a:solidFill>
                  <a:srgbClr val="F1EADE"/>
                </a:solidFill>
                <a:latin typeface="Gill Sans MT"/>
                <a:cs typeface="Gill Sans MT"/>
              </a:rPr>
              <a:t>interactions,</a:t>
            </a:r>
            <a:r>
              <a:rPr sz="2800" spc="-45" dirty="0">
                <a:solidFill>
                  <a:srgbClr val="F1EADE"/>
                </a:solidFill>
                <a:latin typeface="Gill Sans MT"/>
                <a:cs typeface="Gill Sans MT"/>
              </a:rPr>
              <a:t> </a:t>
            </a:r>
            <a:r>
              <a:rPr sz="2800" spc="-75" dirty="0">
                <a:solidFill>
                  <a:srgbClr val="F1EADE"/>
                </a:solidFill>
                <a:latin typeface="Gill Sans MT"/>
                <a:cs typeface="Gill Sans MT"/>
              </a:rPr>
              <a:t>1.6M</a:t>
            </a:r>
            <a:r>
              <a:rPr sz="2800" spc="-45" dirty="0">
                <a:solidFill>
                  <a:srgbClr val="F1EADE"/>
                </a:solidFill>
                <a:latin typeface="Gill Sans MT"/>
                <a:cs typeface="Gill Sans MT"/>
              </a:rPr>
              <a:t> </a:t>
            </a:r>
            <a:r>
              <a:rPr sz="2800" dirty="0">
                <a:solidFill>
                  <a:srgbClr val="F1EADE"/>
                </a:solidFill>
                <a:latin typeface="Gill Sans MT"/>
                <a:cs typeface="Gill Sans MT"/>
              </a:rPr>
              <a:t>users,</a:t>
            </a:r>
            <a:r>
              <a:rPr sz="2800" spc="-45" dirty="0">
                <a:solidFill>
                  <a:srgbClr val="F1EADE"/>
                </a:solidFill>
                <a:latin typeface="Gill Sans MT"/>
                <a:cs typeface="Gill Sans MT"/>
              </a:rPr>
              <a:t> </a:t>
            </a:r>
            <a:r>
              <a:rPr sz="2800" spc="-35" dirty="0">
                <a:solidFill>
                  <a:srgbClr val="F1EADE"/>
                </a:solidFill>
                <a:latin typeface="Gill Sans MT"/>
                <a:cs typeface="Gill Sans MT"/>
              </a:rPr>
              <a:t>368.2K</a:t>
            </a:r>
            <a:r>
              <a:rPr sz="2800" spc="-45" dirty="0">
                <a:solidFill>
                  <a:srgbClr val="F1EADE"/>
                </a:solidFill>
                <a:latin typeface="Gill Sans MT"/>
                <a:cs typeface="Gill Sans MT"/>
              </a:rPr>
              <a:t> </a:t>
            </a:r>
            <a:r>
              <a:rPr sz="2800" spc="50" dirty="0">
                <a:solidFill>
                  <a:srgbClr val="F1EADE"/>
                </a:solidFill>
                <a:latin typeface="Gill Sans MT"/>
                <a:cs typeface="Gill Sans MT"/>
              </a:rPr>
              <a:t>items</a:t>
            </a:r>
            <a:endParaRPr sz="2800" dirty="0">
              <a:latin typeface="Gill Sans MT"/>
              <a:cs typeface="Gill Sans MT"/>
            </a:endParaRPr>
          </a:p>
          <a:p>
            <a:pPr>
              <a:lnSpc>
                <a:spcPct val="100000"/>
              </a:lnSpc>
              <a:spcBef>
                <a:spcPts val="480"/>
              </a:spcBef>
            </a:pPr>
            <a:endParaRPr sz="2800" dirty="0">
              <a:latin typeface="Gill Sans MT"/>
              <a:cs typeface="Gill Sans MT"/>
            </a:endParaRPr>
          </a:p>
          <a:p>
            <a:pPr marL="12700">
              <a:lnSpc>
                <a:spcPct val="100000"/>
              </a:lnSpc>
            </a:pPr>
            <a:r>
              <a:rPr sz="2800" spc="85" dirty="0">
                <a:solidFill>
                  <a:srgbClr val="F1EADE"/>
                </a:solidFill>
                <a:latin typeface="Gill Sans MT"/>
                <a:cs typeface="Gill Sans MT"/>
              </a:rPr>
              <a:t>Final</a:t>
            </a:r>
            <a:r>
              <a:rPr sz="2800" spc="-100" dirty="0">
                <a:solidFill>
                  <a:srgbClr val="F1EADE"/>
                </a:solidFill>
                <a:latin typeface="Gill Sans MT"/>
                <a:cs typeface="Gill Sans MT"/>
              </a:rPr>
              <a:t> </a:t>
            </a:r>
            <a:r>
              <a:rPr sz="2800" spc="130" dirty="0">
                <a:solidFill>
                  <a:srgbClr val="F1EADE"/>
                </a:solidFill>
                <a:latin typeface="Gill Sans MT"/>
                <a:cs typeface="Gill Sans MT"/>
              </a:rPr>
              <a:t>Modelling</a:t>
            </a:r>
            <a:r>
              <a:rPr sz="2800" spc="-95" dirty="0">
                <a:solidFill>
                  <a:srgbClr val="F1EADE"/>
                </a:solidFill>
                <a:latin typeface="Gill Sans MT"/>
                <a:cs typeface="Gill Sans MT"/>
              </a:rPr>
              <a:t> </a:t>
            </a:r>
            <a:r>
              <a:rPr sz="2800" spc="120" dirty="0">
                <a:solidFill>
                  <a:srgbClr val="F1EADE"/>
                </a:solidFill>
                <a:latin typeface="Gill Sans MT"/>
                <a:cs typeface="Gill Sans MT"/>
              </a:rPr>
              <a:t>Subset</a:t>
            </a:r>
            <a:endParaRPr sz="2800" dirty="0">
              <a:latin typeface="Gill Sans MT"/>
              <a:cs typeface="Gill Sans MT"/>
            </a:endParaRPr>
          </a:p>
          <a:p>
            <a:pPr marL="12700">
              <a:lnSpc>
                <a:spcPct val="100000"/>
              </a:lnSpc>
              <a:spcBef>
                <a:spcPts val="1800"/>
              </a:spcBef>
            </a:pPr>
            <a:r>
              <a:rPr sz="2800" spc="-105" dirty="0">
                <a:solidFill>
                  <a:srgbClr val="F1EADE"/>
                </a:solidFill>
                <a:latin typeface="Gill Sans MT"/>
                <a:cs typeface="Gill Sans MT"/>
              </a:rPr>
              <a:t>10,991</a:t>
            </a:r>
            <a:r>
              <a:rPr sz="2800" spc="35" dirty="0">
                <a:solidFill>
                  <a:srgbClr val="F1EADE"/>
                </a:solidFill>
                <a:latin typeface="Gill Sans MT"/>
                <a:cs typeface="Gill Sans MT"/>
              </a:rPr>
              <a:t> </a:t>
            </a:r>
            <a:r>
              <a:rPr sz="2800" dirty="0">
                <a:solidFill>
                  <a:srgbClr val="F1EADE"/>
                </a:solidFill>
                <a:latin typeface="Gill Sans MT"/>
                <a:cs typeface="Gill Sans MT"/>
              </a:rPr>
              <a:t>interactions;</a:t>
            </a:r>
            <a:r>
              <a:rPr sz="2800" spc="40" dirty="0">
                <a:solidFill>
                  <a:srgbClr val="F1EADE"/>
                </a:solidFill>
                <a:latin typeface="Gill Sans MT"/>
                <a:cs typeface="Gill Sans MT"/>
              </a:rPr>
              <a:t> </a:t>
            </a:r>
            <a:r>
              <a:rPr sz="2800" dirty="0">
                <a:solidFill>
                  <a:srgbClr val="F1EADE"/>
                </a:solidFill>
                <a:latin typeface="Gill Sans MT"/>
                <a:cs typeface="Gill Sans MT"/>
              </a:rPr>
              <a:t>2,632</a:t>
            </a:r>
            <a:r>
              <a:rPr sz="2800" spc="35" dirty="0">
                <a:solidFill>
                  <a:srgbClr val="F1EADE"/>
                </a:solidFill>
                <a:latin typeface="Gill Sans MT"/>
                <a:cs typeface="Gill Sans MT"/>
              </a:rPr>
              <a:t> </a:t>
            </a:r>
            <a:r>
              <a:rPr sz="2800" dirty="0">
                <a:solidFill>
                  <a:srgbClr val="F1EADE"/>
                </a:solidFill>
                <a:latin typeface="Gill Sans MT"/>
                <a:cs typeface="Gill Sans MT"/>
              </a:rPr>
              <a:t>users;</a:t>
            </a:r>
            <a:r>
              <a:rPr sz="2800" spc="40" dirty="0">
                <a:solidFill>
                  <a:srgbClr val="F1EADE"/>
                </a:solidFill>
                <a:latin typeface="Gill Sans MT"/>
                <a:cs typeface="Gill Sans MT"/>
              </a:rPr>
              <a:t> </a:t>
            </a:r>
            <a:r>
              <a:rPr sz="2800" dirty="0">
                <a:solidFill>
                  <a:srgbClr val="F1EADE"/>
                </a:solidFill>
                <a:latin typeface="Gill Sans MT"/>
                <a:cs typeface="Gill Sans MT"/>
              </a:rPr>
              <a:t>3,764</a:t>
            </a:r>
            <a:r>
              <a:rPr sz="2800" spc="35" dirty="0">
                <a:solidFill>
                  <a:srgbClr val="F1EADE"/>
                </a:solidFill>
                <a:latin typeface="Gill Sans MT"/>
                <a:cs typeface="Gill Sans MT"/>
              </a:rPr>
              <a:t> </a:t>
            </a:r>
            <a:r>
              <a:rPr sz="2800" spc="50" dirty="0">
                <a:solidFill>
                  <a:srgbClr val="F1EADE"/>
                </a:solidFill>
                <a:latin typeface="Gill Sans MT"/>
                <a:cs typeface="Gill Sans MT"/>
              </a:rPr>
              <a:t>items</a:t>
            </a:r>
            <a:endParaRPr sz="2800" dirty="0">
              <a:latin typeface="Gill Sans MT"/>
              <a:cs typeface="Gill Sans MT"/>
            </a:endParaRPr>
          </a:p>
          <a:p>
            <a:pPr>
              <a:lnSpc>
                <a:spcPct val="100000"/>
              </a:lnSpc>
              <a:spcBef>
                <a:spcPts val="480"/>
              </a:spcBef>
            </a:pPr>
            <a:endParaRPr sz="2800" dirty="0">
              <a:latin typeface="Gill Sans MT"/>
              <a:cs typeface="Gill Sans MT"/>
            </a:endParaRPr>
          </a:p>
          <a:p>
            <a:pPr marL="12700">
              <a:lnSpc>
                <a:spcPct val="100000"/>
              </a:lnSpc>
            </a:pPr>
            <a:r>
              <a:rPr sz="2800" dirty="0">
                <a:solidFill>
                  <a:srgbClr val="F1EADE"/>
                </a:solidFill>
                <a:latin typeface="Gill Sans MT"/>
                <a:cs typeface="Gill Sans MT"/>
              </a:rPr>
              <a:t>Time</a:t>
            </a:r>
            <a:r>
              <a:rPr sz="2800" spc="-170" dirty="0">
                <a:solidFill>
                  <a:srgbClr val="F1EADE"/>
                </a:solidFill>
                <a:latin typeface="Gill Sans MT"/>
                <a:cs typeface="Gill Sans MT"/>
              </a:rPr>
              <a:t> </a:t>
            </a:r>
            <a:r>
              <a:rPr sz="2800" spc="145" dirty="0">
                <a:solidFill>
                  <a:srgbClr val="F1EADE"/>
                </a:solidFill>
                <a:latin typeface="Gill Sans MT"/>
                <a:cs typeface="Gill Sans MT"/>
              </a:rPr>
              <a:t>Span</a:t>
            </a:r>
            <a:endParaRPr sz="2800" dirty="0">
              <a:latin typeface="Gill Sans MT"/>
              <a:cs typeface="Gill Sans MT"/>
            </a:endParaRPr>
          </a:p>
          <a:p>
            <a:pPr marL="12700">
              <a:lnSpc>
                <a:spcPct val="100000"/>
              </a:lnSpc>
              <a:spcBef>
                <a:spcPts val="1800"/>
              </a:spcBef>
            </a:pPr>
            <a:r>
              <a:rPr sz="2800" dirty="0">
                <a:solidFill>
                  <a:srgbClr val="F1EADE"/>
                </a:solidFill>
                <a:latin typeface="Gill Sans MT"/>
                <a:cs typeface="Gill Sans MT"/>
              </a:rPr>
              <a:t>Covers</a:t>
            </a:r>
            <a:r>
              <a:rPr sz="2800" spc="45" dirty="0">
                <a:solidFill>
                  <a:srgbClr val="F1EADE"/>
                </a:solidFill>
                <a:latin typeface="Gill Sans MT"/>
                <a:cs typeface="Gill Sans MT"/>
              </a:rPr>
              <a:t> </a:t>
            </a:r>
            <a:r>
              <a:rPr sz="2800" dirty="0">
                <a:solidFill>
                  <a:srgbClr val="F1EADE"/>
                </a:solidFill>
                <a:latin typeface="Gill Sans MT"/>
                <a:cs typeface="Gill Sans MT"/>
              </a:rPr>
              <a:t>2004–2023</a:t>
            </a:r>
            <a:r>
              <a:rPr sz="2800" spc="50" dirty="0">
                <a:solidFill>
                  <a:srgbClr val="F1EADE"/>
                </a:solidFill>
                <a:latin typeface="Gill Sans MT"/>
                <a:cs typeface="Gill Sans MT"/>
              </a:rPr>
              <a:t> </a:t>
            </a:r>
            <a:r>
              <a:rPr sz="2800" dirty="0">
                <a:solidFill>
                  <a:srgbClr val="F1EADE"/>
                </a:solidFill>
                <a:latin typeface="Gill Sans MT"/>
                <a:cs typeface="Gill Sans MT"/>
              </a:rPr>
              <a:t>(nearly</a:t>
            </a:r>
            <a:r>
              <a:rPr sz="2800" spc="50" dirty="0">
                <a:solidFill>
                  <a:srgbClr val="F1EADE"/>
                </a:solidFill>
                <a:latin typeface="Gill Sans MT"/>
                <a:cs typeface="Gill Sans MT"/>
              </a:rPr>
              <a:t> </a:t>
            </a:r>
            <a:r>
              <a:rPr sz="2800" dirty="0">
                <a:solidFill>
                  <a:srgbClr val="F1EADE"/>
                </a:solidFill>
                <a:latin typeface="Gill Sans MT"/>
                <a:cs typeface="Gill Sans MT"/>
              </a:rPr>
              <a:t>20</a:t>
            </a:r>
            <a:r>
              <a:rPr sz="2800" spc="45" dirty="0">
                <a:solidFill>
                  <a:srgbClr val="F1EADE"/>
                </a:solidFill>
                <a:latin typeface="Gill Sans MT"/>
                <a:cs typeface="Gill Sans MT"/>
              </a:rPr>
              <a:t> </a:t>
            </a:r>
            <a:r>
              <a:rPr sz="2800" dirty="0">
                <a:solidFill>
                  <a:srgbClr val="F1EADE"/>
                </a:solidFill>
                <a:latin typeface="Gill Sans MT"/>
                <a:cs typeface="Gill Sans MT"/>
              </a:rPr>
              <a:t>years</a:t>
            </a:r>
            <a:r>
              <a:rPr sz="2800" spc="50" dirty="0">
                <a:solidFill>
                  <a:srgbClr val="F1EADE"/>
                </a:solidFill>
                <a:latin typeface="Gill Sans MT"/>
                <a:cs typeface="Gill Sans MT"/>
              </a:rPr>
              <a:t> </a:t>
            </a:r>
            <a:r>
              <a:rPr sz="2800" spc="85" dirty="0">
                <a:solidFill>
                  <a:srgbClr val="F1EADE"/>
                </a:solidFill>
                <a:latin typeface="Gill Sans MT"/>
                <a:cs typeface="Gill Sans MT"/>
              </a:rPr>
              <a:t>of</a:t>
            </a:r>
            <a:r>
              <a:rPr sz="2800" spc="50" dirty="0">
                <a:solidFill>
                  <a:srgbClr val="F1EADE"/>
                </a:solidFill>
                <a:latin typeface="Gill Sans MT"/>
                <a:cs typeface="Gill Sans MT"/>
              </a:rPr>
              <a:t> </a:t>
            </a:r>
            <a:r>
              <a:rPr sz="2800" spc="70" dirty="0">
                <a:solidFill>
                  <a:srgbClr val="F1EADE"/>
                </a:solidFill>
                <a:latin typeface="Gill Sans MT"/>
                <a:cs typeface="Gill Sans MT"/>
              </a:rPr>
              <a:t>data)</a:t>
            </a:r>
            <a:endParaRPr sz="2800" dirty="0">
              <a:latin typeface="Gill Sans MT"/>
              <a:cs typeface="Gill Sans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descr="$PPTXTitle"/>
          <p:cNvSpPr txBox="1">
            <a:spLocks noGrp="1"/>
          </p:cNvSpPr>
          <p:nvPr>
            <p:ph type="title"/>
          </p:nvPr>
        </p:nvSpPr>
        <p:spPr>
          <a:xfrm>
            <a:off x="2570356" y="4057433"/>
            <a:ext cx="15697200" cy="1086067"/>
          </a:xfrm>
          <a:prstGeom prst="rect">
            <a:avLst/>
          </a:prstGeom>
        </p:spPr>
        <p:txBody>
          <a:bodyPr vert="horz" wrap="square" lIns="0" tIns="185420" rIns="0" bIns="0" rtlCol="0">
            <a:spAutoFit/>
          </a:bodyPr>
          <a:lstStyle/>
          <a:p>
            <a:pPr marL="2280920" marR="5080" indent="-2268855">
              <a:lnSpc>
                <a:spcPts val="6800"/>
              </a:lnSpc>
              <a:spcBef>
                <a:spcPts val="1460"/>
              </a:spcBef>
            </a:pPr>
            <a:r>
              <a:rPr spc="-295" dirty="0"/>
              <a:t>AI</a:t>
            </a:r>
            <a:r>
              <a:rPr spc="-5" dirty="0"/>
              <a:t> </a:t>
            </a:r>
            <a:r>
              <a:rPr spc="434" dirty="0"/>
              <a:t>Concepts</a:t>
            </a:r>
            <a:r>
              <a:rPr spc="-5" dirty="0"/>
              <a:t> </a:t>
            </a:r>
            <a:r>
              <a:rPr spc="690" dirty="0"/>
              <a:t>&amp;</a:t>
            </a:r>
            <a:r>
              <a:rPr spc="-5" dirty="0"/>
              <a:t> </a:t>
            </a:r>
            <a:r>
              <a:rPr spc="490" dirty="0"/>
              <a:t>Research </a:t>
            </a:r>
            <a:r>
              <a:rPr lang="en-US" spc="400" dirty="0"/>
              <a:t>Evidence</a:t>
            </a:r>
            <a:endParaRPr spc="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B36A6DB-EE74-AA3C-5D1C-D3B559B1742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8772C66-2C41-6010-51DF-A7863B3B5294}"/>
              </a:ext>
            </a:extLst>
          </p:cNvPr>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dirty="0"/>
          </a:p>
        </p:txBody>
      </p:sp>
      <p:sp>
        <p:nvSpPr>
          <p:cNvPr id="5" name="Text 0">
            <a:extLst>
              <a:ext uri="{FF2B5EF4-FFF2-40B4-BE49-F238E27FC236}">
                <a16:creationId xmlns:a16="http://schemas.microsoft.com/office/drawing/2014/main" id="{993A8F16-7E1C-CD11-3FD0-35DE00093250}"/>
              </a:ext>
            </a:extLst>
          </p:cNvPr>
          <p:cNvSpPr/>
          <p:nvPr/>
        </p:nvSpPr>
        <p:spPr>
          <a:xfrm>
            <a:off x="1527929" y="1311972"/>
            <a:ext cx="9216271" cy="708779"/>
          </a:xfrm>
          <a:prstGeom prst="rect">
            <a:avLst/>
          </a:prstGeom>
          <a:noFill/>
          <a:ln/>
        </p:spPr>
        <p:txBody>
          <a:bodyPr wrap="none" lIns="0" tIns="0" rIns="0" bIns="0" rtlCol="0" anchor="t"/>
          <a:lstStyle/>
          <a:p>
            <a:pPr marL="0" indent="0" algn="l">
              <a:lnSpc>
                <a:spcPts val="5550"/>
              </a:lnSpc>
              <a:buNone/>
            </a:pPr>
            <a:r>
              <a:rPr lang="en-US" sz="4400" dirty="0">
                <a:solidFill>
                  <a:srgbClr val="201B18"/>
                </a:solidFill>
                <a:latin typeface="Garamond" panose="02020404030301010803" pitchFamily="18" charset="0"/>
                <a:ea typeface="Platypi Medium" pitchFamily="34" charset="-122"/>
                <a:cs typeface="Platypi Medium" pitchFamily="34" charset="-120"/>
              </a:rPr>
              <a:t>4. AI Concepts &amp; Research Evidence</a:t>
            </a:r>
            <a:endParaRPr lang="en-US" sz="4400" dirty="0">
              <a:latin typeface="Garamond" panose="02020404030301010803" pitchFamily="18" charset="0"/>
            </a:endParaRPr>
          </a:p>
        </p:txBody>
      </p:sp>
      <p:pic>
        <p:nvPicPr>
          <p:cNvPr id="6" name="Image 0" descr="preencoded.png">
            <a:extLst>
              <a:ext uri="{FF2B5EF4-FFF2-40B4-BE49-F238E27FC236}">
                <a16:creationId xmlns:a16="http://schemas.microsoft.com/office/drawing/2014/main" id="{0003AE81-5F7D-62FD-4153-8ED132877E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71800" y="3409398"/>
            <a:ext cx="566976" cy="566976"/>
          </a:xfrm>
          <a:prstGeom prst="rect">
            <a:avLst/>
          </a:prstGeom>
        </p:spPr>
      </p:pic>
      <p:sp>
        <p:nvSpPr>
          <p:cNvPr id="7" name="Text 1">
            <a:extLst>
              <a:ext uri="{FF2B5EF4-FFF2-40B4-BE49-F238E27FC236}">
                <a16:creationId xmlns:a16="http://schemas.microsoft.com/office/drawing/2014/main" id="{AB027334-13FA-AAE3-3D1B-893A03C6072C}"/>
              </a:ext>
            </a:extLst>
          </p:cNvPr>
          <p:cNvSpPr/>
          <p:nvPr/>
        </p:nvSpPr>
        <p:spPr>
          <a:xfrm>
            <a:off x="2971800" y="4259861"/>
            <a:ext cx="4468178" cy="354330"/>
          </a:xfrm>
          <a:prstGeom prst="rect">
            <a:avLst/>
          </a:prstGeom>
          <a:noFill/>
          <a:ln/>
        </p:spPr>
        <p:txBody>
          <a:bodyPr wrap="none" lIns="0" tIns="0" rIns="0" bIns="0" rtlCol="0" anchor="t"/>
          <a:lstStyle/>
          <a:p>
            <a:pPr marL="0" indent="0" algn="l">
              <a:lnSpc>
                <a:spcPts val="2750"/>
              </a:lnSpc>
              <a:buNone/>
            </a:pPr>
            <a:r>
              <a:rPr lang="en-US" sz="2400" b="1" dirty="0">
                <a:solidFill>
                  <a:srgbClr val="504C49"/>
                </a:solidFill>
                <a:latin typeface="Garamond" panose="02020404030301010803" pitchFamily="18" charset="0"/>
                <a:ea typeface="Platypi Medium" pitchFamily="34" charset="-122"/>
                <a:cs typeface="Platypi Medium" pitchFamily="34" charset="-120"/>
              </a:rPr>
              <a:t>Recommender Systems &amp; Top-N</a:t>
            </a:r>
            <a:endParaRPr lang="en-US" sz="2400" b="1" dirty="0">
              <a:latin typeface="Garamond" panose="02020404030301010803" pitchFamily="18" charset="0"/>
            </a:endParaRPr>
          </a:p>
        </p:txBody>
      </p:sp>
      <p:sp>
        <p:nvSpPr>
          <p:cNvPr id="8" name="Text 2">
            <a:extLst>
              <a:ext uri="{FF2B5EF4-FFF2-40B4-BE49-F238E27FC236}">
                <a16:creationId xmlns:a16="http://schemas.microsoft.com/office/drawing/2014/main" id="{10AC3CC9-C616-85BF-8D73-22B23B2D61A0}"/>
              </a:ext>
            </a:extLst>
          </p:cNvPr>
          <p:cNvSpPr/>
          <p:nvPr/>
        </p:nvSpPr>
        <p:spPr>
          <a:xfrm>
            <a:off x="2971800" y="4750280"/>
            <a:ext cx="6379607" cy="725805"/>
          </a:xfrm>
          <a:prstGeom prst="rect">
            <a:avLst/>
          </a:prstGeom>
          <a:noFill/>
          <a:ln/>
        </p:spPr>
        <p:txBody>
          <a:bodyPr wrap="square" lIns="0" tIns="0" rIns="0" bIns="0" rtlCol="0" anchor="t"/>
          <a:lstStyle/>
          <a:p>
            <a:pPr marL="0" indent="0" algn="l">
              <a:lnSpc>
                <a:spcPts val="2850"/>
              </a:lnSpc>
              <a:buNone/>
            </a:pPr>
            <a:r>
              <a:rPr lang="en-US" sz="2400" b="1" dirty="0">
                <a:solidFill>
                  <a:srgbClr val="504C49"/>
                </a:solidFill>
                <a:latin typeface="Garamond" panose="02020404030301010803" pitchFamily="18" charset="0"/>
                <a:ea typeface="Source Serif 4" pitchFamily="34" charset="-122"/>
                <a:cs typeface="Source Serif 4" pitchFamily="34" charset="-120"/>
              </a:rPr>
              <a:t>Focus on systems designed to predict and rank the most relevant items for a user.</a:t>
            </a:r>
            <a:endParaRPr lang="en-US" sz="2400" b="1" dirty="0">
              <a:latin typeface="Garamond" panose="02020404030301010803" pitchFamily="18" charset="0"/>
            </a:endParaRPr>
          </a:p>
        </p:txBody>
      </p:sp>
      <p:pic>
        <p:nvPicPr>
          <p:cNvPr id="9" name="Image 1" descr="preencoded.png">
            <a:extLst>
              <a:ext uri="{FF2B5EF4-FFF2-40B4-BE49-F238E27FC236}">
                <a16:creationId xmlns:a16="http://schemas.microsoft.com/office/drawing/2014/main" id="{1A0D3C62-5000-EB8F-6D38-EF565675CD0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48624" y="3409398"/>
            <a:ext cx="566976" cy="566976"/>
          </a:xfrm>
          <a:prstGeom prst="rect">
            <a:avLst/>
          </a:prstGeom>
        </p:spPr>
      </p:pic>
      <p:sp>
        <p:nvSpPr>
          <p:cNvPr id="10" name="Text 3">
            <a:extLst>
              <a:ext uri="{FF2B5EF4-FFF2-40B4-BE49-F238E27FC236}">
                <a16:creationId xmlns:a16="http://schemas.microsoft.com/office/drawing/2014/main" id="{866CE5FC-5BA0-952B-2234-C1EBEB325C59}"/>
              </a:ext>
            </a:extLst>
          </p:cNvPr>
          <p:cNvSpPr/>
          <p:nvPr/>
        </p:nvSpPr>
        <p:spPr>
          <a:xfrm>
            <a:off x="10005774" y="4259861"/>
            <a:ext cx="3100626" cy="354330"/>
          </a:xfrm>
          <a:prstGeom prst="rect">
            <a:avLst/>
          </a:prstGeom>
          <a:noFill/>
          <a:ln/>
        </p:spPr>
        <p:txBody>
          <a:bodyPr wrap="none" lIns="0" tIns="0" rIns="0" bIns="0" rtlCol="0" anchor="t"/>
          <a:lstStyle/>
          <a:p>
            <a:pPr marL="0" indent="0" algn="l">
              <a:lnSpc>
                <a:spcPts val="2750"/>
              </a:lnSpc>
              <a:buNone/>
            </a:pPr>
            <a:r>
              <a:rPr lang="en-US" sz="2400" b="1" dirty="0">
                <a:solidFill>
                  <a:srgbClr val="504C49"/>
                </a:solidFill>
                <a:latin typeface="Garamond" panose="02020404030301010803" pitchFamily="18" charset="0"/>
                <a:ea typeface="Platypi Medium" pitchFamily="34" charset="-122"/>
                <a:cs typeface="Platypi Medium" pitchFamily="34" charset="-120"/>
              </a:rPr>
              <a:t>Collaborative Filtering</a:t>
            </a:r>
            <a:endParaRPr lang="en-US" sz="2400" b="1" dirty="0">
              <a:latin typeface="Garamond" panose="02020404030301010803" pitchFamily="18" charset="0"/>
            </a:endParaRPr>
          </a:p>
        </p:txBody>
      </p:sp>
      <p:sp>
        <p:nvSpPr>
          <p:cNvPr id="11" name="Text 4">
            <a:extLst>
              <a:ext uri="{FF2B5EF4-FFF2-40B4-BE49-F238E27FC236}">
                <a16:creationId xmlns:a16="http://schemas.microsoft.com/office/drawing/2014/main" id="{0BCF790E-17E4-0D8D-713C-02051A4A1E3E}"/>
              </a:ext>
            </a:extLst>
          </p:cNvPr>
          <p:cNvSpPr/>
          <p:nvPr/>
        </p:nvSpPr>
        <p:spPr>
          <a:xfrm>
            <a:off x="10003274" y="4750280"/>
            <a:ext cx="6379726" cy="725805"/>
          </a:xfrm>
          <a:prstGeom prst="rect">
            <a:avLst/>
          </a:prstGeom>
          <a:noFill/>
          <a:ln/>
        </p:spPr>
        <p:txBody>
          <a:bodyPr wrap="square" lIns="0" tIns="0" rIns="0" bIns="0" rtlCol="0" anchor="t"/>
          <a:lstStyle/>
          <a:p>
            <a:pPr marL="0" indent="0" algn="l">
              <a:lnSpc>
                <a:spcPts val="2850"/>
              </a:lnSpc>
              <a:buNone/>
            </a:pPr>
            <a:r>
              <a:rPr lang="en-US" sz="2400" b="1" dirty="0">
                <a:solidFill>
                  <a:srgbClr val="504C49"/>
                </a:solidFill>
                <a:latin typeface="Garamond" panose="02020404030301010803" pitchFamily="18" charset="0"/>
                <a:ea typeface="Source Serif 4" pitchFamily="34" charset="-122"/>
                <a:cs typeface="Source Serif 4" pitchFamily="34" charset="-120"/>
              </a:rPr>
              <a:t>Leverages user-item interaction patterns (memory-based) or underlying latent factors.</a:t>
            </a:r>
            <a:endParaRPr lang="en-US" sz="2400" b="1" dirty="0">
              <a:latin typeface="Garamond" panose="02020404030301010803" pitchFamily="18" charset="0"/>
            </a:endParaRPr>
          </a:p>
        </p:txBody>
      </p:sp>
      <p:pic>
        <p:nvPicPr>
          <p:cNvPr id="12" name="Image 2" descr="preencoded.png">
            <a:extLst>
              <a:ext uri="{FF2B5EF4-FFF2-40B4-BE49-F238E27FC236}">
                <a16:creationId xmlns:a16="http://schemas.microsoft.com/office/drawing/2014/main" id="{1C064C4C-7885-B827-9B12-486AB01E1BB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71800" y="5929713"/>
            <a:ext cx="566976" cy="566976"/>
          </a:xfrm>
          <a:prstGeom prst="rect">
            <a:avLst/>
          </a:prstGeom>
        </p:spPr>
      </p:pic>
      <p:sp>
        <p:nvSpPr>
          <p:cNvPr id="13" name="Text 5">
            <a:extLst>
              <a:ext uri="{FF2B5EF4-FFF2-40B4-BE49-F238E27FC236}">
                <a16:creationId xmlns:a16="http://schemas.microsoft.com/office/drawing/2014/main" id="{4C1126C3-C831-8358-293D-E18767277FFA}"/>
              </a:ext>
            </a:extLst>
          </p:cNvPr>
          <p:cNvSpPr/>
          <p:nvPr/>
        </p:nvSpPr>
        <p:spPr>
          <a:xfrm>
            <a:off x="2971800" y="6780176"/>
            <a:ext cx="2843689" cy="354330"/>
          </a:xfrm>
          <a:prstGeom prst="rect">
            <a:avLst/>
          </a:prstGeom>
          <a:noFill/>
          <a:ln/>
        </p:spPr>
        <p:txBody>
          <a:bodyPr wrap="none" lIns="0" tIns="0" rIns="0" bIns="0" rtlCol="0" anchor="t"/>
          <a:lstStyle/>
          <a:p>
            <a:pPr marL="0" indent="0" algn="l">
              <a:lnSpc>
                <a:spcPts val="2750"/>
              </a:lnSpc>
              <a:buNone/>
            </a:pPr>
            <a:r>
              <a:rPr lang="en-US" sz="2400" b="1" dirty="0">
                <a:solidFill>
                  <a:srgbClr val="504C49"/>
                </a:solidFill>
                <a:latin typeface="Garamond" panose="02020404030301010803" pitchFamily="18" charset="0"/>
                <a:ea typeface="Platypi Medium" pitchFamily="34" charset="-122"/>
                <a:cs typeface="Platypi Medium" pitchFamily="34" charset="-120"/>
              </a:rPr>
              <a:t>Item-Item Similarity</a:t>
            </a:r>
            <a:endParaRPr lang="en-US" sz="2400" b="1" dirty="0">
              <a:latin typeface="Garamond" panose="02020404030301010803" pitchFamily="18" charset="0"/>
            </a:endParaRPr>
          </a:p>
        </p:txBody>
      </p:sp>
      <p:sp>
        <p:nvSpPr>
          <p:cNvPr id="14" name="Text 6">
            <a:extLst>
              <a:ext uri="{FF2B5EF4-FFF2-40B4-BE49-F238E27FC236}">
                <a16:creationId xmlns:a16="http://schemas.microsoft.com/office/drawing/2014/main" id="{B22C7532-017A-0D3D-B0F7-150B09BD77FD}"/>
              </a:ext>
            </a:extLst>
          </p:cNvPr>
          <p:cNvSpPr/>
          <p:nvPr/>
        </p:nvSpPr>
        <p:spPr>
          <a:xfrm>
            <a:off x="2971800" y="7270595"/>
            <a:ext cx="6379607" cy="725805"/>
          </a:xfrm>
          <a:prstGeom prst="rect">
            <a:avLst/>
          </a:prstGeom>
          <a:noFill/>
          <a:ln/>
        </p:spPr>
        <p:txBody>
          <a:bodyPr wrap="square" lIns="0" tIns="0" rIns="0" bIns="0" rtlCol="0" anchor="t"/>
          <a:lstStyle/>
          <a:p>
            <a:pPr marL="0" indent="0" algn="l">
              <a:lnSpc>
                <a:spcPts val="2850"/>
              </a:lnSpc>
              <a:buNone/>
            </a:pPr>
            <a:r>
              <a:rPr lang="en-US" sz="2400" b="1" dirty="0">
                <a:solidFill>
                  <a:srgbClr val="504C49"/>
                </a:solidFill>
                <a:latin typeface="Garamond" panose="02020404030301010803" pitchFamily="18" charset="0"/>
                <a:ea typeface="Source Serif 4" pitchFamily="34" charset="-122"/>
                <a:cs typeface="Source Serif 4" pitchFamily="34" charset="-120"/>
              </a:rPr>
              <a:t>Utilizes cosine similarity to find relationships between items based on user ratings. (Sarwar et al., 2001)</a:t>
            </a:r>
            <a:endParaRPr lang="en-US" sz="2400" b="1" dirty="0">
              <a:latin typeface="Garamond" panose="02020404030301010803" pitchFamily="18" charset="0"/>
            </a:endParaRPr>
          </a:p>
        </p:txBody>
      </p:sp>
      <p:pic>
        <p:nvPicPr>
          <p:cNvPr id="15" name="Image 3" descr="preencoded.png">
            <a:extLst>
              <a:ext uri="{FF2B5EF4-FFF2-40B4-BE49-F238E27FC236}">
                <a16:creationId xmlns:a16="http://schemas.microsoft.com/office/drawing/2014/main" id="{F79E6FA2-23A1-5D20-4CEB-9EAE4905195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77224" y="5929713"/>
            <a:ext cx="566976" cy="566976"/>
          </a:xfrm>
          <a:prstGeom prst="rect">
            <a:avLst/>
          </a:prstGeom>
        </p:spPr>
      </p:pic>
      <p:sp>
        <p:nvSpPr>
          <p:cNvPr id="16" name="Text 7">
            <a:extLst>
              <a:ext uri="{FF2B5EF4-FFF2-40B4-BE49-F238E27FC236}">
                <a16:creationId xmlns:a16="http://schemas.microsoft.com/office/drawing/2014/main" id="{59C0A98F-CC9F-7BAE-6D76-28981BFFA5D0}"/>
              </a:ext>
            </a:extLst>
          </p:cNvPr>
          <p:cNvSpPr/>
          <p:nvPr/>
        </p:nvSpPr>
        <p:spPr>
          <a:xfrm>
            <a:off x="10155674" y="6780176"/>
            <a:ext cx="2881074" cy="354330"/>
          </a:xfrm>
          <a:prstGeom prst="rect">
            <a:avLst/>
          </a:prstGeom>
          <a:noFill/>
          <a:ln/>
        </p:spPr>
        <p:txBody>
          <a:bodyPr wrap="none" lIns="0" tIns="0" rIns="0" bIns="0" rtlCol="0" anchor="t"/>
          <a:lstStyle/>
          <a:p>
            <a:pPr marL="0" indent="0" algn="l">
              <a:lnSpc>
                <a:spcPts val="2750"/>
              </a:lnSpc>
              <a:buNone/>
            </a:pPr>
            <a:r>
              <a:rPr lang="en-US" sz="2400" b="1" dirty="0">
                <a:solidFill>
                  <a:srgbClr val="504C49"/>
                </a:solidFill>
                <a:latin typeface="Garamond" panose="02020404030301010803" pitchFamily="18" charset="0"/>
                <a:ea typeface="Platypi Medium" pitchFamily="34" charset="-122"/>
                <a:cs typeface="Platypi Medium" pitchFamily="34" charset="-120"/>
              </a:rPr>
              <a:t>Truncated SVD</a:t>
            </a:r>
            <a:endParaRPr lang="en-US" sz="2400" b="1" dirty="0">
              <a:latin typeface="Garamond" panose="02020404030301010803" pitchFamily="18" charset="0"/>
            </a:endParaRPr>
          </a:p>
        </p:txBody>
      </p:sp>
      <p:sp>
        <p:nvSpPr>
          <p:cNvPr id="19" name="Text 8">
            <a:extLst>
              <a:ext uri="{FF2B5EF4-FFF2-40B4-BE49-F238E27FC236}">
                <a16:creationId xmlns:a16="http://schemas.microsoft.com/office/drawing/2014/main" id="{737498BA-7E1A-D8DB-3866-16A722AD89CF}"/>
              </a:ext>
            </a:extLst>
          </p:cNvPr>
          <p:cNvSpPr/>
          <p:nvPr/>
        </p:nvSpPr>
        <p:spPr>
          <a:xfrm>
            <a:off x="10155674" y="7270595"/>
            <a:ext cx="6379726" cy="1088708"/>
          </a:xfrm>
          <a:prstGeom prst="rect">
            <a:avLst/>
          </a:prstGeom>
          <a:noFill/>
          <a:ln/>
        </p:spPr>
        <p:txBody>
          <a:bodyPr wrap="square" lIns="0" tIns="0" rIns="0" bIns="0" rtlCol="0" anchor="t"/>
          <a:lstStyle/>
          <a:p>
            <a:pPr marL="0" indent="0" algn="l">
              <a:lnSpc>
                <a:spcPts val="2850"/>
              </a:lnSpc>
              <a:buNone/>
            </a:pPr>
            <a:r>
              <a:rPr lang="en-US" sz="2400" b="1" dirty="0">
                <a:solidFill>
                  <a:srgbClr val="504C49"/>
                </a:solidFill>
                <a:latin typeface="Garamond" panose="02020404030301010803" pitchFamily="18" charset="0"/>
                <a:ea typeface="Source Serif 4" pitchFamily="34" charset="-122"/>
                <a:cs typeface="Source Serif 4" pitchFamily="34" charset="-120"/>
              </a:rPr>
              <a:t>Personalized Top-N ranking by learning latent</a:t>
            </a:r>
          </a:p>
          <a:p>
            <a:pPr marL="0" indent="0" algn="l">
              <a:lnSpc>
                <a:spcPts val="2850"/>
              </a:lnSpc>
              <a:buNone/>
            </a:pPr>
            <a:r>
              <a:rPr lang="en-US" sz="2400" b="1" dirty="0">
                <a:solidFill>
                  <a:srgbClr val="504C49"/>
                </a:solidFill>
                <a:latin typeface="Garamond" panose="02020404030301010803" pitchFamily="18" charset="0"/>
                <a:ea typeface="Source Serif 4" pitchFamily="34" charset="-122"/>
                <a:cs typeface="Source Serif 4" pitchFamily="34" charset="-120"/>
              </a:rPr>
              <a:t>patterns from sparse interaction data. (Hu, Koren &amp; Volinsky, 2008; Koren, Bell &amp; Volinsky, 2009)</a:t>
            </a:r>
            <a:endParaRPr lang="en-US" sz="2400" b="1" dirty="0">
              <a:latin typeface="Garamond" panose="02020404030301010803" pitchFamily="18" charset="0"/>
            </a:endParaRPr>
          </a:p>
        </p:txBody>
      </p:sp>
      <p:cxnSp>
        <p:nvCxnSpPr>
          <p:cNvPr id="21" name="Straight Connector 20">
            <a:extLst>
              <a:ext uri="{FF2B5EF4-FFF2-40B4-BE49-F238E27FC236}">
                <a16:creationId xmlns:a16="http://schemas.microsoft.com/office/drawing/2014/main" id="{87262B25-305E-8E88-FA1F-12B3C6BB4A71}"/>
              </a:ext>
            </a:extLst>
          </p:cNvPr>
          <p:cNvCxnSpPr/>
          <p:nvPr/>
        </p:nvCxnSpPr>
        <p:spPr>
          <a:xfrm>
            <a:off x="9525000" y="3692886"/>
            <a:ext cx="0" cy="466641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482793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3" name="object 3" descr="$PPTXTitle"/>
          <p:cNvSpPr txBox="1">
            <a:spLocks noGrp="1"/>
          </p:cNvSpPr>
          <p:nvPr>
            <p:ph type="title"/>
          </p:nvPr>
        </p:nvSpPr>
        <p:spPr>
          <a:prstGeom prst="rect">
            <a:avLst/>
          </a:prstGeom>
        </p:spPr>
        <p:txBody>
          <a:bodyPr vert="horz" wrap="square" lIns="0" tIns="12700" rIns="0" bIns="0" rtlCol="0">
            <a:spAutoFit/>
          </a:bodyPr>
          <a:lstStyle/>
          <a:p>
            <a:pPr marL="1698625">
              <a:lnSpc>
                <a:spcPct val="100000"/>
              </a:lnSpc>
              <a:spcBef>
                <a:spcPts val="100"/>
              </a:spcBef>
            </a:pPr>
            <a:r>
              <a:rPr lang="en-US" spc="500" dirty="0">
                <a:solidFill>
                  <a:srgbClr val="37403A"/>
                </a:solidFill>
              </a:rPr>
              <a:t>4.1. </a:t>
            </a:r>
            <a:r>
              <a:rPr spc="500" dirty="0">
                <a:solidFill>
                  <a:srgbClr val="37403A"/>
                </a:solidFill>
              </a:rPr>
              <a:t>Research</a:t>
            </a:r>
            <a:r>
              <a:rPr spc="-5" dirty="0">
                <a:solidFill>
                  <a:srgbClr val="37403A"/>
                </a:solidFill>
              </a:rPr>
              <a:t> </a:t>
            </a:r>
            <a:r>
              <a:rPr lang="en-US" spc="400" dirty="0">
                <a:solidFill>
                  <a:srgbClr val="37403A"/>
                </a:solidFill>
              </a:rPr>
              <a:t>Evidence</a:t>
            </a:r>
            <a:endParaRPr spc="400" dirty="0">
              <a:solidFill>
                <a:srgbClr val="37403A"/>
              </a:solidFill>
            </a:endParaRPr>
          </a:p>
        </p:txBody>
      </p:sp>
      <p:sp>
        <p:nvSpPr>
          <p:cNvPr id="8" name="object 8"/>
          <p:cNvSpPr/>
          <p:nvPr/>
        </p:nvSpPr>
        <p:spPr>
          <a:xfrm>
            <a:off x="7010400" y="4921767"/>
            <a:ext cx="633095" cy="632460"/>
          </a:xfrm>
          <a:custGeom>
            <a:avLst/>
            <a:gdLst/>
            <a:ahLst/>
            <a:cxnLst/>
            <a:rect l="l" t="t" r="r" b="b"/>
            <a:pathLst>
              <a:path w="633095" h="632460">
                <a:moveTo>
                  <a:pt x="465785" y="495300"/>
                </a:moveTo>
                <a:lnTo>
                  <a:pt x="436183" y="495300"/>
                </a:lnTo>
                <a:lnTo>
                  <a:pt x="564135" y="623569"/>
                </a:lnTo>
                <a:lnTo>
                  <a:pt x="574594" y="631190"/>
                </a:lnTo>
                <a:lnTo>
                  <a:pt x="586494" y="632460"/>
                </a:lnTo>
                <a:lnTo>
                  <a:pt x="598393" y="631190"/>
                </a:lnTo>
                <a:lnTo>
                  <a:pt x="608852" y="623569"/>
                </a:lnTo>
                <a:lnTo>
                  <a:pt x="619260" y="613410"/>
                </a:lnTo>
                <a:lnTo>
                  <a:pt x="583211" y="613410"/>
                </a:lnTo>
                <a:lnTo>
                  <a:pt x="579045" y="609600"/>
                </a:lnTo>
                <a:lnTo>
                  <a:pt x="488520" y="518159"/>
                </a:lnTo>
                <a:lnTo>
                  <a:pt x="504071" y="502919"/>
                </a:lnTo>
                <a:lnTo>
                  <a:pt x="473610" y="502919"/>
                </a:lnTo>
                <a:lnTo>
                  <a:pt x="465785" y="495300"/>
                </a:lnTo>
                <a:close/>
              </a:path>
              <a:path w="633095" h="632460">
                <a:moveTo>
                  <a:pt x="548062" y="488950"/>
                </a:moveTo>
                <a:lnTo>
                  <a:pt x="518326" y="488950"/>
                </a:lnTo>
                <a:lnTo>
                  <a:pt x="612941" y="582930"/>
                </a:lnTo>
                <a:lnTo>
                  <a:pt x="612941" y="590550"/>
                </a:lnTo>
                <a:lnTo>
                  <a:pt x="608827" y="594360"/>
                </a:lnTo>
                <a:lnTo>
                  <a:pt x="593942" y="609600"/>
                </a:lnTo>
                <a:lnTo>
                  <a:pt x="589777" y="613410"/>
                </a:lnTo>
                <a:lnTo>
                  <a:pt x="619260" y="613410"/>
                </a:lnTo>
                <a:lnTo>
                  <a:pt x="629667" y="603250"/>
                </a:lnTo>
                <a:lnTo>
                  <a:pt x="633007" y="594360"/>
                </a:lnTo>
                <a:lnTo>
                  <a:pt x="633007" y="577850"/>
                </a:lnTo>
                <a:lnTo>
                  <a:pt x="629667" y="570230"/>
                </a:lnTo>
                <a:lnTo>
                  <a:pt x="548062" y="488950"/>
                </a:lnTo>
                <a:close/>
              </a:path>
              <a:path w="633095" h="632460">
                <a:moveTo>
                  <a:pt x="285940" y="0"/>
                </a:moveTo>
                <a:lnTo>
                  <a:pt x="241398" y="1269"/>
                </a:lnTo>
                <a:lnTo>
                  <a:pt x="197605" y="10159"/>
                </a:lnTo>
                <a:lnTo>
                  <a:pt x="155503" y="26669"/>
                </a:lnTo>
                <a:lnTo>
                  <a:pt x="116034" y="49529"/>
                </a:lnTo>
                <a:lnTo>
                  <a:pt x="80138" y="80009"/>
                </a:lnTo>
                <a:lnTo>
                  <a:pt x="49873" y="115569"/>
                </a:lnTo>
                <a:lnTo>
                  <a:pt x="26690" y="156209"/>
                </a:lnTo>
                <a:lnTo>
                  <a:pt x="10626" y="198119"/>
                </a:lnTo>
                <a:lnTo>
                  <a:pt x="1717" y="241299"/>
                </a:lnTo>
                <a:lnTo>
                  <a:pt x="98" y="283209"/>
                </a:lnTo>
                <a:lnTo>
                  <a:pt x="0" y="285749"/>
                </a:lnTo>
                <a:lnTo>
                  <a:pt x="5510" y="330199"/>
                </a:lnTo>
                <a:lnTo>
                  <a:pt x="18286" y="373380"/>
                </a:lnTo>
                <a:lnTo>
                  <a:pt x="38361" y="415289"/>
                </a:lnTo>
                <a:lnTo>
                  <a:pt x="65775" y="453389"/>
                </a:lnTo>
                <a:lnTo>
                  <a:pt x="99231" y="486409"/>
                </a:lnTo>
                <a:lnTo>
                  <a:pt x="136798" y="511809"/>
                </a:lnTo>
                <a:lnTo>
                  <a:pt x="177537" y="530860"/>
                </a:lnTo>
                <a:lnTo>
                  <a:pt x="220514" y="543560"/>
                </a:lnTo>
                <a:lnTo>
                  <a:pt x="264792" y="548640"/>
                </a:lnTo>
                <a:lnTo>
                  <a:pt x="309434" y="546100"/>
                </a:lnTo>
                <a:lnTo>
                  <a:pt x="353504" y="537210"/>
                </a:lnTo>
                <a:lnTo>
                  <a:pt x="379696" y="527050"/>
                </a:lnTo>
                <a:lnTo>
                  <a:pt x="274588" y="527050"/>
                </a:lnTo>
                <a:lnTo>
                  <a:pt x="229134" y="523239"/>
                </a:lnTo>
                <a:lnTo>
                  <a:pt x="186354" y="511809"/>
                </a:lnTo>
                <a:lnTo>
                  <a:pt x="146961" y="492759"/>
                </a:lnTo>
                <a:lnTo>
                  <a:pt x="111666" y="468630"/>
                </a:lnTo>
                <a:lnTo>
                  <a:pt x="81182" y="438150"/>
                </a:lnTo>
                <a:lnTo>
                  <a:pt x="56220" y="402589"/>
                </a:lnTo>
                <a:lnTo>
                  <a:pt x="37493" y="363220"/>
                </a:lnTo>
                <a:lnTo>
                  <a:pt x="25713" y="320039"/>
                </a:lnTo>
                <a:lnTo>
                  <a:pt x="21591" y="274320"/>
                </a:lnTo>
                <a:lnTo>
                  <a:pt x="25667" y="228599"/>
                </a:lnTo>
                <a:lnTo>
                  <a:pt x="37420" y="186689"/>
                </a:lnTo>
                <a:lnTo>
                  <a:pt x="56133" y="147319"/>
                </a:lnTo>
                <a:lnTo>
                  <a:pt x="81093" y="111759"/>
                </a:lnTo>
                <a:lnTo>
                  <a:pt x="111586" y="81279"/>
                </a:lnTo>
                <a:lnTo>
                  <a:pt x="146896" y="55879"/>
                </a:lnTo>
                <a:lnTo>
                  <a:pt x="186310" y="38100"/>
                </a:lnTo>
                <a:lnTo>
                  <a:pt x="229112" y="25400"/>
                </a:lnTo>
                <a:lnTo>
                  <a:pt x="274588" y="21589"/>
                </a:lnTo>
                <a:lnTo>
                  <a:pt x="381219" y="21589"/>
                </a:lnTo>
                <a:lnTo>
                  <a:pt x="373506" y="17779"/>
                </a:lnTo>
                <a:lnTo>
                  <a:pt x="330290" y="5079"/>
                </a:lnTo>
                <a:lnTo>
                  <a:pt x="285940" y="0"/>
                </a:lnTo>
                <a:close/>
              </a:path>
              <a:path w="633095" h="632460">
                <a:moveTo>
                  <a:pt x="381219" y="21589"/>
                </a:moveTo>
                <a:lnTo>
                  <a:pt x="274588" y="21589"/>
                </a:lnTo>
                <a:lnTo>
                  <a:pt x="320064" y="25400"/>
                </a:lnTo>
                <a:lnTo>
                  <a:pt x="362866" y="38100"/>
                </a:lnTo>
                <a:lnTo>
                  <a:pt x="402280" y="55879"/>
                </a:lnTo>
                <a:lnTo>
                  <a:pt x="437590" y="81279"/>
                </a:lnTo>
                <a:lnTo>
                  <a:pt x="468083" y="111759"/>
                </a:lnTo>
                <a:lnTo>
                  <a:pt x="493043" y="147319"/>
                </a:lnTo>
                <a:lnTo>
                  <a:pt x="511757" y="186689"/>
                </a:lnTo>
                <a:lnTo>
                  <a:pt x="523509" y="228599"/>
                </a:lnTo>
                <a:lnTo>
                  <a:pt x="527472" y="273049"/>
                </a:lnTo>
                <a:lnTo>
                  <a:pt x="527585" y="274320"/>
                </a:lnTo>
                <a:lnTo>
                  <a:pt x="523509" y="320039"/>
                </a:lnTo>
                <a:lnTo>
                  <a:pt x="511757" y="363220"/>
                </a:lnTo>
                <a:lnTo>
                  <a:pt x="493043" y="402589"/>
                </a:lnTo>
                <a:lnTo>
                  <a:pt x="468083" y="438150"/>
                </a:lnTo>
                <a:lnTo>
                  <a:pt x="437590" y="468630"/>
                </a:lnTo>
                <a:lnTo>
                  <a:pt x="402280" y="492759"/>
                </a:lnTo>
                <a:lnTo>
                  <a:pt x="362866" y="511809"/>
                </a:lnTo>
                <a:lnTo>
                  <a:pt x="320064" y="523239"/>
                </a:lnTo>
                <a:lnTo>
                  <a:pt x="274588" y="527050"/>
                </a:lnTo>
                <a:lnTo>
                  <a:pt x="379696" y="527050"/>
                </a:lnTo>
                <a:lnTo>
                  <a:pt x="396066" y="520700"/>
                </a:lnTo>
                <a:lnTo>
                  <a:pt x="436183" y="495300"/>
                </a:lnTo>
                <a:lnTo>
                  <a:pt x="465785" y="495300"/>
                </a:lnTo>
                <a:lnTo>
                  <a:pt x="452744" y="482600"/>
                </a:lnTo>
                <a:lnTo>
                  <a:pt x="460627" y="476250"/>
                </a:lnTo>
                <a:lnTo>
                  <a:pt x="468231" y="468630"/>
                </a:lnTo>
                <a:lnTo>
                  <a:pt x="475550" y="461009"/>
                </a:lnTo>
                <a:lnTo>
                  <a:pt x="482576" y="453389"/>
                </a:lnTo>
                <a:lnTo>
                  <a:pt x="512360" y="453389"/>
                </a:lnTo>
                <a:lnTo>
                  <a:pt x="495784" y="436880"/>
                </a:lnTo>
                <a:lnTo>
                  <a:pt x="520180" y="396239"/>
                </a:lnTo>
                <a:lnTo>
                  <a:pt x="537029" y="353059"/>
                </a:lnTo>
                <a:lnTo>
                  <a:pt x="546439" y="309880"/>
                </a:lnTo>
                <a:lnTo>
                  <a:pt x="548518" y="265430"/>
                </a:lnTo>
                <a:lnTo>
                  <a:pt x="543376" y="220979"/>
                </a:lnTo>
                <a:lnTo>
                  <a:pt x="531121" y="177800"/>
                </a:lnTo>
                <a:lnTo>
                  <a:pt x="511862" y="137159"/>
                </a:lnTo>
                <a:lnTo>
                  <a:pt x="485709" y="99059"/>
                </a:lnTo>
                <a:lnTo>
                  <a:pt x="452769" y="66039"/>
                </a:lnTo>
                <a:lnTo>
                  <a:pt x="414646" y="38100"/>
                </a:lnTo>
                <a:lnTo>
                  <a:pt x="381219" y="21589"/>
                </a:lnTo>
                <a:close/>
              </a:path>
              <a:path w="633095" h="632460">
                <a:moveTo>
                  <a:pt x="263708" y="43179"/>
                </a:moveTo>
                <a:lnTo>
                  <a:pt x="220642" y="48259"/>
                </a:lnTo>
                <a:lnTo>
                  <a:pt x="179717" y="62229"/>
                </a:lnTo>
                <a:lnTo>
                  <a:pt x="142026" y="83819"/>
                </a:lnTo>
                <a:lnTo>
                  <a:pt x="108659" y="111759"/>
                </a:lnTo>
                <a:lnTo>
                  <a:pt x="80707" y="146050"/>
                </a:lnTo>
                <a:lnTo>
                  <a:pt x="59260" y="185419"/>
                </a:lnTo>
                <a:lnTo>
                  <a:pt x="45936" y="228599"/>
                </a:lnTo>
                <a:lnTo>
                  <a:pt x="41345" y="273049"/>
                </a:lnTo>
                <a:lnTo>
                  <a:pt x="44950" y="314959"/>
                </a:lnTo>
                <a:lnTo>
                  <a:pt x="45059" y="316230"/>
                </a:lnTo>
                <a:lnTo>
                  <a:pt x="56654" y="358139"/>
                </a:lnTo>
                <a:lnTo>
                  <a:pt x="75705" y="396239"/>
                </a:lnTo>
                <a:lnTo>
                  <a:pt x="101784" y="431800"/>
                </a:lnTo>
                <a:lnTo>
                  <a:pt x="134468" y="461009"/>
                </a:lnTo>
                <a:lnTo>
                  <a:pt x="173331" y="485139"/>
                </a:lnTo>
                <a:lnTo>
                  <a:pt x="216005" y="500380"/>
                </a:lnTo>
                <a:lnTo>
                  <a:pt x="259639" y="506730"/>
                </a:lnTo>
                <a:lnTo>
                  <a:pt x="303099" y="505459"/>
                </a:lnTo>
                <a:lnTo>
                  <a:pt x="345248" y="496569"/>
                </a:lnTo>
                <a:lnTo>
                  <a:pt x="372734" y="485139"/>
                </a:lnTo>
                <a:lnTo>
                  <a:pt x="274588" y="485139"/>
                </a:lnTo>
                <a:lnTo>
                  <a:pt x="229540" y="480059"/>
                </a:lnTo>
                <a:lnTo>
                  <a:pt x="187488" y="466089"/>
                </a:lnTo>
                <a:lnTo>
                  <a:pt x="149631" y="444500"/>
                </a:lnTo>
                <a:lnTo>
                  <a:pt x="117171" y="415289"/>
                </a:lnTo>
                <a:lnTo>
                  <a:pt x="91308" y="378459"/>
                </a:lnTo>
                <a:lnTo>
                  <a:pt x="73242" y="337820"/>
                </a:lnTo>
                <a:lnTo>
                  <a:pt x="84837" y="337820"/>
                </a:lnTo>
                <a:lnTo>
                  <a:pt x="116128" y="330199"/>
                </a:lnTo>
                <a:lnTo>
                  <a:pt x="133653" y="316230"/>
                </a:lnTo>
                <a:lnTo>
                  <a:pt x="73420" y="316230"/>
                </a:lnTo>
                <a:lnTo>
                  <a:pt x="67769" y="314959"/>
                </a:lnTo>
                <a:lnTo>
                  <a:pt x="63845" y="270509"/>
                </a:lnTo>
                <a:lnTo>
                  <a:pt x="69266" y="227329"/>
                </a:lnTo>
                <a:lnTo>
                  <a:pt x="83550" y="185419"/>
                </a:lnTo>
                <a:lnTo>
                  <a:pt x="106219" y="147319"/>
                </a:lnTo>
                <a:lnTo>
                  <a:pt x="136793" y="115569"/>
                </a:lnTo>
                <a:lnTo>
                  <a:pt x="173574" y="90169"/>
                </a:lnTo>
                <a:lnTo>
                  <a:pt x="214220" y="72389"/>
                </a:lnTo>
                <a:lnTo>
                  <a:pt x="257281" y="64769"/>
                </a:lnTo>
                <a:lnTo>
                  <a:pt x="359695" y="64769"/>
                </a:lnTo>
                <a:lnTo>
                  <a:pt x="360123" y="63500"/>
                </a:lnTo>
                <a:lnTo>
                  <a:pt x="357316" y="58419"/>
                </a:lnTo>
                <a:lnTo>
                  <a:pt x="351906" y="55879"/>
                </a:lnTo>
                <a:lnTo>
                  <a:pt x="307827" y="44450"/>
                </a:lnTo>
                <a:lnTo>
                  <a:pt x="263708" y="43179"/>
                </a:lnTo>
                <a:close/>
              </a:path>
              <a:path w="633095" h="632460">
                <a:moveTo>
                  <a:pt x="512360" y="453389"/>
                </a:moveTo>
                <a:lnTo>
                  <a:pt x="482576" y="453389"/>
                </a:lnTo>
                <a:lnTo>
                  <a:pt x="503417" y="473709"/>
                </a:lnTo>
                <a:lnTo>
                  <a:pt x="473610" y="502919"/>
                </a:lnTo>
                <a:lnTo>
                  <a:pt x="504071" y="502919"/>
                </a:lnTo>
                <a:lnTo>
                  <a:pt x="518326" y="488950"/>
                </a:lnTo>
                <a:lnTo>
                  <a:pt x="548062" y="488950"/>
                </a:lnTo>
                <a:lnTo>
                  <a:pt x="512360" y="453389"/>
                </a:lnTo>
                <a:close/>
              </a:path>
              <a:path w="633095" h="632460">
                <a:moveTo>
                  <a:pt x="500708" y="322580"/>
                </a:moveTo>
                <a:lnTo>
                  <a:pt x="479579" y="322580"/>
                </a:lnTo>
                <a:lnTo>
                  <a:pt x="463349" y="368299"/>
                </a:lnTo>
                <a:lnTo>
                  <a:pt x="438117" y="407669"/>
                </a:lnTo>
                <a:lnTo>
                  <a:pt x="405254" y="439419"/>
                </a:lnTo>
                <a:lnTo>
                  <a:pt x="366130" y="464819"/>
                </a:lnTo>
                <a:lnTo>
                  <a:pt x="322118" y="480059"/>
                </a:lnTo>
                <a:lnTo>
                  <a:pt x="274588" y="485139"/>
                </a:lnTo>
                <a:lnTo>
                  <a:pt x="372734" y="485139"/>
                </a:lnTo>
                <a:lnTo>
                  <a:pt x="421069" y="454659"/>
                </a:lnTo>
                <a:lnTo>
                  <a:pt x="452470" y="424180"/>
                </a:lnTo>
                <a:lnTo>
                  <a:pt x="478017" y="386080"/>
                </a:lnTo>
                <a:lnTo>
                  <a:pt x="495841" y="345439"/>
                </a:lnTo>
                <a:lnTo>
                  <a:pt x="500708" y="322580"/>
                </a:lnTo>
                <a:close/>
              </a:path>
              <a:path w="633095" h="632460">
                <a:moveTo>
                  <a:pt x="274537" y="421639"/>
                </a:moveTo>
                <a:lnTo>
                  <a:pt x="194845" y="421639"/>
                </a:lnTo>
                <a:lnTo>
                  <a:pt x="190133" y="426719"/>
                </a:lnTo>
                <a:lnTo>
                  <a:pt x="190133" y="438150"/>
                </a:lnTo>
                <a:lnTo>
                  <a:pt x="194845" y="443230"/>
                </a:lnTo>
                <a:lnTo>
                  <a:pt x="211798" y="443230"/>
                </a:lnTo>
                <a:lnTo>
                  <a:pt x="222651" y="440689"/>
                </a:lnTo>
                <a:lnTo>
                  <a:pt x="233057" y="436880"/>
                </a:lnTo>
                <a:lnTo>
                  <a:pt x="242838" y="431800"/>
                </a:lnTo>
                <a:lnTo>
                  <a:pt x="258191" y="424180"/>
                </a:lnTo>
                <a:lnTo>
                  <a:pt x="274537" y="421639"/>
                </a:lnTo>
                <a:close/>
              </a:path>
              <a:path w="633095" h="632460">
                <a:moveTo>
                  <a:pt x="354204" y="421639"/>
                </a:moveTo>
                <a:lnTo>
                  <a:pt x="274537" y="421639"/>
                </a:lnTo>
                <a:lnTo>
                  <a:pt x="290883" y="424180"/>
                </a:lnTo>
                <a:lnTo>
                  <a:pt x="306236" y="431800"/>
                </a:lnTo>
                <a:lnTo>
                  <a:pt x="316016" y="436880"/>
                </a:lnTo>
                <a:lnTo>
                  <a:pt x="326415" y="440689"/>
                </a:lnTo>
                <a:lnTo>
                  <a:pt x="337260" y="443230"/>
                </a:lnTo>
                <a:lnTo>
                  <a:pt x="354204" y="443230"/>
                </a:lnTo>
                <a:lnTo>
                  <a:pt x="358929" y="438150"/>
                </a:lnTo>
                <a:lnTo>
                  <a:pt x="358929" y="426719"/>
                </a:lnTo>
                <a:lnTo>
                  <a:pt x="354204" y="421639"/>
                </a:lnTo>
                <a:close/>
              </a:path>
              <a:path w="633095" h="632460">
                <a:moveTo>
                  <a:pt x="285624" y="401320"/>
                </a:moveTo>
                <a:lnTo>
                  <a:pt x="263382" y="401320"/>
                </a:lnTo>
                <a:lnTo>
                  <a:pt x="252531" y="403859"/>
                </a:lnTo>
                <a:lnTo>
                  <a:pt x="242124" y="407669"/>
                </a:lnTo>
                <a:lnTo>
                  <a:pt x="232335" y="412750"/>
                </a:lnTo>
                <a:lnTo>
                  <a:pt x="225020" y="417830"/>
                </a:lnTo>
                <a:lnTo>
                  <a:pt x="217209" y="420369"/>
                </a:lnTo>
                <a:lnTo>
                  <a:pt x="209047" y="421639"/>
                </a:lnTo>
                <a:lnTo>
                  <a:pt x="339993" y="421639"/>
                </a:lnTo>
                <a:lnTo>
                  <a:pt x="331821" y="420369"/>
                </a:lnTo>
                <a:lnTo>
                  <a:pt x="324001" y="417830"/>
                </a:lnTo>
                <a:lnTo>
                  <a:pt x="316676" y="412750"/>
                </a:lnTo>
                <a:lnTo>
                  <a:pt x="306887" y="407669"/>
                </a:lnTo>
                <a:lnTo>
                  <a:pt x="296478" y="403859"/>
                </a:lnTo>
                <a:lnTo>
                  <a:pt x="285624" y="401320"/>
                </a:lnTo>
                <a:close/>
              </a:path>
              <a:path w="633095" h="632460">
                <a:moveTo>
                  <a:pt x="169318" y="364489"/>
                </a:moveTo>
                <a:lnTo>
                  <a:pt x="165279" y="365759"/>
                </a:lnTo>
                <a:lnTo>
                  <a:pt x="159348" y="369570"/>
                </a:lnTo>
                <a:lnTo>
                  <a:pt x="157913" y="373380"/>
                </a:lnTo>
                <a:lnTo>
                  <a:pt x="159234" y="380999"/>
                </a:lnTo>
                <a:lnTo>
                  <a:pt x="161876" y="384809"/>
                </a:lnTo>
                <a:lnTo>
                  <a:pt x="165482" y="386080"/>
                </a:lnTo>
                <a:lnTo>
                  <a:pt x="172780" y="387349"/>
                </a:lnTo>
                <a:lnTo>
                  <a:pt x="180238" y="389889"/>
                </a:lnTo>
                <a:lnTo>
                  <a:pt x="187808" y="389889"/>
                </a:lnTo>
                <a:lnTo>
                  <a:pt x="195442" y="391159"/>
                </a:lnTo>
                <a:lnTo>
                  <a:pt x="207106" y="389889"/>
                </a:lnTo>
                <a:lnTo>
                  <a:pt x="218521" y="387349"/>
                </a:lnTo>
                <a:lnTo>
                  <a:pt x="229521" y="383539"/>
                </a:lnTo>
                <a:lnTo>
                  <a:pt x="239942" y="378459"/>
                </a:lnTo>
                <a:lnTo>
                  <a:pt x="248001" y="374649"/>
                </a:lnTo>
                <a:lnTo>
                  <a:pt x="256540" y="372109"/>
                </a:lnTo>
                <a:lnTo>
                  <a:pt x="265419" y="369570"/>
                </a:lnTo>
                <a:lnTo>
                  <a:pt x="187758" y="369570"/>
                </a:lnTo>
                <a:lnTo>
                  <a:pt x="180100" y="368299"/>
                </a:lnTo>
                <a:lnTo>
                  <a:pt x="169318" y="364489"/>
                </a:lnTo>
                <a:close/>
              </a:path>
              <a:path w="633095" h="632460">
                <a:moveTo>
                  <a:pt x="383897" y="364489"/>
                </a:moveTo>
                <a:lnTo>
                  <a:pt x="379871" y="364489"/>
                </a:lnTo>
                <a:lnTo>
                  <a:pt x="376315" y="365759"/>
                </a:lnTo>
                <a:lnTo>
                  <a:pt x="361779" y="369570"/>
                </a:lnTo>
                <a:lnTo>
                  <a:pt x="283582" y="369570"/>
                </a:lnTo>
                <a:lnTo>
                  <a:pt x="292466" y="372109"/>
                </a:lnTo>
                <a:lnTo>
                  <a:pt x="301013" y="374649"/>
                </a:lnTo>
                <a:lnTo>
                  <a:pt x="309081" y="378459"/>
                </a:lnTo>
                <a:lnTo>
                  <a:pt x="326867" y="386080"/>
                </a:lnTo>
                <a:lnTo>
                  <a:pt x="345659" y="389889"/>
                </a:lnTo>
                <a:lnTo>
                  <a:pt x="364815" y="389889"/>
                </a:lnTo>
                <a:lnTo>
                  <a:pt x="383694" y="386080"/>
                </a:lnTo>
                <a:lnTo>
                  <a:pt x="387301" y="384809"/>
                </a:lnTo>
                <a:lnTo>
                  <a:pt x="389942" y="380999"/>
                </a:lnTo>
                <a:lnTo>
                  <a:pt x="391263" y="373380"/>
                </a:lnTo>
                <a:lnTo>
                  <a:pt x="389828" y="369570"/>
                </a:lnTo>
                <a:lnTo>
                  <a:pt x="383897" y="364489"/>
                </a:lnTo>
                <a:close/>
              </a:path>
              <a:path w="633095" h="632460">
                <a:moveTo>
                  <a:pt x="274499" y="347980"/>
                </a:moveTo>
                <a:lnTo>
                  <a:pt x="262835" y="349249"/>
                </a:lnTo>
                <a:lnTo>
                  <a:pt x="251422" y="351789"/>
                </a:lnTo>
                <a:lnTo>
                  <a:pt x="240425" y="355599"/>
                </a:lnTo>
                <a:lnTo>
                  <a:pt x="230011" y="360680"/>
                </a:lnTo>
                <a:lnTo>
                  <a:pt x="221945" y="364489"/>
                </a:lnTo>
                <a:lnTo>
                  <a:pt x="213403" y="367030"/>
                </a:lnTo>
                <a:lnTo>
                  <a:pt x="204522" y="369570"/>
                </a:lnTo>
                <a:lnTo>
                  <a:pt x="347054" y="369570"/>
                </a:lnTo>
                <a:lnTo>
                  <a:pt x="332635" y="365759"/>
                </a:lnTo>
                <a:lnTo>
                  <a:pt x="319013" y="360680"/>
                </a:lnTo>
                <a:lnTo>
                  <a:pt x="308589" y="355599"/>
                </a:lnTo>
                <a:lnTo>
                  <a:pt x="297585" y="351789"/>
                </a:lnTo>
                <a:lnTo>
                  <a:pt x="286166" y="349249"/>
                </a:lnTo>
                <a:lnTo>
                  <a:pt x="274499" y="347980"/>
                </a:lnTo>
                <a:close/>
              </a:path>
              <a:path w="633095" h="632460">
                <a:moveTo>
                  <a:pt x="377255" y="168909"/>
                </a:moveTo>
                <a:lnTo>
                  <a:pt x="369470" y="168909"/>
                </a:lnTo>
                <a:lnTo>
                  <a:pt x="343876" y="175259"/>
                </a:lnTo>
                <a:lnTo>
                  <a:pt x="323877" y="190500"/>
                </a:lnTo>
                <a:lnTo>
                  <a:pt x="310859" y="213359"/>
                </a:lnTo>
                <a:lnTo>
                  <a:pt x="306211" y="242569"/>
                </a:lnTo>
                <a:lnTo>
                  <a:pt x="312072" y="283209"/>
                </a:lnTo>
                <a:lnTo>
                  <a:pt x="328869" y="312420"/>
                </a:lnTo>
                <a:lnTo>
                  <a:pt x="355423" y="331470"/>
                </a:lnTo>
                <a:lnTo>
                  <a:pt x="390552" y="337820"/>
                </a:lnTo>
                <a:lnTo>
                  <a:pt x="413256" y="337820"/>
                </a:lnTo>
                <a:lnTo>
                  <a:pt x="435761" y="335280"/>
                </a:lnTo>
                <a:lnTo>
                  <a:pt x="457917" y="330199"/>
                </a:lnTo>
                <a:lnTo>
                  <a:pt x="479579" y="322580"/>
                </a:lnTo>
                <a:lnTo>
                  <a:pt x="500708" y="322580"/>
                </a:lnTo>
                <a:lnTo>
                  <a:pt x="502060" y="316230"/>
                </a:lnTo>
                <a:lnTo>
                  <a:pt x="390552" y="316230"/>
                </a:lnTo>
                <a:lnTo>
                  <a:pt x="363458" y="312420"/>
                </a:lnTo>
                <a:lnTo>
                  <a:pt x="343625" y="297180"/>
                </a:lnTo>
                <a:lnTo>
                  <a:pt x="331441" y="274320"/>
                </a:lnTo>
                <a:lnTo>
                  <a:pt x="327293" y="242569"/>
                </a:lnTo>
                <a:lnTo>
                  <a:pt x="330334" y="220979"/>
                </a:lnTo>
                <a:lnTo>
                  <a:pt x="338918" y="204469"/>
                </a:lnTo>
                <a:lnTo>
                  <a:pt x="352234" y="194309"/>
                </a:lnTo>
                <a:lnTo>
                  <a:pt x="369470" y="190500"/>
                </a:lnTo>
                <a:lnTo>
                  <a:pt x="419167" y="190500"/>
                </a:lnTo>
                <a:lnTo>
                  <a:pt x="420600" y="186689"/>
                </a:lnTo>
                <a:lnTo>
                  <a:pt x="418847" y="180339"/>
                </a:lnTo>
                <a:lnTo>
                  <a:pt x="415040" y="172719"/>
                </a:lnTo>
                <a:lnTo>
                  <a:pt x="392469" y="172719"/>
                </a:lnTo>
                <a:lnTo>
                  <a:pt x="385015" y="170179"/>
                </a:lnTo>
                <a:lnTo>
                  <a:pt x="377255" y="168909"/>
                </a:lnTo>
                <a:close/>
              </a:path>
              <a:path w="633095" h="632460">
                <a:moveTo>
                  <a:pt x="316752" y="116839"/>
                </a:moveTo>
                <a:lnTo>
                  <a:pt x="265752" y="124459"/>
                </a:lnTo>
                <a:lnTo>
                  <a:pt x="226942" y="144779"/>
                </a:lnTo>
                <a:lnTo>
                  <a:pt x="197683" y="173989"/>
                </a:lnTo>
                <a:lnTo>
                  <a:pt x="175341" y="207009"/>
                </a:lnTo>
                <a:lnTo>
                  <a:pt x="157278" y="241299"/>
                </a:lnTo>
                <a:lnTo>
                  <a:pt x="140775" y="273049"/>
                </a:lnTo>
                <a:lnTo>
                  <a:pt x="124730" y="297180"/>
                </a:lnTo>
                <a:lnTo>
                  <a:pt x="106849" y="311149"/>
                </a:lnTo>
                <a:lnTo>
                  <a:pt x="84837" y="316230"/>
                </a:lnTo>
                <a:lnTo>
                  <a:pt x="133653" y="316230"/>
                </a:lnTo>
                <a:lnTo>
                  <a:pt x="140025" y="311149"/>
                </a:lnTo>
                <a:lnTo>
                  <a:pt x="159150" y="283209"/>
                </a:lnTo>
                <a:lnTo>
                  <a:pt x="176125" y="251459"/>
                </a:lnTo>
                <a:lnTo>
                  <a:pt x="198164" y="209550"/>
                </a:lnTo>
                <a:lnTo>
                  <a:pt x="225593" y="173989"/>
                </a:lnTo>
                <a:lnTo>
                  <a:pt x="263445" y="147319"/>
                </a:lnTo>
                <a:lnTo>
                  <a:pt x="316752" y="137159"/>
                </a:lnTo>
                <a:lnTo>
                  <a:pt x="386431" y="137159"/>
                </a:lnTo>
                <a:lnTo>
                  <a:pt x="356122" y="121919"/>
                </a:lnTo>
                <a:lnTo>
                  <a:pt x="316752" y="116839"/>
                </a:lnTo>
                <a:close/>
              </a:path>
              <a:path w="633095" h="632460">
                <a:moveTo>
                  <a:pt x="392876" y="74929"/>
                </a:moveTo>
                <a:lnTo>
                  <a:pt x="388736" y="74929"/>
                </a:lnTo>
                <a:lnTo>
                  <a:pt x="381852" y="78739"/>
                </a:lnTo>
                <a:lnTo>
                  <a:pt x="379681" y="81279"/>
                </a:lnTo>
                <a:lnTo>
                  <a:pt x="379554" y="90169"/>
                </a:lnTo>
                <a:lnTo>
                  <a:pt x="381636" y="92709"/>
                </a:lnTo>
                <a:lnTo>
                  <a:pt x="385015" y="95250"/>
                </a:lnTo>
                <a:lnTo>
                  <a:pt x="422979" y="124459"/>
                </a:lnTo>
                <a:lnTo>
                  <a:pt x="452678" y="161289"/>
                </a:lnTo>
                <a:lnTo>
                  <a:pt x="473298" y="203200"/>
                </a:lnTo>
                <a:lnTo>
                  <a:pt x="484026" y="250189"/>
                </a:lnTo>
                <a:lnTo>
                  <a:pt x="484049" y="298449"/>
                </a:lnTo>
                <a:lnTo>
                  <a:pt x="461643" y="307339"/>
                </a:lnTo>
                <a:lnTo>
                  <a:pt x="438424" y="312420"/>
                </a:lnTo>
                <a:lnTo>
                  <a:pt x="414644" y="316230"/>
                </a:lnTo>
                <a:lnTo>
                  <a:pt x="502060" y="316230"/>
                </a:lnTo>
                <a:lnTo>
                  <a:pt x="505034" y="302259"/>
                </a:lnTo>
                <a:lnTo>
                  <a:pt x="505581" y="274320"/>
                </a:lnTo>
                <a:lnTo>
                  <a:pt x="505655" y="270509"/>
                </a:lnTo>
                <a:lnTo>
                  <a:pt x="505755" y="265430"/>
                </a:lnTo>
                <a:lnTo>
                  <a:pt x="505854" y="260349"/>
                </a:lnTo>
                <a:lnTo>
                  <a:pt x="505904" y="257809"/>
                </a:lnTo>
                <a:lnTo>
                  <a:pt x="498754" y="215900"/>
                </a:lnTo>
                <a:lnTo>
                  <a:pt x="483891" y="175259"/>
                </a:lnTo>
                <a:lnTo>
                  <a:pt x="461620" y="137159"/>
                </a:lnTo>
                <a:lnTo>
                  <a:pt x="432246" y="104139"/>
                </a:lnTo>
                <a:lnTo>
                  <a:pt x="396076" y="77469"/>
                </a:lnTo>
                <a:lnTo>
                  <a:pt x="392876" y="74929"/>
                </a:lnTo>
                <a:close/>
              </a:path>
              <a:path w="633095" h="632460">
                <a:moveTo>
                  <a:pt x="271667" y="168909"/>
                </a:moveTo>
                <a:lnTo>
                  <a:pt x="267603" y="168909"/>
                </a:lnTo>
                <a:lnTo>
                  <a:pt x="264276" y="170179"/>
                </a:lnTo>
                <a:lnTo>
                  <a:pt x="226207" y="205739"/>
                </a:lnTo>
                <a:lnTo>
                  <a:pt x="194959" y="260349"/>
                </a:lnTo>
                <a:lnTo>
                  <a:pt x="182272" y="285749"/>
                </a:lnTo>
                <a:lnTo>
                  <a:pt x="184240" y="292099"/>
                </a:lnTo>
                <a:lnTo>
                  <a:pt x="194527" y="297180"/>
                </a:lnTo>
                <a:lnTo>
                  <a:pt x="200903" y="295909"/>
                </a:lnTo>
                <a:lnTo>
                  <a:pt x="207189" y="283209"/>
                </a:lnTo>
                <a:lnTo>
                  <a:pt x="213806" y="270509"/>
                </a:lnTo>
                <a:lnTo>
                  <a:pt x="241995" y="219709"/>
                </a:lnTo>
                <a:lnTo>
                  <a:pt x="274194" y="189229"/>
                </a:lnTo>
                <a:lnTo>
                  <a:pt x="277585" y="187959"/>
                </a:lnTo>
                <a:lnTo>
                  <a:pt x="279770" y="184150"/>
                </a:lnTo>
                <a:lnTo>
                  <a:pt x="279916" y="180339"/>
                </a:lnTo>
                <a:lnTo>
                  <a:pt x="280013" y="177800"/>
                </a:lnTo>
                <a:lnTo>
                  <a:pt x="280062" y="176529"/>
                </a:lnTo>
                <a:lnTo>
                  <a:pt x="278144" y="172719"/>
                </a:lnTo>
                <a:lnTo>
                  <a:pt x="271667" y="168909"/>
                </a:lnTo>
                <a:close/>
              </a:path>
              <a:path w="633095" h="632460">
                <a:moveTo>
                  <a:pt x="419167" y="190500"/>
                </a:moveTo>
                <a:lnTo>
                  <a:pt x="376243" y="190500"/>
                </a:lnTo>
                <a:lnTo>
                  <a:pt x="382863" y="191769"/>
                </a:lnTo>
                <a:lnTo>
                  <a:pt x="389210" y="194309"/>
                </a:lnTo>
                <a:lnTo>
                  <a:pt x="395162" y="196850"/>
                </a:lnTo>
                <a:lnTo>
                  <a:pt x="400445" y="200659"/>
                </a:lnTo>
                <a:lnTo>
                  <a:pt x="407595" y="200659"/>
                </a:lnTo>
                <a:lnTo>
                  <a:pt x="418212" y="193039"/>
                </a:lnTo>
                <a:lnTo>
                  <a:pt x="419167" y="190500"/>
                </a:lnTo>
                <a:close/>
              </a:path>
              <a:path w="633095" h="632460">
                <a:moveTo>
                  <a:pt x="386431" y="137159"/>
                </a:moveTo>
                <a:lnTo>
                  <a:pt x="316752" y="137159"/>
                </a:lnTo>
                <a:lnTo>
                  <a:pt x="343072" y="140969"/>
                </a:lnTo>
                <a:lnTo>
                  <a:pt x="364521" y="148589"/>
                </a:lnTo>
                <a:lnTo>
                  <a:pt x="381015" y="158750"/>
                </a:lnTo>
                <a:lnTo>
                  <a:pt x="392469" y="172719"/>
                </a:lnTo>
                <a:lnTo>
                  <a:pt x="415040" y="172719"/>
                </a:lnTo>
                <a:lnTo>
                  <a:pt x="407424" y="157479"/>
                </a:lnTo>
                <a:lnTo>
                  <a:pt x="386431" y="137159"/>
                </a:lnTo>
                <a:close/>
              </a:path>
              <a:path w="633095" h="632460">
                <a:moveTo>
                  <a:pt x="359695" y="64769"/>
                </a:moveTo>
                <a:lnTo>
                  <a:pt x="257281" y="64769"/>
                </a:lnTo>
                <a:lnTo>
                  <a:pt x="301309" y="66039"/>
                </a:lnTo>
                <a:lnTo>
                  <a:pt x="350331" y="77469"/>
                </a:lnTo>
                <a:lnTo>
                  <a:pt x="356274" y="74929"/>
                </a:lnTo>
                <a:lnTo>
                  <a:pt x="359695" y="64769"/>
                </a:lnTo>
                <a:close/>
              </a:path>
            </a:pathLst>
          </a:custGeom>
          <a:solidFill>
            <a:srgbClr val="5F8262"/>
          </a:solidFill>
        </p:spPr>
        <p:txBody>
          <a:bodyPr wrap="square" lIns="0" tIns="0" rIns="0" bIns="0" rtlCol="0"/>
          <a:lstStyle/>
          <a:p>
            <a:endParaRPr/>
          </a:p>
        </p:txBody>
      </p:sp>
      <p:sp>
        <p:nvSpPr>
          <p:cNvPr id="9" name="object 9"/>
          <p:cNvSpPr/>
          <p:nvPr/>
        </p:nvSpPr>
        <p:spPr>
          <a:xfrm>
            <a:off x="1394017" y="4921778"/>
            <a:ext cx="633730" cy="632460"/>
          </a:xfrm>
          <a:custGeom>
            <a:avLst/>
            <a:gdLst/>
            <a:ahLst/>
            <a:cxnLst/>
            <a:rect l="l" t="t" r="r" b="b"/>
            <a:pathLst>
              <a:path w="633730" h="632460">
                <a:moveTo>
                  <a:pt x="628497" y="443230"/>
                </a:moveTo>
                <a:lnTo>
                  <a:pt x="4749" y="443230"/>
                </a:lnTo>
                <a:lnTo>
                  <a:pt x="0" y="448310"/>
                </a:lnTo>
                <a:lnTo>
                  <a:pt x="0" y="628650"/>
                </a:lnTo>
                <a:lnTo>
                  <a:pt x="4749" y="632460"/>
                </a:lnTo>
                <a:lnTo>
                  <a:pt x="628497" y="632460"/>
                </a:lnTo>
                <a:lnTo>
                  <a:pt x="633247" y="628650"/>
                </a:lnTo>
                <a:lnTo>
                  <a:pt x="633247" y="612140"/>
                </a:lnTo>
                <a:lnTo>
                  <a:pt x="21107" y="612140"/>
                </a:lnTo>
                <a:lnTo>
                  <a:pt x="21107" y="464820"/>
                </a:lnTo>
                <a:lnTo>
                  <a:pt x="633247" y="464820"/>
                </a:lnTo>
                <a:lnTo>
                  <a:pt x="633247" y="448310"/>
                </a:lnTo>
                <a:lnTo>
                  <a:pt x="628497" y="443230"/>
                </a:lnTo>
                <a:close/>
              </a:path>
              <a:path w="633730" h="632460">
                <a:moveTo>
                  <a:pt x="196405" y="464820"/>
                </a:moveTo>
                <a:lnTo>
                  <a:pt x="172872" y="464820"/>
                </a:lnTo>
                <a:lnTo>
                  <a:pt x="209816" y="538480"/>
                </a:lnTo>
                <a:lnTo>
                  <a:pt x="172872" y="612140"/>
                </a:lnTo>
                <a:lnTo>
                  <a:pt x="196519" y="612140"/>
                </a:lnTo>
                <a:lnTo>
                  <a:pt x="231025" y="543560"/>
                </a:lnTo>
                <a:lnTo>
                  <a:pt x="232613" y="541020"/>
                </a:lnTo>
                <a:lnTo>
                  <a:pt x="232613" y="537210"/>
                </a:lnTo>
                <a:lnTo>
                  <a:pt x="196405" y="464820"/>
                </a:lnTo>
                <a:close/>
              </a:path>
              <a:path w="633730" h="632460">
                <a:moveTo>
                  <a:pt x="407492" y="464820"/>
                </a:moveTo>
                <a:lnTo>
                  <a:pt x="383959" y="464820"/>
                </a:lnTo>
                <a:lnTo>
                  <a:pt x="420903" y="538480"/>
                </a:lnTo>
                <a:lnTo>
                  <a:pt x="383959" y="612140"/>
                </a:lnTo>
                <a:lnTo>
                  <a:pt x="407593" y="612140"/>
                </a:lnTo>
                <a:lnTo>
                  <a:pt x="442112" y="543560"/>
                </a:lnTo>
                <a:lnTo>
                  <a:pt x="443699" y="541020"/>
                </a:lnTo>
                <a:lnTo>
                  <a:pt x="443699" y="537210"/>
                </a:lnTo>
                <a:lnTo>
                  <a:pt x="407492" y="464820"/>
                </a:lnTo>
                <a:close/>
              </a:path>
              <a:path w="633730" h="632460">
                <a:moveTo>
                  <a:pt x="633247" y="464820"/>
                </a:moveTo>
                <a:lnTo>
                  <a:pt x="612140" y="464820"/>
                </a:lnTo>
                <a:lnTo>
                  <a:pt x="612140" y="612140"/>
                </a:lnTo>
                <a:lnTo>
                  <a:pt x="633247" y="612140"/>
                </a:lnTo>
                <a:lnTo>
                  <a:pt x="633247" y="464820"/>
                </a:lnTo>
                <a:close/>
              </a:path>
              <a:path w="633730" h="632460">
                <a:moveTo>
                  <a:pt x="126441" y="496570"/>
                </a:moveTo>
                <a:lnTo>
                  <a:pt x="105752" y="496570"/>
                </a:lnTo>
                <a:lnTo>
                  <a:pt x="105854" y="497840"/>
                </a:lnTo>
                <a:lnTo>
                  <a:pt x="93110" y="502920"/>
                </a:lnTo>
                <a:lnTo>
                  <a:pt x="82978" y="511810"/>
                </a:lnTo>
                <a:lnTo>
                  <a:pt x="76290" y="524510"/>
                </a:lnTo>
                <a:lnTo>
                  <a:pt x="73875" y="538480"/>
                </a:lnTo>
                <a:lnTo>
                  <a:pt x="77192" y="554990"/>
                </a:lnTo>
                <a:lnTo>
                  <a:pt x="86239" y="567690"/>
                </a:lnTo>
                <a:lnTo>
                  <a:pt x="99657" y="576580"/>
                </a:lnTo>
                <a:lnTo>
                  <a:pt x="116090" y="580390"/>
                </a:lnTo>
                <a:lnTo>
                  <a:pt x="132529" y="576580"/>
                </a:lnTo>
                <a:lnTo>
                  <a:pt x="145946" y="567690"/>
                </a:lnTo>
                <a:lnTo>
                  <a:pt x="152277" y="558800"/>
                </a:lnTo>
                <a:lnTo>
                  <a:pt x="116090" y="558800"/>
                </a:lnTo>
                <a:lnTo>
                  <a:pt x="107895" y="557530"/>
                </a:lnTo>
                <a:lnTo>
                  <a:pt x="101184" y="552450"/>
                </a:lnTo>
                <a:lnTo>
                  <a:pt x="96648" y="546100"/>
                </a:lnTo>
                <a:lnTo>
                  <a:pt x="94983" y="538480"/>
                </a:lnTo>
                <a:lnTo>
                  <a:pt x="96648" y="529590"/>
                </a:lnTo>
                <a:lnTo>
                  <a:pt x="101184" y="523240"/>
                </a:lnTo>
                <a:lnTo>
                  <a:pt x="107895" y="518160"/>
                </a:lnTo>
                <a:lnTo>
                  <a:pt x="116090" y="516890"/>
                </a:lnTo>
                <a:lnTo>
                  <a:pt x="151878" y="516890"/>
                </a:lnTo>
                <a:lnTo>
                  <a:pt x="149202" y="511810"/>
                </a:lnTo>
                <a:lnTo>
                  <a:pt x="139070" y="502920"/>
                </a:lnTo>
                <a:lnTo>
                  <a:pt x="126326" y="497840"/>
                </a:lnTo>
                <a:lnTo>
                  <a:pt x="126441" y="496570"/>
                </a:lnTo>
                <a:close/>
              </a:path>
              <a:path w="633730" h="632460">
                <a:moveTo>
                  <a:pt x="327177" y="464820"/>
                </a:moveTo>
                <a:lnTo>
                  <a:pt x="306070" y="464820"/>
                </a:lnTo>
                <a:lnTo>
                  <a:pt x="306070" y="497840"/>
                </a:lnTo>
                <a:lnTo>
                  <a:pt x="293461" y="502920"/>
                </a:lnTo>
                <a:lnTo>
                  <a:pt x="283429" y="511810"/>
                </a:lnTo>
                <a:lnTo>
                  <a:pt x="276802" y="524510"/>
                </a:lnTo>
                <a:lnTo>
                  <a:pt x="274408" y="538480"/>
                </a:lnTo>
                <a:lnTo>
                  <a:pt x="277724" y="554990"/>
                </a:lnTo>
                <a:lnTo>
                  <a:pt x="286767" y="567690"/>
                </a:lnTo>
                <a:lnTo>
                  <a:pt x="300185" y="576580"/>
                </a:lnTo>
                <a:lnTo>
                  <a:pt x="316623" y="580390"/>
                </a:lnTo>
                <a:lnTo>
                  <a:pt x="333056" y="576580"/>
                </a:lnTo>
                <a:lnTo>
                  <a:pt x="346475" y="567690"/>
                </a:lnTo>
                <a:lnTo>
                  <a:pt x="352807" y="558800"/>
                </a:lnTo>
                <a:lnTo>
                  <a:pt x="316623" y="558800"/>
                </a:lnTo>
                <a:lnTo>
                  <a:pt x="308428" y="557530"/>
                </a:lnTo>
                <a:lnTo>
                  <a:pt x="301717" y="552450"/>
                </a:lnTo>
                <a:lnTo>
                  <a:pt x="297181" y="546100"/>
                </a:lnTo>
                <a:lnTo>
                  <a:pt x="295516" y="538480"/>
                </a:lnTo>
                <a:lnTo>
                  <a:pt x="297181" y="529590"/>
                </a:lnTo>
                <a:lnTo>
                  <a:pt x="301717" y="523240"/>
                </a:lnTo>
                <a:lnTo>
                  <a:pt x="308428" y="518160"/>
                </a:lnTo>
                <a:lnTo>
                  <a:pt x="316623" y="516890"/>
                </a:lnTo>
                <a:lnTo>
                  <a:pt x="352465" y="516890"/>
                </a:lnTo>
                <a:lnTo>
                  <a:pt x="349813" y="511810"/>
                </a:lnTo>
                <a:lnTo>
                  <a:pt x="339780" y="502920"/>
                </a:lnTo>
                <a:lnTo>
                  <a:pt x="327177" y="497840"/>
                </a:lnTo>
                <a:lnTo>
                  <a:pt x="327177" y="464820"/>
                </a:lnTo>
                <a:close/>
              </a:path>
              <a:path w="633730" h="632460">
                <a:moveTo>
                  <a:pt x="538048" y="496570"/>
                </a:moveTo>
                <a:lnTo>
                  <a:pt x="517359" y="496570"/>
                </a:lnTo>
                <a:lnTo>
                  <a:pt x="517474" y="497840"/>
                </a:lnTo>
                <a:lnTo>
                  <a:pt x="504728" y="502920"/>
                </a:lnTo>
                <a:lnTo>
                  <a:pt x="494591" y="511810"/>
                </a:lnTo>
                <a:lnTo>
                  <a:pt x="487899" y="524510"/>
                </a:lnTo>
                <a:lnTo>
                  <a:pt x="485482" y="538480"/>
                </a:lnTo>
                <a:lnTo>
                  <a:pt x="488800" y="554990"/>
                </a:lnTo>
                <a:lnTo>
                  <a:pt x="497847" y="567690"/>
                </a:lnTo>
                <a:lnTo>
                  <a:pt x="511270" y="576580"/>
                </a:lnTo>
                <a:lnTo>
                  <a:pt x="527710" y="580390"/>
                </a:lnTo>
                <a:lnTo>
                  <a:pt x="544143" y="576580"/>
                </a:lnTo>
                <a:lnTo>
                  <a:pt x="557561" y="567690"/>
                </a:lnTo>
                <a:lnTo>
                  <a:pt x="563894" y="558800"/>
                </a:lnTo>
                <a:lnTo>
                  <a:pt x="527710" y="558800"/>
                </a:lnTo>
                <a:lnTo>
                  <a:pt x="519515" y="557530"/>
                </a:lnTo>
                <a:lnTo>
                  <a:pt x="512803" y="552450"/>
                </a:lnTo>
                <a:lnTo>
                  <a:pt x="508268" y="546100"/>
                </a:lnTo>
                <a:lnTo>
                  <a:pt x="506603" y="538480"/>
                </a:lnTo>
                <a:lnTo>
                  <a:pt x="508268" y="529590"/>
                </a:lnTo>
                <a:lnTo>
                  <a:pt x="512803" y="523240"/>
                </a:lnTo>
                <a:lnTo>
                  <a:pt x="519515" y="518160"/>
                </a:lnTo>
                <a:lnTo>
                  <a:pt x="527710" y="516890"/>
                </a:lnTo>
                <a:lnTo>
                  <a:pt x="563497" y="516890"/>
                </a:lnTo>
                <a:lnTo>
                  <a:pt x="560822" y="511810"/>
                </a:lnTo>
                <a:lnTo>
                  <a:pt x="550690" y="502920"/>
                </a:lnTo>
                <a:lnTo>
                  <a:pt x="537946" y="497840"/>
                </a:lnTo>
                <a:lnTo>
                  <a:pt x="538048" y="496570"/>
                </a:lnTo>
                <a:close/>
              </a:path>
              <a:path w="633730" h="632460">
                <a:moveTo>
                  <a:pt x="151878" y="516890"/>
                </a:moveTo>
                <a:lnTo>
                  <a:pt x="116090" y="516890"/>
                </a:lnTo>
                <a:lnTo>
                  <a:pt x="124285" y="518160"/>
                </a:lnTo>
                <a:lnTo>
                  <a:pt x="130997" y="523240"/>
                </a:lnTo>
                <a:lnTo>
                  <a:pt x="135532" y="529590"/>
                </a:lnTo>
                <a:lnTo>
                  <a:pt x="137198" y="538480"/>
                </a:lnTo>
                <a:lnTo>
                  <a:pt x="135532" y="546100"/>
                </a:lnTo>
                <a:lnTo>
                  <a:pt x="130997" y="552450"/>
                </a:lnTo>
                <a:lnTo>
                  <a:pt x="124285" y="557530"/>
                </a:lnTo>
                <a:lnTo>
                  <a:pt x="116090" y="558800"/>
                </a:lnTo>
                <a:lnTo>
                  <a:pt x="152277" y="558800"/>
                </a:lnTo>
                <a:lnTo>
                  <a:pt x="154990" y="554990"/>
                </a:lnTo>
                <a:lnTo>
                  <a:pt x="158305" y="538480"/>
                </a:lnTo>
                <a:lnTo>
                  <a:pt x="155891" y="524510"/>
                </a:lnTo>
                <a:lnTo>
                  <a:pt x="151878" y="516890"/>
                </a:lnTo>
                <a:close/>
              </a:path>
              <a:path w="633730" h="632460">
                <a:moveTo>
                  <a:pt x="352465" y="516890"/>
                </a:moveTo>
                <a:lnTo>
                  <a:pt x="316623" y="516890"/>
                </a:lnTo>
                <a:lnTo>
                  <a:pt x="324818" y="518160"/>
                </a:lnTo>
                <a:lnTo>
                  <a:pt x="331530" y="523240"/>
                </a:lnTo>
                <a:lnTo>
                  <a:pt x="336065" y="529590"/>
                </a:lnTo>
                <a:lnTo>
                  <a:pt x="337731" y="538480"/>
                </a:lnTo>
                <a:lnTo>
                  <a:pt x="336065" y="546100"/>
                </a:lnTo>
                <a:lnTo>
                  <a:pt x="331530" y="552450"/>
                </a:lnTo>
                <a:lnTo>
                  <a:pt x="324818" y="557530"/>
                </a:lnTo>
                <a:lnTo>
                  <a:pt x="316623" y="558800"/>
                </a:lnTo>
                <a:lnTo>
                  <a:pt x="352807" y="558800"/>
                </a:lnTo>
                <a:lnTo>
                  <a:pt x="355521" y="554990"/>
                </a:lnTo>
                <a:lnTo>
                  <a:pt x="358838" y="538480"/>
                </a:lnTo>
                <a:lnTo>
                  <a:pt x="356443" y="524510"/>
                </a:lnTo>
                <a:lnTo>
                  <a:pt x="352465" y="516890"/>
                </a:lnTo>
                <a:close/>
              </a:path>
              <a:path w="633730" h="632460">
                <a:moveTo>
                  <a:pt x="563497" y="516890"/>
                </a:moveTo>
                <a:lnTo>
                  <a:pt x="527710" y="516890"/>
                </a:lnTo>
                <a:lnTo>
                  <a:pt x="535905" y="518160"/>
                </a:lnTo>
                <a:lnTo>
                  <a:pt x="542617" y="523240"/>
                </a:lnTo>
                <a:lnTo>
                  <a:pt x="547152" y="529590"/>
                </a:lnTo>
                <a:lnTo>
                  <a:pt x="548817" y="538480"/>
                </a:lnTo>
                <a:lnTo>
                  <a:pt x="547152" y="546100"/>
                </a:lnTo>
                <a:lnTo>
                  <a:pt x="542617" y="552450"/>
                </a:lnTo>
                <a:lnTo>
                  <a:pt x="535905" y="557530"/>
                </a:lnTo>
                <a:lnTo>
                  <a:pt x="527710" y="558800"/>
                </a:lnTo>
                <a:lnTo>
                  <a:pt x="563894" y="558800"/>
                </a:lnTo>
                <a:lnTo>
                  <a:pt x="566608" y="554990"/>
                </a:lnTo>
                <a:lnTo>
                  <a:pt x="569925" y="538480"/>
                </a:lnTo>
                <a:lnTo>
                  <a:pt x="567511" y="524510"/>
                </a:lnTo>
                <a:lnTo>
                  <a:pt x="563497" y="516890"/>
                </a:lnTo>
                <a:close/>
              </a:path>
              <a:path w="633730" h="632460">
                <a:moveTo>
                  <a:pt x="126644" y="464820"/>
                </a:moveTo>
                <a:lnTo>
                  <a:pt x="105537" y="464820"/>
                </a:lnTo>
                <a:lnTo>
                  <a:pt x="105537" y="496570"/>
                </a:lnTo>
                <a:lnTo>
                  <a:pt x="126644" y="496570"/>
                </a:lnTo>
                <a:lnTo>
                  <a:pt x="126644" y="464820"/>
                </a:lnTo>
                <a:close/>
              </a:path>
              <a:path w="633730" h="632460">
                <a:moveTo>
                  <a:pt x="538264" y="464820"/>
                </a:moveTo>
                <a:lnTo>
                  <a:pt x="517156" y="464820"/>
                </a:lnTo>
                <a:lnTo>
                  <a:pt x="517156" y="496570"/>
                </a:lnTo>
                <a:lnTo>
                  <a:pt x="538264" y="496570"/>
                </a:lnTo>
                <a:lnTo>
                  <a:pt x="538264" y="464820"/>
                </a:lnTo>
                <a:close/>
              </a:path>
              <a:path w="633730" h="632460">
                <a:moveTo>
                  <a:pt x="116090" y="137160"/>
                </a:moveTo>
                <a:lnTo>
                  <a:pt x="75067" y="144780"/>
                </a:lnTo>
                <a:lnTo>
                  <a:pt x="41514" y="167640"/>
                </a:lnTo>
                <a:lnTo>
                  <a:pt x="18866" y="201930"/>
                </a:lnTo>
                <a:lnTo>
                  <a:pt x="10553" y="242570"/>
                </a:lnTo>
                <a:lnTo>
                  <a:pt x="17899" y="281940"/>
                </a:lnTo>
                <a:lnTo>
                  <a:pt x="38057" y="313690"/>
                </a:lnTo>
                <a:lnTo>
                  <a:pt x="68209" y="336550"/>
                </a:lnTo>
                <a:lnTo>
                  <a:pt x="105537" y="347980"/>
                </a:lnTo>
                <a:lnTo>
                  <a:pt x="105537" y="443230"/>
                </a:lnTo>
                <a:lnTo>
                  <a:pt x="126644" y="443230"/>
                </a:lnTo>
                <a:lnTo>
                  <a:pt x="126644" y="347980"/>
                </a:lnTo>
                <a:lnTo>
                  <a:pt x="163974" y="336550"/>
                </a:lnTo>
                <a:lnTo>
                  <a:pt x="177377" y="326390"/>
                </a:lnTo>
                <a:lnTo>
                  <a:pt x="116090" y="326390"/>
                </a:lnTo>
                <a:lnTo>
                  <a:pt x="83262" y="320040"/>
                </a:lnTo>
                <a:lnTo>
                  <a:pt x="56421" y="302260"/>
                </a:lnTo>
                <a:lnTo>
                  <a:pt x="38307" y="275590"/>
                </a:lnTo>
                <a:lnTo>
                  <a:pt x="31661" y="242570"/>
                </a:lnTo>
                <a:lnTo>
                  <a:pt x="38307" y="209550"/>
                </a:lnTo>
                <a:lnTo>
                  <a:pt x="56421" y="182880"/>
                </a:lnTo>
                <a:lnTo>
                  <a:pt x="83262" y="165100"/>
                </a:lnTo>
                <a:lnTo>
                  <a:pt x="116090" y="158750"/>
                </a:lnTo>
                <a:lnTo>
                  <a:pt x="177623" y="158750"/>
                </a:lnTo>
                <a:lnTo>
                  <a:pt x="157116" y="144780"/>
                </a:lnTo>
                <a:lnTo>
                  <a:pt x="116090" y="137160"/>
                </a:lnTo>
                <a:close/>
              </a:path>
              <a:path w="633730" h="632460">
                <a:moveTo>
                  <a:pt x="316623" y="0"/>
                </a:moveTo>
                <a:lnTo>
                  <a:pt x="275598" y="7620"/>
                </a:lnTo>
                <a:lnTo>
                  <a:pt x="242041" y="30480"/>
                </a:lnTo>
                <a:lnTo>
                  <a:pt x="219388" y="64770"/>
                </a:lnTo>
                <a:lnTo>
                  <a:pt x="211074" y="105410"/>
                </a:lnTo>
                <a:lnTo>
                  <a:pt x="218421" y="143510"/>
                </a:lnTo>
                <a:lnTo>
                  <a:pt x="238583" y="176530"/>
                </a:lnTo>
                <a:lnTo>
                  <a:pt x="268740" y="199390"/>
                </a:lnTo>
                <a:lnTo>
                  <a:pt x="306070" y="210820"/>
                </a:lnTo>
                <a:lnTo>
                  <a:pt x="306070" y="443230"/>
                </a:lnTo>
                <a:lnTo>
                  <a:pt x="327177" y="443230"/>
                </a:lnTo>
                <a:lnTo>
                  <a:pt x="327177" y="210820"/>
                </a:lnTo>
                <a:lnTo>
                  <a:pt x="364505" y="199390"/>
                </a:lnTo>
                <a:lnTo>
                  <a:pt x="377906" y="189230"/>
                </a:lnTo>
                <a:lnTo>
                  <a:pt x="316623" y="189230"/>
                </a:lnTo>
                <a:lnTo>
                  <a:pt x="283795" y="182880"/>
                </a:lnTo>
                <a:lnTo>
                  <a:pt x="256954" y="165100"/>
                </a:lnTo>
                <a:lnTo>
                  <a:pt x="238840" y="138430"/>
                </a:lnTo>
                <a:lnTo>
                  <a:pt x="232194" y="105410"/>
                </a:lnTo>
                <a:lnTo>
                  <a:pt x="238840" y="72390"/>
                </a:lnTo>
                <a:lnTo>
                  <a:pt x="256954" y="45720"/>
                </a:lnTo>
                <a:lnTo>
                  <a:pt x="283795" y="27940"/>
                </a:lnTo>
                <a:lnTo>
                  <a:pt x="316623" y="20320"/>
                </a:lnTo>
                <a:lnTo>
                  <a:pt x="376287" y="20320"/>
                </a:lnTo>
                <a:lnTo>
                  <a:pt x="357647" y="7620"/>
                </a:lnTo>
                <a:lnTo>
                  <a:pt x="316623" y="0"/>
                </a:lnTo>
                <a:close/>
              </a:path>
              <a:path w="633730" h="632460">
                <a:moveTo>
                  <a:pt x="527710" y="137160"/>
                </a:moveTo>
                <a:lnTo>
                  <a:pt x="486684" y="144780"/>
                </a:lnTo>
                <a:lnTo>
                  <a:pt x="453128" y="167640"/>
                </a:lnTo>
                <a:lnTo>
                  <a:pt x="430475" y="201930"/>
                </a:lnTo>
                <a:lnTo>
                  <a:pt x="422160" y="242570"/>
                </a:lnTo>
                <a:lnTo>
                  <a:pt x="429508" y="281940"/>
                </a:lnTo>
                <a:lnTo>
                  <a:pt x="449670" y="313690"/>
                </a:lnTo>
                <a:lnTo>
                  <a:pt x="479826" y="336550"/>
                </a:lnTo>
                <a:lnTo>
                  <a:pt x="517156" y="347980"/>
                </a:lnTo>
                <a:lnTo>
                  <a:pt x="517156" y="443230"/>
                </a:lnTo>
                <a:lnTo>
                  <a:pt x="538264" y="443230"/>
                </a:lnTo>
                <a:lnTo>
                  <a:pt x="538264" y="347980"/>
                </a:lnTo>
                <a:lnTo>
                  <a:pt x="575586" y="336550"/>
                </a:lnTo>
                <a:lnTo>
                  <a:pt x="588987" y="326390"/>
                </a:lnTo>
                <a:lnTo>
                  <a:pt x="527710" y="326390"/>
                </a:lnTo>
                <a:lnTo>
                  <a:pt x="494879" y="320040"/>
                </a:lnTo>
                <a:lnTo>
                  <a:pt x="468034" y="302260"/>
                </a:lnTo>
                <a:lnTo>
                  <a:pt x="449916" y="275590"/>
                </a:lnTo>
                <a:lnTo>
                  <a:pt x="443268" y="242570"/>
                </a:lnTo>
                <a:lnTo>
                  <a:pt x="449916" y="209550"/>
                </a:lnTo>
                <a:lnTo>
                  <a:pt x="468034" y="182880"/>
                </a:lnTo>
                <a:lnTo>
                  <a:pt x="494879" y="165100"/>
                </a:lnTo>
                <a:lnTo>
                  <a:pt x="527710" y="158750"/>
                </a:lnTo>
                <a:lnTo>
                  <a:pt x="589238" y="158750"/>
                </a:lnTo>
                <a:lnTo>
                  <a:pt x="568733" y="144780"/>
                </a:lnTo>
                <a:lnTo>
                  <a:pt x="527710" y="137160"/>
                </a:lnTo>
                <a:close/>
              </a:path>
              <a:path w="633730" h="632460">
                <a:moveTo>
                  <a:pt x="177623" y="158750"/>
                </a:moveTo>
                <a:lnTo>
                  <a:pt x="116090" y="158750"/>
                </a:lnTo>
                <a:lnTo>
                  <a:pt x="148919" y="165100"/>
                </a:lnTo>
                <a:lnTo>
                  <a:pt x="175760" y="182880"/>
                </a:lnTo>
                <a:lnTo>
                  <a:pt x="193873" y="209550"/>
                </a:lnTo>
                <a:lnTo>
                  <a:pt x="200520" y="242570"/>
                </a:lnTo>
                <a:lnTo>
                  <a:pt x="193873" y="275590"/>
                </a:lnTo>
                <a:lnTo>
                  <a:pt x="175760" y="302260"/>
                </a:lnTo>
                <a:lnTo>
                  <a:pt x="148919" y="320040"/>
                </a:lnTo>
                <a:lnTo>
                  <a:pt x="116090" y="326390"/>
                </a:lnTo>
                <a:lnTo>
                  <a:pt x="177377" y="326390"/>
                </a:lnTo>
                <a:lnTo>
                  <a:pt x="194130" y="313690"/>
                </a:lnTo>
                <a:lnTo>
                  <a:pt x="214292" y="281940"/>
                </a:lnTo>
                <a:lnTo>
                  <a:pt x="221640" y="242570"/>
                </a:lnTo>
                <a:lnTo>
                  <a:pt x="213326" y="201930"/>
                </a:lnTo>
                <a:lnTo>
                  <a:pt x="190673" y="167640"/>
                </a:lnTo>
                <a:lnTo>
                  <a:pt x="177623" y="158750"/>
                </a:lnTo>
                <a:close/>
              </a:path>
              <a:path w="633730" h="632460">
                <a:moveTo>
                  <a:pt x="589238" y="158750"/>
                </a:moveTo>
                <a:lnTo>
                  <a:pt x="527710" y="158750"/>
                </a:lnTo>
                <a:lnTo>
                  <a:pt x="560538" y="165100"/>
                </a:lnTo>
                <a:lnTo>
                  <a:pt x="587379" y="182880"/>
                </a:lnTo>
                <a:lnTo>
                  <a:pt x="605493" y="209550"/>
                </a:lnTo>
                <a:lnTo>
                  <a:pt x="612140" y="242570"/>
                </a:lnTo>
                <a:lnTo>
                  <a:pt x="605493" y="275590"/>
                </a:lnTo>
                <a:lnTo>
                  <a:pt x="587379" y="302260"/>
                </a:lnTo>
                <a:lnTo>
                  <a:pt x="560538" y="320040"/>
                </a:lnTo>
                <a:lnTo>
                  <a:pt x="527710" y="326390"/>
                </a:lnTo>
                <a:lnTo>
                  <a:pt x="588987" y="326390"/>
                </a:lnTo>
                <a:lnTo>
                  <a:pt x="605739" y="313690"/>
                </a:lnTo>
                <a:lnTo>
                  <a:pt x="625900" y="281940"/>
                </a:lnTo>
                <a:lnTo>
                  <a:pt x="633247" y="242570"/>
                </a:lnTo>
                <a:lnTo>
                  <a:pt x="624935" y="201930"/>
                </a:lnTo>
                <a:lnTo>
                  <a:pt x="602286" y="167640"/>
                </a:lnTo>
                <a:lnTo>
                  <a:pt x="589238" y="158750"/>
                </a:lnTo>
                <a:close/>
              </a:path>
              <a:path w="633730" h="632460">
                <a:moveTo>
                  <a:pt x="376287" y="20320"/>
                </a:moveTo>
                <a:lnTo>
                  <a:pt x="316623" y="20320"/>
                </a:lnTo>
                <a:lnTo>
                  <a:pt x="349452" y="27940"/>
                </a:lnTo>
                <a:lnTo>
                  <a:pt x="376293" y="45720"/>
                </a:lnTo>
                <a:lnTo>
                  <a:pt x="394406" y="72390"/>
                </a:lnTo>
                <a:lnTo>
                  <a:pt x="401053" y="105410"/>
                </a:lnTo>
                <a:lnTo>
                  <a:pt x="394406" y="138430"/>
                </a:lnTo>
                <a:lnTo>
                  <a:pt x="376293" y="165100"/>
                </a:lnTo>
                <a:lnTo>
                  <a:pt x="349452" y="182880"/>
                </a:lnTo>
                <a:lnTo>
                  <a:pt x="316623" y="189230"/>
                </a:lnTo>
                <a:lnTo>
                  <a:pt x="377906" y="189230"/>
                </a:lnTo>
                <a:lnTo>
                  <a:pt x="394657" y="176530"/>
                </a:lnTo>
                <a:lnTo>
                  <a:pt x="414815" y="143510"/>
                </a:lnTo>
                <a:lnTo>
                  <a:pt x="422160" y="105410"/>
                </a:lnTo>
                <a:lnTo>
                  <a:pt x="413848" y="64770"/>
                </a:lnTo>
                <a:lnTo>
                  <a:pt x="391199" y="30480"/>
                </a:lnTo>
                <a:lnTo>
                  <a:pt x="376287" y="20320"/>
                </a:lnTo>
                <a:close/>
              </a:path>
            </a:pathLst>
          </a:custGeom>
          <a:solidFill>
            <a:srgbClr val="5F8262"/>
          </a:solidFill>
        </p:spPr>
        <p:txBody>
          <a:bodyPr wrap="square" lIns="0" tIns="0" rIns="0" bIns="0" rtlCol="0"/>
          <a:lstStyle/>
          <a:p>
            <a:endParaRPr/>
          </a:p>
        </p:txBody>
      </p:sp>
      <p:sp>
        <p:nvSpPr>
          <p:cNvPr id="10" name="object 10"/>
          <p:cNvSpPr txBox="1"/>
          <p:nvPr/>
        </p:nvSpPr>
        <p:spPr>
          <a:xfrm>
            <a:off x="12613555" y="5878889"/>
            <a:ext cx="3937000" cy="1967205"/>
          </a:xfrm>
          <a:prstGeom prst="rect">
            <a:avLst/>
          </a:prstGeom>
        </p:spPr>
        <p:txBody>
          <a:bodyPr vert="horz" wrap="square" lIns="0" tIns="12700" rIns="0" bIns="0" rtlCol="0">
            <a:spAutoFit/>
          </a:bodyPr>
          <a:lstStyle/>
          <a:p>
            <a:pPr marL="12700" marR="274955">
              <a:lnSpc>
                <a:spcPct val="100000"/>
              </a:lnSpc>
              <a:spcBef>
                <a:spcPts val="100"/>
              </a:spcBef>
            </a:pPr>
            <a:r>
              <a:rPr lang="en-US" sz="2800" spc="75" dirty="0">
                <a:solidFill>
                  <a:srgbClr val="37403A"/>
                </a:solidFill>
                <a:latin typeface="Gill Sans MT"/>
                <a:cs typeface="Gill Sans MT"/>
              </a:rPr>
              <a:t>Truncated SVD</a:t>
            </a:r>
            <a:endParaRPr sz="2800" dirty="0">
              <a:latin typeface="Gill Sans MT"/>
              <a:cs typeface="Gill Sans MT"/>
            </a:endParaRPr>
          </a:p>
          <a:p>
            <a:pPr marL="12700" marR="5080">
              <a:lnSpc>
                <a:spcPct val="100000"/>
              </a:lnSpc>
              <a:spcBef>
                <a:spcPts val="1800"/>
              </a:spcBef>
            </a:pPr>
            <a:r>
              <a:rPr sz="2800" dirty="0">
                <a:solidFill>
                  <a:srgbClr val="37403A"/>
                </a:solidFill>
                <a:latin typeface="Gill Sans MT"/>
                <a:cs typeface="Gill Sans MT"/>
              </a:rPr>
              <a:t>Handles</a:t>
            </a:r>
            <a:r>
              <a:rPr sz="2800" spc="90" dirty="0">
                <a:solidFill>
                  <a:srgbClr val="37403A"/>
                </a:solidFill>
                <a:latin typeface="Gill Sans MT"/>
                <a:cs typeface="Gill Sans MT"/>
              </a:rPr>
              <a:t> </a:t>
            </a:r>
            <a:r>
              <a:rPr sz="2800" spc="50" dirty="0">
                <a:solidFill>
                  <a:srgbClr val="37403A"/>
                </a:solidFill>
                <a:latin typeface="Gill Sans MT"/>
                <a:cs typeface="Gill Sans MT"/>
              </a:rPr>
              <a:t>sparse</a:t>
            </a:r>
            <a:r>
              <a:rPr sz="2800" spc="95" dirty="0">
                <a:solidFill>
                  <a:srgbClr val="37403A"/>
                </a:solidFill>
                <a:latin typeface="Gill Sans MT"/>
                <a:cs typeface="Gill Sans MT"/>
              </a:rPr>
              <a:t> </a:t>
            </a:r>
            <a:r>
              <a:rPr sz="2800" dirty="0">
                <a:solidFill>
                  <a:srgbClr val="37403A"/>
                </a:solidFill>
                <a:latin typeface="Gill Sans MT"/>
                <a:cs typeface="Gill Sans MT"/>
              </a:rPr>
              <a:t>user-item</a:t>
            </a:r>
            <a:r>
              <a:rPr sz="2800" spc="95" dirty="0">
                <a:solidFill>
                  <a:srgbClr val="37403A"/>
                </a:solidFill>
                <a:latin typeface="Gill Sans MT"/>
                <a:cs typeface="Gill Sans MT"/>
              </a:rPr>
              <a:t> </a:t>
            </a:r>
            <a:r>
              <a:rPr sz="2800" spc="110" dirty="0">
                <a:solidFill>
                  <a:srgbClr val="37403A"/>
                </a:solidFill>
                <a:latin typeface="Gill Sans MT"/>
                <a:cs typeface="Gill Sans MT"/>
              </a:rPr>
              <a:t>data</a:t>
            </a:r>
            <a:r>
              <a:rPr sz="2800" spc="95" dirty="0">
                <a:solidFill>
                  <a:srgbClr val="37403A"/>
                </a:solidFill>
                <a:latin typeface="Gill Sans MT"/>
                <a:cs typeface="Gill Sans MT"/>
              </a:rPr>
              <a:t> </a:t>
            </a:r>
            <a:r>
              <a:rPr sz="2800" spc="75" dirty="0">
                <a:solidFill>
                  <a:srgbClr val="37403A"/>
                </a:solidFill>
                <a:latin typeface="Gill Sans MT"/>
                <a:cs typeface="Gill Sans MT"/>
              </a:rPr>
              <a:t>using </a:t>
            </a:r>
            <a:r>
              <a:rPr sz="2800" spc="60" dirty="0">
                <a:solidFill>
                  <a:srgbClr val="37403A"/>
                </a:solidFill>
                <a:latin typeface="Gill Sans MT"/>
                <a:cs typeface="Gill Sans MT"/>
              </a:rPr>
              <a:t>confidence</a:t>
            </a:r>
            <a:r>
              <a:rPr sz="2800" spc="-40" dirty="0">
                <a:solidFill>
                  <a:srgbClr val="37403A"/>
                </a:solidFill>
                <a:latin typeface="Gill Sans MT"/>
                <a:cs typeface="Gill Sans MT"/>
              </a:rPr>
              <a:t> </a:t>
            </a:r>
            <a:r>
              <a:rPr sz="2800" dirty="0">
                <a:solidFill>
                  <a:srgbClr val="37403A"/>
                </a:solidFill>
                <a:latin typeface="Gill Sans MT"/>
                <a:cs typeface="Gill Sans MT"/>
              </a:rPr>
              <a:t>scores</a:t>
            </a:r>
            <a:r>
              <a:rPr sz="2800" spc="-35" dirty="0">
                <a:solidFill>
                  <a:srgbClr val="37403A"/>
                </a:solidFill>
                <a:latin typeface="Gill Sans MT"/>
                <a:cs typeface="Gill Sans MT"/>
              </a:rPr>
              <a:t> </a:t>
            </a:r>
            <a:r>
              <a:rPr sz="2800" spc="-45" dirty="0">
                <a:solidFill>
                  <a:srgbClr val="37403A"/>
                </a:solidFill>
                <a:latin typeface="Gill Sans MT"/>
                <a:cs typeface="Gill Sans MT"/>
              </a:rPr>
              <a:t>(Hu</a:t>
            </a:r>
            <a:r>
              <a:rPr sz="2800" spc="-35" dirty="0">
                <a:solidFill>
                  <a:srgbClr val="37403A"/>
                </a:solidFill>
                <a:latin typeface="Gill Sans MT"/>
                <a:cs typeface="Gill Sans MT"/>
              </a:rPr>
              <a:t> </a:t>
            </a:r>
            <a:r>
              <a:rPr sz="2800" spc="70" dirty="0">
                <a:solidFill>
                  <a:srgbClr val="37403A"/>
                </a:solidFill>
                <a:latin typeface="Gill Sans MT"/>
                <a:cs typeface="Gill Sans MT"/>
              </a:rPr>
              <a:t>et</a:t>
            </a:r>
            <a:r>
              <a:rPr sz="2800" spc="-40" dirty="0">
                <a:solidFill>
                  <a:srgbClr val="37403A"/>
                </a:solidFill>
                <a:latin typeface="Gill Sans MT"/>
                <a:cs typeface="Gill Sans MT"/>
              </a:rPr>
              <a:t> </a:t>
            </a:r>
            <a:r>
              <a:rPr sz="2800" dirty="0">
                <a:solidFill>
                  <a:srgbClr val="37403A"/>
                </a:solidFill>
                <a:latin typeface="Gill Sans MT"/>
                <a:cs typeface="Gill Sans MT"/>
              </a:rPr>
              <a:t>al.,</a:t>
            </a:r>
            <a:r>
              <a:rPr sz="2800" spc="-35" dirty="0">
                <a:solidFill>
                  <a:srgbClr val="37403A"/>
                </a:solidFill>
                <a:latin typeface="Gill Sans MT"/>
                <a:cs typeface="Gill Sans MT"/>
              </a:rPr>
              <a:t> </a:t>
            </a:r>
            <a:r>
              <a:rPr sz="2800" spc="-10" dirty="0">
                <a:solidFill>
                  <a:srgbClr val="37403A"/>
                </a:solidFill>
                <a:latin typeface="Gill Sans MT"/>
                <a:cs typeface="Gill Sans MT"/>
              </a:rPr>
              <a:t>2008)</a:t>
            </a:r>
            <a:endParaRPr sz="2800" dirty="0">
              <a:latin typeface="Gill Sans MT"/>
              <a:cs typeface="Gill Sans MT"/>
            </a:endParaRPr>
          </a:p>
        </p:txBody>
      </p:sp>
      <p:sp>
        <p:nvSpPr>
          <p:cNvPr id="11" name="object 11"/>
          <p:cNvSpPr txBox="1"/>
          <p:nvPr/>
        </p:nvSpPr>
        <p:spPr>
          <a:xfrm>
            <a:off x="6997414" y="5878889"/>
            <a:ext cx="4006850" cy="2198038"/>
          </a:xfrm>
          <a:prstGeom prst="rect">
            <a:avLst/>
          </a:prstGeom>
        </p:spPr>
        <p:txBody>
          <a:bodyPr vert="horz" wrap="square" lIns="0" tIns="12700" rIns="0" bIns="0" rtlCol="0">
            <a:spAutoFit/>
          </a:bodyPr>
          <a:lstStyle/>
          <a:p>
            <a:pPr marL="12700" marR="713105">
              <a:lnSpc>
                <a:spcPct val="100000"/>
              </a:lnSpc>
              <a:spcBef>
                <a:spcPts val="100"/>
              </a:spcBef>
            </a:pPr>
            <a:r>
              <a:rPr lang="en-US" sz="2800" dirty="0">
                <a:solidFill>
                  <a:srgbClr val="37403A"/>
                </a:solidFill>
                <a:latin typeface="Gill Sans MT"/>
                <a:cs typeface="Gill Sans MT"/>
              </a:rPr>
              <a:t>Popularity Baseline</a:t>
            </a:r>
            <a:endParaRPr sz="2800" dirty="0">
              <a:latin typeface="Gill Sans MT"/>
              <a:cs typeface="Gill Sans MT"/>
            </a:endParaRPr>
          </a:p>
          <a:p>
            <a:pPr marL="12700" marR="5080">
              <a:lnSpc>
                <a:spcPct val="100000"/>
              </a:lnSpc>
              <a:spcBef>
                <a:spcPts val="1800"/>
              </a:spcBef>
            </a:pPr>
            <a:r>
              <a:rPr lang="en-US" sz="2800" dirty="0">
                <a:solidFill>
                  <a:srgbClr val="37403A"/>
                </a:solidFill>
                <a:latin typeface="Gill Sans MT"/>
                <a:cs typeface="Gill Sans MT"/>
              </a:rPr>
              <a:t>Suggests Top N popular Item</a:t>
            </a:r>
          </a:p>
          <a:p>
            <a:pPr marL="12700" marR="5080">
              <a:lnSpc>
                <a:spcPct val="100000"/>
              </a:lnSpc>
              <a:spcBef>
                <a:spcPts val="1800"/>
              </a:spcBef>
            </a:pPr>
            <a:r>
              <a:rPr sz="2800" spc="-25" dirty="0">
                <a:solidFill>
                  <a:srgbClr val="37403A"/>
                </a:solidFill>
                <a:latin typeface="Gill Sans MT"/>
                <a:cs typeface="Gill Sans MT"/>
              </a:rPr>
              <a:t>(Koren</a:t>
            </a:r>
            <a:r>
              <a:rPr sz="2800" spc="125" dirty="0">
                <a:solidFill>
                  <a:srgbClr val="37403A"/>
                </a:solidFill>
                <a:latin typeface="Gill Sans MT"/>
                <a:cs typeface="Gill Sans MT"/>
              </a:rPr>
              <a:t> </a:t>
            </a:r>
            <a:r>
              <a:rPr sz="2800" spc="70" dirty="0">
                <a:solidFill>
                  <a:srgbClr val="37403A"/>
                </a:solidFill>
                <a:latin typeface="Gill Sans MT"/>
                <a:cs typeface="Gill Sans MT"/>
              </a:rPr>
              <a:t>et</a:t>
            </a:r>
            <a:r>
              <a:rPr sz="2800" spc="125" dirty="0">
                <a:solidFill>
                  <a:srgbClr val="37403A"/>
                </a:solidFill>
                <a:latin typeface="Gill Sans MT"/>
                <a:cs typeface="Gill Sans MT"/>
              </a:rPr>
              <a:t> </a:t>
            </a:r>
            <a:r>
              <a:rPr sz="2800" dirty="0">
                <a:solidFill>
                  <a:srgbClr val="37403A"/>
                </a:solidFill>
                <a:latin typeface="Gill Sans MT"/>
                <a:cs typeface="Gill Sans MT"/>
              </a:rPr>
              <a:t>al.,</a:t>
            </a:r>
            <a:r>
              <a:rPr sz="2800" spc="125" dirty="0">
                <a:solidFill>
                  <a:srgbClr val="37403A"/>
                </a:solidFill>
                <a:latin typeface="Gill Sans MT"/>
                <a:cs typeface="Gill Sans MT"/>
              </a:rPr>
              <a:t> </a:t>
            </a:r>
            <a:r>
              <a:rPr sz="2800" spc="-10" dirty="0">
                <a:solidFill>
                  <a:srgbClr val="37403A"/>
                </a:solidFill>
                <a:latin typeface="Gill Sans MT"/>
                <a:cs typeface="Gill Sans MT"/>
              </a:rPr>
              <a:t>2009)</a:t>
            </a:r>
            <a:endParaRPr sz="2800" dirty="0">
              <a:latin typeface="Gill Sans MT"/>
              <a:cs typeface="Gill Sans MT"/>
            </a:endParaRPr>
          </a:p>
        </p:txBody>
      </p:sp>
      <p:sp>
        <p:nvSpPr>
          <p:cNvPr id="12" name="object 12"/>
          <p:cNvSpPr txBox="1"/>
          <p:nvPr/>
        </p:nvSpPr>
        <p:spPr>
          <a:xfrm>
            <a:off x="1381274" y="5878889"/>
            <a:ext cx="4145279" cy="2398092"/>
          </a:xfrm>
          <a:prstGeom prst="rect">
            <a:avLst/>
          </a:prstGeom>
        </p:spPr>
        <p:txBody>
          <a:bodyPr vert="horz" wrap="square" lIns="0" tIns="12700" rIns="0" bIns="0" rtlCol="0">
            <a:spAutoFit/>
          </a:bodyPr>
          <a:lstStyle/>
          <a:p>
            <a:pPr marL="12700" marR="5080">
              <a:lnSpc>
                <a:spcPct val="100000"/>
              </a:lnSpc>
              <a:spcBef>
                <a:spcPts val="100"/>
              </a:spcBef>
            </a:pPr>
            <a:r>
              <a:rPr sz="2800" spc="114" dirty="0">
                <a:solidFill>
                  <a:srgbClr val="37403A"/>
                </a:solidFill>
                <a:latin typeface="Gill Sans MT"/>
                <a:cs typeface="Gill Sans MT"/>
              </a:rPr>
              <a:t>Item-</a:t>
            </a:r>
            <a:r>
              <a:rPr sz="2800" spc="120" dirty="0">
                <a:solidFill>
                  <a:srgbClr val="37403A"/>
                </a:solidFill>
                <a:latin typeface="Gill Sans MT"/>
                <a:cs typeface="Gill Sans MT"/>
              </a:rPr>
              <a:t>based</a:t>
            </a:r>
            <a:r>
              <a:rPr sz="2800" spc="-80" dirty="0">
                <a:solidFill>
                  <a:srgbClr val="37403A"/>
                </a:solidFill>
                <a:latin typeface="Gill Sans MT"/>
                <a:cs typeface="Gill Sans MT"/>
              </a:rPr>
              <a:t> </a:t>
            </a:r>
            <a:r>
              <a:rPr sz="2800" spc="40" dirty="0">
                <a:solidFill>
                  <a:srgbClr val="37403A"/>
                </a:solidFill>
                <a:latin typeface="Gill Sans MT"/>
                <a:cs typeface="Gill Sans MT"/>
              </a:rPr>
              <a:t>Collaborative </a:t>
            </a:r>
            <a:r>
              <a:rPr sz="2800" spc="55" dirty="0">
                <a:solidFill>
                  <a:srgbClr val="37403A"/>
                </a:solidFill>
                <a:latin typeface="Gill Sans MT"/>
                <a:cs typeface="Gill Sans MT"/>
              </a:rPr>
              <a:t>Filtering</a:t>
            </a:r>
            <a:endParaRPr sz="2800" dirty="0">
              <a:latin typeface="Gill Sans MT"/>
              <a:cs typeface="Gill Sans MT"/>
            </a:endParaRPr>
          </a:p>
          <a:p>
            <a:pPr marL="12700" marR="15240">
              <a:lnSpc>
                <a:spcPct val="100000"/>
              </a:lnSpc>
              <a:spcBef>
                <a:spcPts val="1800"/>
              </a:spcBef>
            </a:pPr>
            <a:r>
              <a:rPr sz="2800" spc="50" dirty="0">
                <a:solidFill>
                  <a:srgbClr val="37403A"/>
                </a:solidFill>
                <a:latin typeface="Gill Sans MT"/>
                <a:cs typeface="Gill Sans MT"/>
              </a:rPr>
              <a:t>Recommends</a:t>
            </a:r>
            <a:r>
              <a:rPr sz="2800" spc="55" dirty="0">
                <a:solidFill>
                  <a:srgbClr val="37403A"/>
                </a:solidFill>
                <a:latin typeface="Gill Sans MT"/>
                <a:cs typeface="Gill Sans MT"/>
              </a:rPr>
              <a:t> </a:t>
            </a:r>
            <a:r>
              <a:rPr sz="2800" dirty="0">
                <a:solidFill>
                  <a:srgbClr val="37403A"/>
                </a:solidFill>
                <a:latin typeface="Gill Sans MT"/>
                <a:cs typeface="Gill Sans MT"/>
              </a:rPr>
              <a:t>products</a:t>
            </a:r>
            <a:r>
              <a:rPr sz="2800" spc="55" dirty="0">
                <a:solidFill>
                  <a:srgbClr val="37403A"/>
                </a:solidFill>
                <a:latin typeface="Gill Sans MT"/>
                <a:cs typeface="Gill Sans MT"/>
              </a:rPr>
              <a:t> </a:t>
            </a:r>
            <a:r>
              <a:rPr sz="2800" spc="100" dirty="0">
                <a:solidFill>
                  <a:srgbClr val="37403A"/>
                </a:solidFill>
                <a:latin typeface="Gill Sans MT"/>
                <a:cs typeface="Gill Sans MT"/>
              </a:rPr>
              <a:t>based</a:t>
            </a:r>
            <a:r>
              <a:rPr sz="2800" spc="55" dirty="0">
                <a:solidFill>
                  <a:srgbClr val="37403A"/>
                </a:solidFill>
                <a:latin typeface="Gill Sans MT"/>
                <a:cs typeface="Gill Sans MT"/>
              </a:rPr>
              <a:t> </a:t>
            </a:r>
            <a:r>
              <a:rPr sz="2800" dirty="0">
                <a:solidFill>
                  <a:srgbClr val="37403A"/>
                </a:solidFill>
                <a:latin typeface="Gill Sans MT"/>
                <a:cs typeface="Gill Sans MT"/>
              </a:rPr>
              <a:t>on</a:t>
            </a:r>
            <a:r>
              <a:rPr sz="2800" spc="55" dirty="0">
                <a:solidFill>
                  <a:srgbClr val="37403A"/>
                </a:solidFill>
                <a:latin typeface="Gill Sans MT"/>
                <a:cs typeface="Gill Sans MT"/>
              </a:rPr>
              <a:t> </a:t>
            </a:r>
            <a:r>
              <a:rPr sz="2800" spc="40" dirty="0">
                <a:solidFill>
                  <a:srgbClr val="37403A"/>
                </a:solidFill>
                <a:latin typeface="Gill Sans MT"/>
                <a:cs typeface="Gill Sans MT"/>
              </a:rPr>
              <a:t>item </a:t>
            </a:r>
            <a:r>
              <a:rPr sz="2800" dirty="0">
                <a:solidFill>
                  <a:srgbClr val="37403A"/>
                </a:solidFill>
                <a:latin typeface="Gill Sans MT"/>
                <a:cs typeface="Gill Sans MT"/>
              </a:rPr>
              <a:t>similarity</a:t>
            </a:r>
            <a:r>
              <a:rPr sz="2800" spc="100" dirty="0">
                <a:solidFill>
                  <a:srgbClr val="37403A"/>
                </a:solidFill>
                <a:latin typeface="Gill Sans MT"/>
                <a:cs typeface="Gill Sans MT"/>
              </a:rPr>
              <a:t> </a:t>
            </a:r>
            <a:r>
              <a:rPr sz="2800" dirty="0">
                <a:solidFill>
                  <a:srgbClr val="37403A"/>
                </a:solidFill>
                <a:latin typeface="Gill Sans MT"/>
                <a:cs typeface="Gill Sans MT"/>
              </a:rPr>
              <a:t>(Sarwar</a:t>
            </a:r>
            <a:r>
              <a:rPr sz="2800" spc="105" dirty="0">
                <a:solidFill>
                  <a:srgbClr val="37403A"/>
                </a:solidFill>
                <a:latin typeface="Gill Sans MT"/>
                <a:cs typeface="Gill Sans MT"/>
              </a:rPr>
              <a:t> </a:t>
            </a:r>
            <a:r>
              <a:rPr sz="2800" spc="70" dirty="0">
                <a:solidFill>
                  <a:srgbClr val="37403A"/>
                </a:solidFill>
                <a:latin typeface="Gill Sans MT"/>
                <a:cs typeface="Gill Sans MT"/>
              </a:rPr>
              <a:t>et</a:t>
            </a:r>
            <a:r>
              <a:rPr sz="2800" spc="105" dirty="0">
                <a:solidFill>
                  <a:srgbClr val="37403A"/>
                </a:solidFill>
                <a:latin typeface="Gill Sans MT"/>
                <a:cs typeface="Gill Sans MT"/>
              </a:rPr>
              <a:t> </a:t>
            </a:r>
            <a:r>
              <a:rPr sz="2800" dirty="0">
                <a:solidFill>
                  <a:srgbClr val="37403A"/>
                </a:solidFill>
                <a:latin typeface="Gill Sans MT"/>
                <a:cs typeface="Gill Sans MT"/>
              </a:rPr>
              <a:t>al.,</a:t>
            </a:r>
            <a:r>
              <a:rPr sz="2800" spc="100" dirty="0">
                <a:solidFill>
                  <a:srgbClr val="37403A"/>
                </a:solidFill>
                <a:latin typeface="Gill Sans MT"/>
                <a:cs typeface="Gill Sans MT"/>
              </a:rPr>
              <a:t> </a:t>
            </a:r>
            <a:r>
              <a:rPr sz="2800" spc="-10" dirty="0">
                <a:solidFill>
                  <a:srgbClr val="37403A"/>
                </a:solidFill>
                <a:latin typeface="Gill Sans MT"/>
                <a:cs typeface="Gill Sans MT"/>
              </a:rPr>
              <a:t>2001)</a:t>
            </a:r>
            <a:endParaRPr sz="2800" dirty="0">
              <a:latin typeface="Gill Sans MT"/>
              <a:cs typeface="Gill Sans MT"/>
            </a:endParaRPr>
          </a:p>
        </p:txBody>
      </p:sp>
      <p:sp>
        <p:nvSpPr>
          <p:cNvPr id="13" name="object 13"/>
          <p:cNvSpPr/>
          <p:nvPr/>
        </p:nvSpPr>
        <p:spPr>
          <a:xfrm>
            <a:off x="11971598" y="4920988"/>
            <a:ext cx="0" cy="2761615"/>
          </a:xfrm>
          <a:custGeom>
            <a:avLst/>
            <a:gdLst/>
            <a:ahLst/>
            <a:cxnLst/>
            <a:rect l="l" t="t" r="r" b="b"/>
            <a:pathLst>
              <a:path h="2761615">
                <a:moveTo>
                  <a:pt x="0" y="2761297"/>
                </a:moveTo>
                <a:lnTo>
                  <a:pt x="0" y="0"/>
                </a:lnTo>
              </a:path>
            </a:pathLst>
          </a:custGeom>
          <a:ln w="28575">
            <a:solidFill>
              <a:srgbClr val="5F8262"/>
            </a:solidFill>
            <a:prstDash val="sysDash"/>
          </a:ln>
        </p:spPr>
        <p:txBody>
          <a:bodyPr wrap="square" lIns="0" tIns="0" rIns="0" bIns="0" rtlCol="0"/>
          <a:lstStyle/>
          <a:p>
            <a:endParaRPr/>
          </a:p>
        </p:txBody>
      </p:sp>
      <p:sp>
        <p:nvSpPr>
          <p:cNvPr id="14" name="object 14"/>
          <p:cNvSpPr/>
          <p:nvPr/>
        </p:nvSpPr>
        <p:spPr>
          <a:xfrm>
            <a:off x="6355494" y="4920988"/>
            <a:ext cx="0" cy="2761615"/>
          </a:xfrm>
          <a:custGeom>
            <a:avLst/>
            <a:gdLst/>
            <a:ahLst/>
            <a:cxnLst/>
            <a:rect l="l" t="t" r="r" b="b"/>
            <a:pathLst>
              <a:path h="2761615">
                <a:moveTo>
                  <a:pt x="0" y="2761297"/>
                </a:moveTo>
                <a:lnTo>
                  <a:pt x="0" y="0"/>
                </a:lnTo>
              </a:path>
            </a:pathLst>
          </a:custGeom>
          <a:ln w="28575">
            <a:solidFill>
              <a:srgbClr val="5F8262"/>
            </a:solidFill>
            <a:prstDash val="sysDash"/>
          </a:ln>
        </p:spPr>
        <p:txBody>
          <a:bodyPr wrap="square" lIns="0" tIns="0" rIns="0" bIns="0" rtlCol="0"/>
          <a:lstStyle/>
          <a:p>
            <a:endParaRPr/>
          </a:p>
        </p:txBody>
      </p:sp>
      <p:pic>
        <p:nvPicPr>
          <p:cNvPr id="15" name="Image 3" descr="preencoded.png">
            <a:extLst>
              <a:ext uri="{FF2B5EF4-FFF2-40B4-BE49-F238E27FC236}">
                <a16:creationId xmlns:a16="http://schemas.microsoft.com/office/drawing/2014/main" id="{2F3F69BF-C2E5-64FF-7034-FD9C896811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655445" y="4990039"/>
            <a:ext cx="566976" cy="56697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32570-5C93-27E9-90B7-FA2DC8DE999C}"/>
            </a:ext>
          </a:extLst>
        </p:cNvPr>
        <p:cNvGrpSpPr/>
        <p:nvPr/>
      </p:nvGrpSpPr>
      <p:grpSpPr>
        <a:xfrm>
          <a:off x="0" y="0"/>
          <a:ext cx="0" cy="0"/>
          <a:chOff x="0" y="0"/>
          <a:chExt cx="0" cy="0"/>
        </a:xfrm>
      </p:grpSpPr>
      <p:sp>
        <p:nvSpPr>
          <p:cNvPr id="4" name="object 4" descr="$PPTXTitle">
            <a:extLst>
              <a:ext uri="{FF2B5EF4-FFF2-40B4-BE49-F238E27FC236}">
                <a16:creationId xmlns:a16="http://schemas.microsoft.com/office/drawing/2014/main" id="{E3D78659-BE0A-0654-5C6A-252D75A56BD9}"/>
              </a:ext>
            </a:extLst>
          </p:cNvPr>
          <p:cNvSpPr txBox="1">
            <a:spLocks noGrp="1"/>
          </p:cNvSpPr>
          <p:nvPr>
            <p:ph type="title"/>
          </p:nvPr>
        </p:nvSpPr>
        <p:spPr>
          <a:xfrm>
            <a:off x="3733800" y="4057433"/>
            <a:ext cx="15697200" cy="1086067"/>
          </a:xfrm>
          <a:prstGeom prst="rect">
            <a:avLst/>
          </a:prstGeom>
        </p:spPr>
        <p:txBody>
          <a:bodyPr vert="horz" wrap="square" lIns="0" tIns="185420" rIns="0" bIns="0" rtlCol="0">
            <a:spAutoFit/>
          </a:bodyPr>
          <a:lstStyle/>
          <a:p>
            <a:pPr marL="2280920" marR="5080" indent="-2268855">
              <a:lnSpc>
                <a:spcPts val="6800"/>
              </a:lnSpc>
              <a:spcBef>
                <a:spcPts val="1460"/>
              </a:spcBef>
            </a:pPr>
            <a:r>
              <a:rPr lang="en-US" spc="-295" dirty="0"/>
              <a:t>System Pipeline: How it Works</a:t>
            </a:r>
            <a:endParaRPr spc="400" dirty="0"/>
          </a:p>
        </p:txBody>
      </p:sp>
    </p:spTree>
    <p:extLst>
      <p:ext uri="{BB962C8B-B14F-4D97-AF65-F5344CB8AC3E}">
        <p14:creationId xmlns:p14="http://schemas.microsoft.com/office/powerpoint/2010/main" val="514543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794016" y="4328206"/>
            <a:ext cx="7573546" cy="5041900"/>
          </a:xfrm>
          <a:prstGeom prst="rect">
            <a:avLst/>
          </a:prstGeom>
        </p:spPr>
      </p:pic>
      <p:sp>
        <p:nvSpPr>
          <p:cNvPr id="3" name="object 3" descr="$PPTXTitle"/>
          <p:cNvSpPr txBox="1">
            <a:spLocks noGrp="1"/>
          </p:cNvSpPr>
          <p:nvPr>
            <p:ph type="title"/>
          </p:nvPr>
        </p:nvSpPr>
        <p:spPr>
          <a:xfrm>
            <a:off x="3152419" y="1927569"/>
            <a:ext cx="13306781" cy="1059264"/>
          </a:xfrm>
          <a:prstGeom prst="rect">
            <a:avLst/>
          </a:prstGeom>
        </p:spPr>
        <p:txBody>
          <a:bodyPr vert="horz" wrap="square" lIns="0" tIns="12700" rIns="0" bIns="0" rtlCol="0">
            <a:spAutoFit/>
          </a:bodyPr>
          <a:lstStyle/>
          <a:p>
            <a:pPr marL="993775">
              <a:lnSpc>
                <a:spcPct val="100000"/>
              </a:lnSpc>
              <a:spcBef>
                <a:spcPts val="100"/>
              </a:spcBef>
            </a:pPr>
            <a:r>
              <a:rPr lang="en-US" spc="550" dirty="0"/>
              <a:t>5. </a:t>
            </a:r>
            <a:r>
              <a:rPr spc="550" dirty="0"/>
              <a:t>System</a:t>
            </a:r>
            <a:r>
              <a:rPr spc="10" dirty="0"/>
              <a:t> </a:t>
            </a:r>
            <a:r>
              <a:rPr spc="445" dirty="0"/>
              <a:t>Pipeline</a:t>
            </a:r>
            <a:r>
              <a:rPr spc="10" dirty="0"/>
              <a:t> </a:t>
            </a:r>
            <a:r>
              <a:rPr spc="355" dirty="0"/>
              <a:t>Overview</a:t>
            </a:r>
          </a:p>
        </p:txBody>
      </p:sp>
      <p:sp>
        <p:nvSpPr>
          <p:cNvPr id="4" name="object 4"/>
          <p:cNvSpPr txBox="1"/>
          <p:nvPr/>
        </p:nvSpPr>
        <p:spPr>
          <a:xfrm>
            <a:off x="2728517" y="4374344"/>
            <a:ext cx="6356350" cy="5054600"/>
          </a:xfrm>
          <a:prstGeom prst="rect">
            <a:avLst/>
          </a:prstGeom>
        </p:spPr>
        <p:txBody>
          <a:bodyPr vert="horz" wrap="square" lIns="0" tIns="12700" rIns="0" bIns="0" rtlCol="0">
            <a:spAutoFit/>
          </a:bodyPr>
          <a:lstStyle/>
          <a:p>
            <a:pPr marL="12700">
              <a:lnSpc>
                <a:spcPct val="100000"/>
              </a:lnSpc>
              <a:spcBef>
                <a:spcPts val="100"/>
              </a:spcBef>
            </a:pPr>
            <a:r>
              <a:rPr sz="3000" spc="55" dirty="0">
                <a:solidFill>
                  <a:srgbClr val="F1EADE"/>
                </a:solidFill>
                <a:latin typeface="Gill Sans MT"/>
                <a:cs typeface="Gill Sans MT"/>
              </a:rPr>
              <a:t>Data</a:t>
            </a:r>
            <a:r>
              <a:rPr sz="3000" spc="-100" dirty="0">
                <a:solidFill>
                  <a:srgbClr val="F1EADE"/>
                </a:solidFill>
                <a:latin typeface="Gill Sans MT"/>
                <a:cs typeface="Gill Sans MT"/>
              </a:rPr>
              <a:t> </a:t>
            </a:r>
            <a:r>
              <a:rPr sz="3000" spc="65" dirty="0">
                <a:solidFill>
                  <a:srgbClr val="F1EADE"/>
                </a:solidFill>
                <a:latin typeface="Gill Sans MT"/>
                <a:cs typeface="Gill Sans MT"/>
              </a:rPr>
              <a:t>Preprocessing</a:t>
            </a:r>
            <a:r>
              <a:rPr sz="3000" spc="-95" dirty="0">
                <a:solidFill>
                  <a:srgbClr val="F1EADE"/>
                </a:solidFill>
                <a:latin typeface="Gill Sans MT"/>
                <a:cs typeface="Gill Sans MT"/>
              </a:rPr>
              <a:t> </a:t>
            </a:r>
            <a:r>
              <a:rPr sz="3000" spc="225" dirty="0">
                <a:solidFill>
                  <a:srgbClr val="F1EADE"/>
                </a:solidFill>
                <a:latin typeface="Gill Sans MT"/>
                <a:cs typeface="Gill Sans MT"/>
              </a:rPr>
              <a:t>&amp;</a:t>
            </a:r>
            <a:r>
              <a:rPr sz="3000" spc="-100" dirty="0">
                <a:solidFill>
                  <a:srgbClr val="F1EADE"/>
                </a:solidFill>
                <a:latin typeface="Gill Sans MT"/>
                <a:cs typeface="Gill Sans MT"/>
              </a:rPr>
              <a:t> </a:t>
            </a:r>
            <a:r>
              <a:rPr sz="3000" spc="165" dirty="0">
                <a:solidFill>
                  <a:srgbClr val="F1EADE"/>
                </a:solidFill>
                <a:latin typeface="Gill Sans MT"/>
                <a:cs typeface="Gill Sans MT"/>
              </a:rPr>
              <a:t>Metadata</a:t>
            </a:r>
            <a:r>
              <a:rPr sz="3000" spc="-95" dirty="0">
                <a:solidFill>
                  <a:srgbClr val="F1EADE"/>
                </a:solidFill>
                <a:latin typeface="Gill Sans MT"/>
                <a:cs typeface="Gill Sans MT"/>
              </a:rPr>
              <a:t> </a:t>
            </a:r>
            <a:r>
              <a:rPr sz="3000" spc="110" dirty="0">
                <a:solidFill>
                  <a:srgbClr val="F1EADE"/>
                </a:solidFill>
                <a:latin typeface="Gill Sans MT"/>
                <a:cs typeface="Gill Sans MT"/>
              </a:rPr>
              <a:t>Merge</a:t>
            </a:r>
            <a:endParaRPr sz="3000" dirty="0">
              <a:latin typeface="Gill Sans MT"/>
              <a:cs typeface="Gill Sans MT"/>
            </a:endParaRPr>
          </a:p>
          <a:p>
            <a:pPr marL="12700">
              <a:lnSpc>
                <a:spcPct val="100000"/>
              </a:lnSpc>
              <a:spcBef>
                <a:spcPts val="1800"/>
              </a:spcBef>
            </a:pPr>
            <a:r>
              <a:rPr sz="2000" dirty="0">
                <a:solidFill>
                  <a:srgbClr val="F1EADE"/>
                </a:solidFill>
                <a:latin typeface="Gill Sans MT"/>
                <a:cs typeface="Gill Sans MT"/>
              </a:rPr>
              <a:t>Clean</a:t>
            </a:r>
            <a:r>
              <a:rPr sz="2000" spc="35" dirty="0">
                <a:solidFill>
                  <a:srgbClr val="F1EADE"/>
                </a:solidFill>
                <a:latin typeface="Gill Sans MT"/>
                <a:cs typeface="Gill Sans MT"/>
              </a:rPr>
              <a:t> </a:t>
            </a:r>
            <a:r>
              <a:rPr sz="2000" dirty="0">
                <a:solidFill>
                  <a:srgbClr val="F1EADE"/>
                </a:solidFill>
                <a:latin typeface="Gill Sans MT"/>
                <a:cs typeface="Gill Sans MT"/>
              </a:rPr>
              <a:t>reviews,</a:t>
            </a:r>
            <a:r>
              <a:rPr sz="2000" spc="35" dirty="0">
                <a:solidFill>
                  <a:srgbClr val="F1EADE"/>
                </a:solidFill>
                <a:latin typeface="Gill Sans MT"/>
                <a:cs typeface="Gill Sans MT"/>
              </a:rPr>
              <a:t> </a:t>
            </a:r>
            <a:r>
              <a:rPr sz="2000" spc="70" dirty="0">
                <a:solidFill>
                  <a:srgbClr val="F1EADE"/>
                </a:solidFill>
                <a:latin typeface="Gill Sans MT"/>
                <a:cs typeface="Gill Sans MT"/>
              </a:rPr>
              <a:t>merge</a:t>
            </a:r>
            <a:r>
              <a:rPr sz="2000" spc="35" dirty="0">
                <a:solidFill>
                  <a:srgbClr val="F1EADE"/>
                </a:solidFill>
                <a:latin typeface="Gill Sans MT"/>
                <a:cs typeface="Gill Sans MT"/>
              </a:rPr>
              <a:t> </a:t>
            </a:r>
            <a:r>
              <a:rPr sz="2000" spc="75" dirty="0">
                <a:solidFill>
                  <a:srgbClr val="F1EADE"/>
                </a:solidFill>
                <a:latin typeface="Gill Sans MT"/>
                <a:cs typeface="Gill Sans MT"/>
              </a:rPr>
              <a:t>with</a:t>
            </a:r>
            <a:r>
              <a:rPr sz="2000" spc="35" dirty="0">
                <a:solidFill>
                  <a:srgbClr val="F1EADE"/>
                </a:solidFill>
                <a:latin typeface="Gill Sans MT"/>
                <a:cs typeface="Gill Sans MT"/>
              </a:rPr>
              <a:t> </a:t>
            </a:r>
            <a:r>
              <a:rPr sz="2000" dirty="0">
                <a:solidFill>
                  <a:srgbClr val="F1EADE"/>
                </a:solidFill>
                <a:latin typeface="Gill Sans MT"/>
                <a:cs typeface="Gill Sans MT"/>
              </a:rPr>
              <a:t>product</a:t>
            </a:r>
            <a:r>
              <a:rPr sz="2000" spc="35" dirty="0">
                <a:solidFill>
                  <a:srgbClr val="F1EADE"/>
                </a:solidFill>
                <a:latin typeface="Gill Sans MT"/>
                <a:cs typeface="Gill Sans MT"/>
              </a:rPr>
              <a:t> </a:t>
            </a:r>
            <a:r>
              <a:rPr sz="2000" spc="65" dirty="0">
                <a:solidFill>
                  <a:srgbClr val="F1EADE"/>
                </a:solidFill>
                <a:latin typeface="Gill Sans MT"/>
                <a:cs typeface="Gill Sans MT"/>
              </a:rPr>
              <a:t>info</a:t>
            </a:r>
            <a:r>
              <a:rPr sz="2000" spc="35" dirty="0">
                <a:solidFill>
                  <a:srgbClr val="F1EADE"/>
                </a:solidFill>
                <a:latin typeface="Gill Sans MT"/>
                <a:cs typeface="Gill Sans MT"/>
              </a:rPr>
              <a:t> </a:t>
            </a:r>
            <a:r>
              <a:rPr sz="2000" dirty="0">
                <a:solidFill>
                  <a:srgbClr val="F1EADE"/>
                </a:solidFill>
                <a:latin typeface="Gill Sans MT"/>
                <a:cs typeface="Gill Sans MT"/>
              </a:rPr>
              <a:t>for</a:t>
            </a:r>
            <a:r>
              <a:rPr sz="2000" spc="35" dirty="0">
                <a:solidFill>
                  <a:srgbClr val="F1EADE"/>
                </a:solidFill>
                <a:latin typeface="Gill Sans MT"/>
                <a:cs typeface="Gill Sans MT"/>
              </a:rPr>
              <a:t> </a:t>
            </a:r>
            <a:r>
              <a:rPr sz="2000" spc="65" dirty="0">
                <a:solidFill>
                  <a:srgbClr val="F1EADE"/>
                </a:solidFill>
                <a:latin typeface="Gill Sans MT"/>
                <a:cs typeface="Gill Sans MT"/>
              </a:rPr>
              <a:t>readable</a:t>
            </a:r>
            <a:r>
              <a:rPr sz="2000" spc="35" dirty="0">
                <a:solidFill>
                  <a:srgbClr val="F1EADE"/>
                </a:solidFill>
                <a:latin typeface="Gill Sans MT"/>
                <a:cs typeface="Gill Sans MT"/>
              </a:rPr>
              <a:t> </a:t>
            </a:r>
            <a:r>
              <a:rPr sz="2000" spc="40" dirty="0">
                <a:solidFill>
                  <a:srgbClr val="F1EADE"/>
                </a:solidFill>
                <a:latin typeface="Gill Sans MT"/>
                <a:cs typeface="Gill Sans MT"/>
              </a:rPr>
              <a:t>titles</a:t>
            </a:r>
            <a:endParaRPr sz="2000" dirty="0">
              <a:latin typeface="Gill Sans MT"/>
              <a:cs typeface="Gill Sans MT"/>
            </a:endParaRPr>
          </a:p>
          <a:p>
            <a:pPr>
              <a:lnSpc>
                <a:spcPct val="100000"/>
              </a:lnSpc>
              <a:spcBef>
                <a:spcPts val="480"/>
              </a:spcBef>
            </a:pPr>
            <a:endParaRPr sz="2000" dirty="0">
              <a:latin typeface="Gill Sans MT"/>
              <a:cs typeface="Gill Sans MT"/>
            </a:endParaRPr>
          </a:p>
          <a:p>
            <a:pPr marL="12700">
              <a:lnSpc>
                <a:spcPct val="100000"/>
              </a:lnSpc>
            </a:pPr>
            <a:r>
              <a:rPr sz="3000" dirty="0">
                <a:solidFill>
                  <a:srgbClr val="F1EADE"/>
                </a:solidFill>
                <a:latin typeface="Gill Sans MT"/>
                <a:cs typeface="Gill Sans MT"/>
              </a:rPr>
              <a:t>Time-Aware</a:t>
            </a:r>
            <a:r>
              <a:rPr sz="3000" spc="-30" dirty="0">
                <a:solidFill>
                  <a:srgbClr val="F1EADE"/>
                </a:solidFill>
                <a:latin typeface="Gill Sans MT"/>
                <a:cs typeface="Gill Sans MT"/>
              </a:rPr>
              <a:t> </a:t>
            </a:r>
            <a:r>
              <a:rPr sz="3000" dirty="0">
                <a:solidFill>
                  <a:srgbClr val="F1EADE"/>
                </a:solidFill>
                <a:latin typeface="Gill Sans MT"/>
                <a:cs typeface="Gill Sans MT"/>
              </a:rPr>
              <a:t>Train/Test</a:t>
            </a:r>
            <a:r>
              <a:rPr sz="3000" spc="-30" dirty="0">
                <a:solidFill>
                  <a:srgbClr val="F1EADE"/>
                </a:solidFill>
                <a:latin typeface="Gill Sans MT"/>
                <a:cs typeface="Gill Sans MT"/>
              </a:rPr>
              <a:t> </a:t>
            </a:r>
            <a:r>
              <a:rPr sz="3000" spc="100" dirty="0">
                <a:solidFill>
                  <a:srgbClr val="F1EADE"/>
                </a:solidFill>
                <a:latin typeface="Gill Sans MT"/>
                <a:cs typeface="Gill Sans MT"/>
              </a:rPr>
              <a:t>Split</a:t>
            </a:r>
            <a:endParaRPr sz="3000" dirty="0">
              <a:latin typeface="Gill Sans MT"/>
              <a:cs typeface="Gill Sans MT"/>
            </a:endParaRPr>
          </a:p>
          <a:p>
            <a:pPr marL="12700">
              <a:lnSpc>
                <a:spcPct val="100000"/>
              </a:lnSpc>
              <a:spcBef>
                <a:spcPts val="1800"/>
              </a:spcBef>
            </a:pPr>
            <a:r>
              <a:rPr sz="2000" spc="65" dirty="0">
                <a:solidFill>
                  <a:srgbClr val="F1EADE"/>
                </a:solidFill>
                <a:latin typeface="Gill Sans MT"/>
                <a:cs typeface="Gill Sans MT"/>
              </a:rPr>
              <a:t>Latest</a:t>
            </a:r>
            <a:r>
              <a:rPr sz="2000" spc="-10" dirty="0">
                <a:solidFill>
                  <a:srgbClr val="F1EADE"/>
                </a:solidFill>
                <a:latin typeface="Gill Sans MT"/>
                <a:cs typeface="Gill Sans MT"/>
              </a:rPr>
              <a:t> </a:t>
            </a:r>
            <a:r>
              <a:rPr sz="2000" spc="10" dirty="0">
                <a:solidFill>
                  <a:srgbClr val="F1EADE"/>
                </a:solidFill>
                <a:latin typeface="Gill Sans MT"/>
                <a:cs typeface="Gill Sans MT"/>
              </a:rPr>
              <a:t>user</a:t>
            </a:r>
            <a:r>
              <a:rPr sz="2000" spc="-10" dirty="0">
                <a:solidFill>
                  <a:srgbClr val="F1EADE"/>
                </a:solidFill>
                <a:latin typeface="Gill Sans MT"/>
                <a:cs typeface="Gill Sans MT"/>
              </a:rPr>
              <a:t> </a:t>
            </a:r>
            <a:r>
              <a:rPr sz="2000" spc="10" dirty="0">
                <a:solidFill>
                  <a:srgbClr val="F1EADE"/>
                </a:solidFill>
                <a:latin typeface="Gill Sans MT"/>
                <a:cs typeface="Gill Sans MT"/>
              </a:rPr>
              <a:t>interaction</a:t>
            </a:r>
            <a:r>
              <a:rPr sz="2000" spc="-10" dirty="0">
                <a:solidFill>
                  <a:srgbClr val="F1EADE"/>
                </a:solidFill>
                <a:latin typeface="Gill Sans MT"/>
                <a:cs typeface="Gill Sans MT"/>
              </a:rPr>
              <a:t> </a:t>
            </a:r>
            <a:r>
              <a:rPr sz="2000" spc="10" dirty="0">
                <a:solidFill>
                  <a:srgbClr val="F1EADE"/>
                </a:solidFill>
                <a:latin typeface="Gill Sans MT"/>
                <a:cs typeface="Gill Sans MT"/>
              </a:rPr>
              <a:t>for</a:t>
            </a:r>
            <a:r>
              <a:rPr sz="2000" spc="-10" dirty="0">
                <a:solidFill>
                  <a:srgbClr val="F1EADE"/>
                </a:solidFill>
                <a:latin typeface="Gill Sans MT"/>
                <a:cs typeface="Gill Sans MT"/>
              </a:rPr>
              <a:t> </a:t>
            </a:r>
            <a:r>
              <a:rPr sz="2000" spc="55" dirty="0">
                <a:solidFill>
                  <a:srgbClr val="F1EADE"/>
                </a:solidFill>
                <a:latin typeface="Gill Sans MT"/>
                <a:cs typeface="Gill Sans MT"/>
              </a:rPr>
              <a:t>test,</a:t>
            </a:r>
            <a:r>
              <a:rPr sz="2000" spc="-10" dirty="0">
                <a:solidFill>
                  <a:srgbClr val="F1EADE"/>
                </a:solidFill>
                <a:latin typeface="Gill Sans MT"/>
                <a:cs typeface="Gill Sans MT"/>
              </a:rPr>
              <a:t> </a:t>
            </a:r>
            <a:r>
              <a:rPr sz="2000" spc="10" dirty="0">
                <a:solidFill>
                  <a:srgbClr val="F1EADE"/>
                </a:solidFill>
                <a:latin typeface="Gill Sans MT"/>
                <a:cs typeface="Gill Sans MT"/>
              </a:rPr>
              <a:t>earlier</a:t>
            </a:r>
            <a:r>
              <a:rPr sz="2000" spc="-10" dirty="0">
                <a:solidFill>
                  <a:srgbClr val="F1EADE"/>
                </a:solidFill>
                <a:latin typeface="Gill Sans MT"/>
                <a:cs typeface="Gill Sans MT"/>
              </a:rPr>
              <a:t> </a:t>
            </a:r>
            <a:r>
              <a:rPr sz="2000" spc="10" dirty="0">
                <a:solidFill>
                  <a:srgbClr val="F1EADE"/>
                </a:solidFill>
                <a:latin typeface="Gill Sans MT"/>
                <a:cs typeface="Gill Sans MT"/>
              </a:rPr>
              <a:t>for</a:t>
            </a:r>
            <a:r>
              <a:rPr sz="2000" spc="-10" dirty="0">
                <a:solidFill>
                  <a:srgbClr val="F1EADE"/>
                </a:solidFill>
                <a:latin typeface="Gill Sans MT"/>
                <a:cs typeface="Gill Sans MT"/>
              </a:rPr>
              <a:t> </a:t>
            </a:r>
            <a:r>
              <a:rPr sz="2000" spc="50" dirty="0">
                <a:solidFill>
                  <a:srgbClr val="F1EADE"/>
                </a:solidFill>
                <a:latin typeface="Gill Sans MT"/>
                <a:cs typeface="Gill Sans MT"/>
              </a:rPr>
              <a:t>training</a:t>
            </a:r>
            <a:endParaRPr sz="2000" dirty="0">
              <a:latin typeface="Gill Sans MT"/>
              <a:cs typeface="Gill Sans MT"/>
            </a:endParaRPr>
          </a:p>
          <a:p>
            <a:pPr>
              <a:lnSpc>
                <a:spcPct val="100000"/>
              </a:lnSpc>
              <a:spcBef>
                <a:spcPts val="480"/>
              </a:spcBef>
            </a:pPr>
            <a:endParaRPr sz="2000" dirty="0">
              <a:latin typeface="Gill Sans MT"/>
              <a:cs typeface="Gill Sans MT"/>
            </a:endParaRPr>
          </a:p>
          <a:p>
            <a:pPr marL="12700">
              <a:lnSpc>
                <a:spcPct val="100000"/>
              </a:lnSpc>
            </a:pPr>
            <a:r>
              <a:rPr sz="3000" spc="120" dirty="0">
                <a:solidFill>
                  <a:srgbClr val="F1EADE"/>
                </a:solidFill>
                <a:latin typeface="Gill Sans MT"/>
                <a:cs typeface="Gill Sans MT"/>
              </a:rPr>
              <a:t>Model</a:t>
            </a:r>
            <a:r>
              <a:rPr sz="3000" spc="-5" dirty="0">
                <a:solidFill>
                  <a:srgbClr val="F1EADE"/>
                </a:solidFill>
                <a:latin typeface="Gill Sans MT"/>
                <a:cs typeface="Gill Sans MT"/>
              </a:rPr>
              <a:t> </a:t>
            </a:r>
            <a:r>
              <a:rPr sz="3000" dirty="0">
                <a:solidFill>
                  <a:srgbClr val="F1EADE"/>
                </a:solidFill>
                <a:latin typeface="Gill Sans MT"/>
                <a:cs typeface="Gill Sans MT"/>
              </a:rPr>
              <a:t>Training</a:t>
            </a:r>
            <a:r>
              <a:rPr sz="3000" spc="-5" dirty="0">
                <a:solidFill>
                  <a:srgbClr val="F1EADE"/>
                </a:solidFill>
                <a:latin typeface="Gill Sans MT"/>
                <a:cs typeface="Gill Sans MT"/>
              </a:rPr>
              <a:t> </a:t>
            </a:r>
            <a:r>
              <a:rPr sz="3000" spc="225" dirty="0">
                <a:solidFill>
                  <a:srgbClr val="F1EADE"/>
                </a:solidFill>
                <a:latin typeface="Gill Sans MT"/>
                <a:cs typeface="Gill Sans MT"/>
              </a:rPr>
              <a:t>&amp;</a:t>
            </a:r>
            <a:r>
              <a:rPr sz="3000" dirty="0">
                <a:solidFill>
                  <a:srgbClr val="F1EADE"/>
                </a:solidFill>
                <a:latin typeface="Gill Sans MT"/>
                <a:cs typeface="Gill Sans MT"/>
              </a:rPr>
              <a:t> </a:t>
            </a:r>
            <a:r>
              <a:rPr sz="3000" spc="80" dirty="0">
                <a:solidFill>
                  <a:srgbClr val="F1EADE"/>
                </a:solidFill>
                <a:latin typeface="Gill Sans MT"/>
                <a:cs typeface="Gill Sans MT"/>
              </a:rPr>
              <a:t>Recommendation</a:t>
            </a:r>
            <a:endParaRPr sz="3000" dirty="0">
              <a:latin typeface="Gill Sans MT"/>
              <a:cs typeface="Gill Sans MT"/>
            </a:endParaRPr>
          </a:p>
          <a:p>
            <a:pPr marL="12700">
              <a:lnSpc>
                <a:spcPct val="100000"/>
              </a:lnSpc>
              <a:spcBef>
                <a:spcPts val="1800"/>
              </a:spcBef>
            </a:pPr>
            <a:r>
              <a:rPr sz="2000" spc="-30" dirty="0">
                <a:solidFill>
                  <a:srgbClr val="F1EADE"/>
                </a:solidFill>
                <a:latin typeface="Gill Sans MT"/>
                <a:cs typeface="Gill Sans MT"/>
              </a:rPr>
              <a:t>Train</a:t>
            </a:r>
            <a:r>
              <a:rPr sz="2000" spc="90" dirty="0">
                <a:solidFill>
                  <a:srgbClr val="F1EADE"/>
                </a:solidFill>
                <a:latin typeface="Gill Sans MT"/>
                <a:cs typeface="Gill Sans MT"/>
              </a:rPr>
              <a:t> </a:t>
            </a:r>
            <a:r>
              <a:rPr sz="2000" dirty="0">
                <a:solidFill>
                  <a:srgbClr val="F1EADE"/>
                </a:solidFill>
                <a:latin typeface="Gill Sans MT"/>
                <a:cs typeface="Gill Sans MT"/>
              </a:rPr>
              <a:t>Popularity,</a:t>
            </a:r>
            <a:r>
              <a:rPr sz="2000" spc="90" dirty="0">
                <a:solidFill>
                  <a:srgbClr val="F1EADE"/>
                </a:solidFill>
                <a:latin typeface="Gill Sans MT"/>
                <a:cs typeface="Gill Sans MT"/>
              </a:rPr>
              <a:t> </a:t>
            </a:r>
            <a:r>
              <a:rPr sz="2000" dirty="0">
                <a:solidFill>
                  <a:srgbClr val="F1EADE"/>
                </a:solidFill>
                <a:latin typeface="Gill Sans MT"/>
                <a:cs typeface="Gill Sans MT"/>
              </a:rPr>
              <a:t>Item-CF,</a:t>
            </a:r>
            <a:r>
              <a:rPr sz="2000" spc="90" dirty="0">
                <a:solidFill>
                  <a:srgbClr val="F1EADE"/>
                </a:solidFill>
                <a:latin typeface="Gill Sans MT"/>
                <a:cs typeface="Gill Sans MT"/>
              </a:rPr>
              <a:t> </a:t>
            </a:r>
            <a:r>
              <a:rPr sz="2000" spc="105" dirty="0">
                <a:solidFill>
                  <a:srgbClr val="F1EADE"/>
                </a:solidFill>
                <a:latin typeface="Gill Sans MT"/>
                <a:cs typeface="Gill Sans MT"/>
              </a:rPr>
              <a:t>and</a:t>
            </a:r>
            <a:r>
              <a:rPr sz="2000" spc="95" dirty="0">
                <a:solidFill>
                  <a:srgbClr val="F1EADE"/>
                </a:solidFill>
                <a:latin typeface="Gill Sans MT"/>
                <a:cs typeface="Gill Sans MT"/>
              </a:rPr>
              <a:t> </a:t>
            </a:r>
            <a:r>
              <a:rPr sz="2000" dirty="0">
                <a:solidFill>
                  <a:srgbClr val="F1EADE"/>
                </a:solidFill>
                <a:latin typeface="Gill Sans MT"/>
                <a:cs typeface="Gill Sans MT"/>
              </a:rPr>
              <a:t>TruncatedSVD</a:t>
            </a:r>
            <a:r>
              <a:rPr sz="2000" spc="90" dirty="0">
                <a:solidFill>
                  <a:srgbClr val="F1EADE"/>
                </a:solidFill>
                <a:latin typeface="Gill Sans MT"/>
                <a:cs typeface="Gill Sans MT"/>
              </a:rPr>
              <a:t> </a:t>
            </a:r>
            <a:r>
              <a:rPr sz="2000" spc="45" dirty="0">
                <a:solidFill>
                  <a:srgbClr val="F1EADE"/>
                </a:solidFill>
                <a:latin typeface="Gill Sans MT"/>
                <a:cs typeface="Gill Sans MT"/>
              </a:rPr>
              <a:t>models</a:t>
            </a:r>
            <a:endParaRPr sz="2000" dirty="0">
              <a:latin typeface="Gill Sans MT"/>
              <a:cs typeface="Gill Sans MT"/>
            </a:endParaRPr>
          </a:p>
          <a:p>
            <a:pPr>
              <a:lnSpc>
                <a:spcPct val="100000"/>
              </a:lnSpc>
              <a:spcBef>
                <a:spcPts val="480"/>
              </a:spcBef>
            </a:pPr>
            <a:endParaRPr sz="2000" dirty="0">
              <a:latin typeface="Gill Sans MT"/>
              <a:cs typeface="Gill Sans MT"/>
            </a:endParaRPr>
          </a:p>
          <a:p>
            <a:pPr marL="12700">
              <a:lnSpc>
                <a:spcPct val="100000"/>
              </a:lnSpc>
            </a:pPr>
            <a:r>
              <a:rPr sz="3000" spc="80" dirty="0">
                <a:solidFill>
                  <a:srgbClr val="F1EADE"/>
                </a:solidFill>
                <a:latin typeface="Gill Sans MT"/>
                <a:cs typeface="Gill Sans MT"/>
              </a:rPr>
              <a:t>Interactive</a:t>
            </a:r>
            <a:r>
              <a:rPr sz="3000" spc="-90" dirty="0">
                <a:solidFill>
                  <a:srgbClr val="F1EADE"/>
                </a:solidFill>
                <a:latin typeface="Gill Sans MT"/>
                <a:cs typeface="Gill Sans MT"/>
              </a:rPr>
              <a:t> </a:t>
            </a:r>
            <a:r>
              <a:rPr sz="3000" spc="-135" dirty="0">
                <a:solidFill>
                  <a:srgbClr val="F1EADE"/>
                </a:solidFill>
                <a:latin typeface="Gill Sans MT"/>
                <a:cs typeface="Gill Sans MT"/>
              </a:rPr>
              <a:t>CLI</a:t>
            </a:r>
            <a:r>
              <a:rPr sz="3000" spc="-90" dirty="0">
                <a:solidFill>
                  <a:srgbClr val="F1EADE"/>
                </a:solidFill>
                <a:latin typeface="Gill Sans MT"/>
                <a:cs typeface="Gill Sans MT"/>
              </a:rPr>
              <a:t> </a:t>
            </a:r>
            <a:r>
              <a:rPr sz="3000" spc="-10" dirty="0">
                <a:solidFill>
                  <a:srgbClr val="F1EADE"/>
                </a:solidFill>
                <a:latin typeface="Gill Sans MT"/>
                <a:cs typeface="Gill Sans MT"/>
              </a:rPr>
              <a:t>Output</a:t>
            </a:r>
            <a:endParaRPr sz="3000" dirty="0">
              <a:latin typeface="Gill Sans MT"/>
              <a:cs typeface="Gill Sans MT"/>
            </a:endParaRPr>
          </a:p>
          <a:p>
            <a:pPr marL="12700">
              <a:lnSpc>
                <a:spcPct val="100000"/>
              </a:lnSpc>
              <a:spcBef>
                <a:spcPts val="1800"/>
              </a:spcBef>
            </a:pPr>
            <a:r>
              <a:rPr sz="2000" spc="-30" dirty="0">
                <a:solidFill>
                  <a:srgbClr val="F1EADE"/>
                </a:solidFill>
                <a:latin typeface="Gill Sans MT"/>
                <a:cs typeface="Gill Sans MT"/>
              </a:rPr>
              <a:t>User</a:t>
            </a:r>
            <a:r>
              <a:rPr sz="2000" spc="35" dirty="0">
                <a:solidFill>
                  <a:srgbClr val="F1EADE"/>
                </a:solidFill>
                <a:latin typeface="Gill Sans MT"/>
                <a:cs typeface="Gill Sans MT"/>
              </a:rPr>
              <a:t> </a:t>
            </a:r>
            <a:r>
              <a:rPr sz="2000" spc="70" dirty="0">
                <a:solidFill>
                  <a:srgbClr val="F1EADE"/>
                </a:solidFill>
                <a:latin typeface="Gill Sans MT"/>
                <a:cs typeface="Gill Sans MT"/>
              </a:rPr>
              <a:t>inputs</a:t>
            </a:r>
            <a:r>
              <a:rPr sz="2000" spc="40" dirty="0">
                <a:solidFill>
                  <a:srgbClr val="F1EADE"/>
                </a:solidFill>
                <a:latin typeface="Gill Sans MT"/>
                <a:cs typeface="Gill Sans MT"/>
              </a:rPr>
              <a:t> </a:t>
            </a:r>
            <a:r>
              <a:rPr sz="2000" spc="-65" dirty="0">
                <a:solidFill>
                  <a:srgbClr val="F1EADE"/>
                </a:solidFill>
                <a:latin typeface="Gill Sans MT"/>
                <a:cs typeface="Gill Sans MT"/>
              </a:rPr>
              <a:t>ID,</a:t>
            </a:r>
            <a:r>
              <a:rPr sz="2000" spc="40" dirty="0">
                <a:solidFill>
                  <a:srgbClr val="F1EADE"/>
                </a:solidFill>
                <a:latin typeface="Gill Sans MT"/>
                <a:cs typeface="Gill Sans MT"/>
              </a:rPr>
              <a:t> </a:t>
            </a:r>
            <a:r>
              <a:rPr sz="2000" dirty="0">
                <a:solidFill>
                  <a:srgbClr val="F1EADE"/>
                </a:solidFill>
                <a:latin typeface="Gill Sans MT"/>
                <a:cs typeface="Gill Sans MT"/>
              </a:rPr>
              <a:t>receives</a:t>
            </a:r>
            <a:r>
              <a:rPr sz="2000" spc="40" dirty="0">
                <a:solidFill>
                  <a:srgbClr val="F1EADE"/>
                </a:solidFill>
                <a:latin typeface="Gill Sans MT"/>
                <a:cs typeface="Gill Sans MT"/>
              </a:rPr>
              <a:t> </a:t>
            </a:r>
            <a:r>
              <a:rPr sz="2000" spc="-55" dirty="0">
                <a:solidFill>
                  <a:srgbClr val="F1EADE"/>
                </a:solidFill>
                <a:latin typeface="Gill Sans MT"/>
                <a:cs typeface="Gill Sans MT"/>
              </a:rPr>
              <a:t>Top-</a:t>
            </a:r>
            <a:r>
              <a:rPr sz="2000" spc="-80" dirty="0">
                <a:solidFill>
                  <a:srgbClr val="F1EADE"/>
                </a:solidFill>
                <a:latin typeface="Gill Sans MT"/>
                <a:cs typeface="Gill Sans MT"/>
              </a:rPr>
              <a:t>N</a:t>
            </a:r>
            <a:r>
              <a:rPr sz="2000" spc="40" dirty="0">
                <a:solidFill>
                  <a:srgbClr val="F1EADE"/>
                </a:solidFill>
                <a:latin typeface="Gill Sans MT"/>
                <a:cs typeface="Gill Sans MT"/>
              </a:rPr>
              <a:t> </a:t>
            </a:r>
            <a:r>
              <a:rPr sz="2000" dirty="0">
                <a:solidFill>
                  <a:srgbClr val="F1EADE"/>
                </a:solidFill>
                <a:latin typeface="Gill Sans MT"/>
                <a:cs typeface="Gill Sans MT"/>
              </a:rPr>
              <a:t>product</a:t>
            </a:r>
            <a:r>
              <a:rPr sz="2000" spc="40" dirty="0">
                <a:solidFill>
                  <a:srgbClr val="F1EADE"/>
                </a:solidFill>
                <a:latin typeface="Gill Sans MT"/>
                <a:cs typeface="Gill Sans MT"/>
              </a:rPr>
              <a:t> </a:t>
            </a:r>
            <a:r>
              <a:rPr sz="2000" spc="45" dirty="0">
                <a:solidFill>
                  <a:srgbClr val="F1EADE"/>
                </a:solidFill>
                <a:latin typeface="Gill Sans MT"/>
                <a:cs typeface="Gill Sans MT"/>
              </a:rPr>
              <a:t>recommendations</a:t>
            </a:r>
            <a:endParaRPr sz="2000" dirty="0">
              <a:latin typeface="Gill Sans MT"/>
              <a:cs typeface="Gill Sans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BCE8ECF-D7C7-B34E-6FC5-90B4C1AB12B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CB89D2F-DE45-5512-EA36-7C05CE522540}"/>
              </a:ext>
            </a:extLst>
          </p:cNvPr>
          <p:cNvSpPr/>
          <p:nvPr/>
        </p:nvSpPr>
        <p:spPr>
          <a:xfrm>
            <a:off x="0" y="-23232"/>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3" name="object 3" descr="$PPTXTitle">
            <a:extLst>
              <a:ext uri="{FF2B5EF4-FFF2-40B4-BE49-F238E27FC236}">
                <a16:creationId xmlns:a16="http://schemas.microsoft.com/office/drawing/2014/main" id="{31F382F9-2C55-F30C-7BB0-057282CC06B1}"/>
              </a:ext>
            </a:extLst>
          </p:cNvPr>
          <p:cNvSpPr txBox="1">
            <a:spLocks noGrp="1"/>
          </p:cNvSpPr>
          <p:nvPr>
            <p:ph type="title"/>
          </p:nvPr>
        </p:nvSpPr>
        <p:spPr>
          <a:xfrm>
            <a:off x="228600" y="723900"/>
            <a:ext cx="11983161" cy="1066629"/>
          </a:xfrm>
          <a:prstGeom prst="rect">
            <a:avLst/>
          </a:prstGeom>
        </p:spPr>
        <p:txBody>
          <a:bodyPr vert="horz" wrap="square" lIns="0" tIns="12700" rIns="0" bIns="0" rtlCol="0">
            <a:spAutoFit/>
          </a:bodyPr>
          <a:lstStyle/>
          <a:p>
            <a:pPr marL="1698625">
              <a:lnSpc>
                <a:spcPct val="100000"/>
              </a:lnSpc>
              <a:spcBef>
                <a:spcPts val="100"/>
              </a:spcBef>
            </a:pPr>
            <a:r>
              <a:rPr lang="en-US" spc="500" dirty="0">
                <a:solidFill>
                  <a:srgbClr val="37403A"/>
                </a:solidFill>
              </a:rPr>
              <a:t>5.1. How it Works:</a:t>
            </a:r>
            <a:endParaRPr spc="400" dirty="0">
              <a:solidFill>
                <a:srgbClr val="37403A"/>
              </a:solidFill>
            </a:endParaRPr>
          </a:p>
        </p:txBody>
      </p:sp>
      <p:sp>
        <p:nvSpPr>
          <p:cNvPr id="4" name="Text 3">
            <a:extLst>
              <a:ext uri="{FF2B5EF4-FFF2-40B4-BE49-F238E27FC236}">
                <a16:creationId xmlns:a16="http://schemas.microsoft.com/office/drawing/2014/main" id="{76E10781-D508-3B8E-9206-4C18EA10CE3D}"/>
              </a:ext>
            </a:extLst>
          </p:cNvPr>
          <p:cNvSpPr/>
          <p:nvPr/>
        </p:nvSpPr>
        <p:spPr>
          <a:xfrm>
            <a:off x="2133600" y="723900"/>
            <a:ext cx="13563600" cy="6393180"/>
          </a:xfrm>
          <a:prstGeom prst="rect">
            <a:avLst/>
          </a:prstGeom>
          <a:noFill/>
          <a:ln/>
        </p:spPr>
        <p:txBody>
          <a:bodyPr wrap="square" rtlCol="0" anchor="ctr"/>
          <a:lstStyle/>
          <a:p>
            <a:pPr marL="228600" indent="-228600">
              <a:spcAft>
                <a:spcPts val="800"/>
              </a:spcAft>
              <a:buSzPct val="100000"/>
              <a:buChar char="•"/>
            </a:pPr>
            <a:r>
              <a:rPr lang="en-US" sz="3600" dirty="0">
                <a:solidFill>
                  <a:srgbClr val="0F172A"/>
                </a:solidFill>
                <a:latin typeface="Garamond" panose="02020404030301010803" pitchFamily="18" charset="0"/>
                <a:ea typeface="Calibri" pitchFamily="34" charset="-122"/>
                <a:cs typeface="Calibri" pitchFamily="34" charset="-120"/>
              </a:rPr>
              <a:t>Notebook 1: load reviews + metadata; merge on parent_asin; clean; export CSV.</a:t>
            </a:r>
            <a:endParaRPr lang="en-US" sz="3600" dirty="0">
              <a:latin typeface="Garamond" panose="02020404030301010803" pitchFamily="18" charset="0"/>
            </a:endParaRPr>
          </a:p>
          <a:p>
            <a:pPr marL="228600" indent="-228600">
              <a:spcAft>
                <a:spcPts val="800"/>
              </a:spcAft>
              <a:buSzPct val="100000"/>
              <a:buChar char="•"/>
            </a:pPr>
            <a:r>
              <a:rPr lang="en-US" sz="3600" dirty="0">
                <a:solidFill>
                  <a:srgbClr val="0F172A"/>
                </a:solidFill>
                <a:latin typeface="Garamond" panose="02020404030301010803" pitchFamily="18" charset="0"/>
                <a:ea typeface="Calibri" pitchFamily="34" charset="-122"/>
                <a:cs typeface="Calibri" pitchFamily="34" charset="-120"/>
              </a:rPr>
              <a:t>Notebook 2: train models; evaluate; run CLI demo.</a:t>
            </a:r>
            <a:endParaRPr lang="en-US" sz="3600" dirty="0">
              <a:latin typeface="Garamond" panose="02020404030301010803" pitchFamily="18" charset="0"/>
            </a:endParaRPr>
          </a:p>
          <a:p>
            <a:pPr marL="228600" indent="-228600">
              <a:spcAft>
                <a:spcPts val="800"/>
              </a:spcAft>
              <a:buSzPct val="100000"/>
              <a:buChar char="•"/>
            </a:pPr>
            <a:r>
              <a:rPr lang="en-US" sz="3600" dirty="0">
                <a:solidFill>
                  <a:srgbClr val="0F172A"/>
                </a:solidFill>
                <a:latin typeface="Garamond" panose="02020404030301010803" pitchFamily="18" charset="0"/>
                <a:ea typeface="Calibri" pitchFamily="34" charset="-122"/>
                <a:cs typeface="Calibri" pitchFamily="34" charset="-120"/>
              </a:rPr>
              <a:t>Time-aware split: hold out each user’s most recent interaction for test.</a:t>
            </a:r>
            <a:endParaRPr lang="en-US" sz="3600" dirty="0">
              <a:latin typeface="Garamond" panose="02020404030301010803" pitchFamily="18" charset="0"/>
            </a:endParaRPr>
          </a:p>
          <a:p>
            <a:pPr marL="228600" indent="-228600">
              <a:spcAft>
                <a:spcPts val="800"/>
              </a:spcAft>
              <a:buSzPct val="100000"/>
              <a:buChar char="•"/>
            </a:pPr>
            <a:r>
              <a:rPr lang="en-US" sz="3600" dirty="0">
                <a:solidFill>
                  <a:srgbClr val="0F172A"/>
                </a:solidFill>
                <a:latin typeface="Garamond" panose="02020404030301010803" pitchFamily="18" charset="0"/>
                <a:ea typeface="Calibri" pitchFamily="34" charset="-122"/>
                <a:cs typeface="Calibri" pitchFamily="34" charset="-120"/>
              </a:rPr>
              <a:t>Exclude previously seen items when generating recommendations.</a:t>
            </a:r>
            <a:endParaRPr lang="en-US" sz="3600" dirty="0">
              <a:latin typeface="Garamond" panose="02020404030301010803" pitchFamily="18" charset="0"/>
            </a:endParaRPr>
          </a:p>
        </p:txBody>
      </p:sp>
    </p:spTree>
    <p:extLst>
      <p:ext uri="{BB962C8B-B14F-4D97-AF65-F5344CB8AC3E}">
        <p14:creationId xmlns:p14="http://schemas.microsoft.com/office/powerpoint/2010/main" val="2736543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710CA2E-CFC4-16EA-C7E6-9F9EFCD58B8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CC9D486-4494-AF48-B323-6A6066016B87}"/>
              </a:ext>
            </a:extLst>
          </p:cNvPr>
          <p:cNvSpPr/>
          <p:nvPr/>
        </p:nvSpPr>
        <p:spPr>
          <a:xfrm>
            <a:off x="0" y="-23232"/>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3" name="object 3" descr="$PPTXTitle">
            <a:extLst>
              <a:ext uri="{FF2B5EF4-FFF2-40B4-BE49-F238E27FC236}">
                <a16:creationId xmlns:a16="http://schemas.microsoft.com/office/drawing/2014/main" id="{629BA92B-F2BB-4D0D-DCA3-FB45AF2A9B53}"/>
              </a:ext>
            </a:extLst>
          </p:cNvPr>
          <p:cNvSpPr txBox="1">
            <a:spLocks noGrp="1"/>
          </p:cNvSpPr>
          <p:nvPr>
            <p:ph type="title"/>
          </p:nvPr>
        </p:nvSpPr>
        <p:spPr>
          <a:xfrm>
            <a:off x="-838200" y="571500"/>
            <a:ext cx="9697161" cy="1066629"/>
          </a:xfrm>
          <a:prstGeom prst="rect">
            <a:avLst/>
          </a:prstGeom>
        </p:spPr>
        <p:txBody>
          <a:bodyPr vert="horz" wrap="square" lIns="0" tIns="12700" rIns="0" bIns="0" rtlCol="0">
            <a:spAutoFit/>
          </a:bodyPr>
          <a:lstStyle/>
          <a:p>
            <a:pPr marL="1698625">
              <a:lnSpc>
                <a:spcPct val="100000"/>
              </a:lnSpc>
              <a:spcBef>
                <a:spcPts val="100"/>
              </a:spcBef>
            </a:pPr>
            <a:r>
              <a:rPr lang="en-US" sz="4000" b="1" spc="400" dirty="0">
                <a:solidFill>
                  <a:srgbClr val="37403A"/>
                </a:solidFill>
              </a:rPr>
              <a:t>5.1.1. Demo</a:t>
            </a:r>
            <a:r>
              <a:rPr lang="en-US" b="1" spc="400" dirty="0">
                <a:solidFill>
                  <a:srgbClr val="37403A"/>
                </a:solidFill>
              </a:rPr>
              <a:t>:</a:t>
            </a:r>
            <a:endParaRPr b="1" spc="400" dirty="0">
              <a:solidFill>
                <a:srgbClr val="37403A"/>
              </a:solidFill>
            </a:endParaRPr>
          </a:p>
        </p:txBody>
      </p:sp>
      <p:pic>
        <p:nvPicPr>
          <p:cNvPr id="5" name="Picture 4">
            <a:extLst>
              <a:ext uri="{FF2B5EF4-FFF2-40B4-BE49-F238E27FC236}">
                <a16:creationId xmlns:a16="http://schemas.microsoft.com/office/drawing/2014/main" id="{6757DF69-ED8A-B514-45CE-45CB1AB524D6}"/>
              </a:ext>
            </a:extLst>
          </p:cNvPr>
          <p:cNvPicPr>
            <a:picLocks noChangeAspect="1"/>
          </p:cNvPicPr>
          <p:nvPr/>
        </p:nvPicPr>
        <p:blipFill>
          <a:blip r:embed="rId2"/>
          <a:srcRect l="917" t="41285" r="-917" b="-217"/>
          <a:stretch>
            <a:fillRect/>
          </a:stretch>
        </p:blipFill>
        <p:spPr>
          <a:xfrm>
            <a:off x="4216851" y="181122"/>
            <a:ext cx="14071149" cy="9924756"/>
          </a:xfrm>
          <a:prstGeom prst="rect">
            <a:avLst/>
          </a:prstGeom>
        </p:spPr>
      </p:pic>
    </p:spTree>
    <p:extLst>
      <p:ext uri="{BB962C8B-B14F-4D97-AF65-F5344CB8AC3E}">
        <p14:creationId xmlns:p14="http://schemas.microsoft.com/office/powerpoint/2010/main" val="2754911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05C1A-6FE6-DC45-7B4F-E25BED4B68B7}"/>
            </a:ext>
          </a:extLst>
        </p:cNvPr>
        <p:cNvGrpSpPr/>
        <p:nvPr/>
      </p:nvGrpSpPr>
      <p:grpSpPr>
        <a:xfrm>
          <a:off x="0" y="0"/>
          <a:ext cx="0" cy="0"/>
          <a:chOff x="0" y="0"/>
          <a:chExt cx="0" cy="0"/>
        </a:xfrm>
      </p:grpSpPr>
      <p:sp>
        <p:nvSpPr>
          <p:cNvPr id="4" name="object 4" descr="$PPTXTitle">
            <a:extLst>
              <a:ext uri="{FF2B5EF4-FFF2-40B4-BE49-F238E27FC236}">
                <a16:creationId xmlns:a16="http://schemas.microsoft.com/office/drawing/2014/main" id="{A21C3476-519B-8373-DAB1-1E7154B8C253}"/>
              </a:ext>
            </a:extLst>
          </p:cNvPr>
          <p:cNvSpPr txBox="1">
            <a:spLocks noGrp="1"/>
          </p:cNvSpPr>
          <p:nvPr>
            <p:ph type="title"/>
          </p:nvPr>
        </p:nvSpPr>
        <p:spPr>
          <a:xfrm>
            <a:off x="4343400" y="4030484"/>
            <a:ext cx="15697200" cy="1086067"/>
          </a:xfrm>
          <a:prstGeom prst="rect">
            <a:avLst/>
          </a:prstGeom>
        </p:spPr>
        <p:txBody>
          <a:bodyPr vert="horz" wrap="square" lIns="0" tIns="185420" rIns="0" bIns="0" rtlCol="0">
            <a:spAutoFit/>
          </a:bodyPr>
          <a:lstStyle/>
          <a:p>
            <a:pPr marL="2280920" marR="5080" indent="-2268855">
              <a:lnSpc>
                <a:spcPts val="6800"/>
              </a:lnSpc>
              <a:spcBef>
                <a:spcPts val="1460"/>
              </a:spcBef>
            </a:pPr>
            <a:r>
              <a:rPr lang="en-US" spc="-295" dirty="0"/>
              <a:t>Comparison Of  Methods</a:t>
            </a:r>
            <a:endParaRPr spc="400" dirty="0"/>
          </a:p>
        </p:txBody>
      </p:sp>
    </p:spTree>
    <p:extLst>
      <p:ext uri="{BB962C8B-B14F-4D97-AF65-F5344CB8AC3E}">
        <p14:creationId xmlns:p14="http://schemas.microsoft.com/office/powerpoint/2010/main" val="1916250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3" name="object 3" descr="$PPTXTitle"/>
          <p:cNvSpPr txBox="1">
            <a:spLocks noGrp="1"/>
          </p:cNvSpPr>
          <p:nvPr>
            <p:ph type="title"/>
          </p:nvPr>
        </p:nvSpPr>
        <p:spPr>
          <a:prstGeom prst="rect">
            <a:avLst/>
          </a:prstGeom>
        </p:spPr>
        <p:txBody>
          <a:bodyPr vert="horz" wrap="square" lIns="0" tIns="12700" rIns="0" bIns="0" rtlCol="0">
            <a:spAutoFit/>
          </a:bodyPr>
          <a:lstStyle/>
          <a:p>
            <a:pPr marL="1892935">
              <a:lnSpc>
                <a:spcPct val="100000"/>
              </a:lnSpc>
              <a:spcBef>
                <a:spcPts val="100"/>
              </a:spcBef>
            </a:pPr>
            <a:r>
              <a:rPr lang="en-US" spc="400" dirty="0">
                <a:solidFill>
                  <a:srgbClr val="37403A"/>
                </a:solidFill>
              </a:rPr>
              <a:t>6. </a:t>
            </a:r>
            <a:r>
              <a:rPr spc="400" dirty="0">
                <a:solidFill>
                  <a:srgbClr val="37403A"/>
                </a:solidFill>
              </a:rPr>
              <a:t>Models</a:t>
            </a:r>
            <a:r>
              <a:rPr spc="-15" dirty="0">
                <a:solidFill>
                  <a:srgbClr val="37403A"/>
                </a:solidFill>
              </a:rPr>
              <a:t> </a:t>
            </a:r>
            <a:r>
              <a:rPr spc="490" dirty="0">
                <a:solidFill>
                  <a:srgbClr val="37403A"/>
                </a:solidFill>
              </a:rPr>
              <a:t>Implemented</a:t>
            </a:r>
          </a:p>
        </p:txBody>
      </p:sp>
      <p:sp>
        <p:nvSpPr>
          <p:cNvPr id="6" name="object 6"/>
          <p:cNvSpPr/>
          <p:nvPr/>
        </p:nvSpPr>
        <p:spPr>
          <a:xfrm>
            <a:off x="12628639" y="4711870"/>
            <a:ext cx="584200" cy="582930"/>
          </a:xfrm>
          <a:custGeom>
            <a:avLst/>
            <a:gdLst/>
            <a:ahLst/>
            <a:cxnLst/>
            <a:rect l="l" t="t" r="r" b="b"/>
            <a:pathLst>
              <a:path w="584200" h="582929">
                <a:moveTo>
                  <a:pt x="183057" y="474091"/>
                </a:moveTo>
                <a:lnTo>
                  <a:pt x="163271" y="474091"/>
                </a:lnTo>
                <a:lnTo>
                  <a:pt x="163271" y="483984"/>
                </a:lnTo>
                <a:lnTo>
                  <a:pt x="183057" y="483984"/>
                </a:lnTo>
                <a:lnTo>
                  <a:pt x="183057" y="474091"/>
                </a:lnTo>
                <a:close/>
              </a:path>
              <a:path w="584200" h="582929">
                <a:moveTo>
                  <a:pt x="326517" y="234950"/>
                </a:moveTo>
                <a:lnTo>
                  <a:pt x="324307" y="232410"/>
                </a:lnTo>
                <a:lnTo>
                  <a:pt x="316623" y="232410"/>
                </a:lnTo>
                <a:lnTo>
                  <a:pt x="316623" y="242570"/>
                </a:lnTo>
                <a:lnTo>
                  <a:pt x="316623" y="261620"/>
                </a:lnTo>
                <a:lnTo>
                  <a:pt x="296837" y="261620"/>
                </a:lnTo>
                <a:lnTo>
                  <a:pt x="296837" y="242570"/>
                </a:lnTo>
                <a:lnTo>
                  <a:pt x="316623" y="242570"/>
                </a:lnTo>
                <a:lnTo>
                  <a:pt x="316623" y="232410"/>
                </a:lnTo>
                <a:lnTo>
                  <a:pt x="289153" y="232410"/>
                </a:lnTo>
                <a:lnTo>
                  <a:pt x="286943" y="234950"/>
                </a:lnTo>
                <a:lnTo>
                  <a:pt x="286943" y="269240"/>
                </a:lnTo>
                <a:lnTo>
                  <a:pt x="289153" y="271780"/>
                </a:lnTo>
                <a:lnTo>
                  <a:pt x="324307" y="271780"/>
                </a:lnTo>
                <a:lnTo>
                  <a:pt x="326517" y="269240"/>
                </a:lnTo>
                <a:lnTo>
                  <a:pt x="326517" y="261620"/>
                </a:lnTo>
                <a:lnTo>
                  <a:pt x="326517" y="242570"/>
                </a:lnTo>
                <a:lnTo>
                  <a:pt x="326517" y="234950"/>
                </a:lnTo>
                <a:close/>
              </a:path>
              <a:path w="584200" h="582929">
                <a:moveTo>
                  <a:pt x="361149" y="573036"/>
                </a:moveTo>
                <a:lnTo>
                  <a:pt x="341363" y="573036"/>
                </a:lnTo>
                <a:lnTo>
                  <a:pt x="341363" y="582930"/>
                </a:lnTo>
                <a:lnTo>
                  <a:pt x="361149" y="582930"/>
                </a:lnTo>
                <a:lnTo>
                  <a:pt x="361149" y="573036"/>
                </a:lnTo>
                <a:close/>
              </a:path>
              <a:path w="584200" h="582929">
                <a:moveTo>
                  <a:pt x="375996" y="234950"/>
                </a:moveTo>
                <a:lnTo>
                  <a:pt x="373773" y="232410"/>
                </a:lnTo>
                <a:lnTo>
                  <a:pt x="366090" y="232410"/>
                </a:lnTo>
                <a:lnTo>
                  <a:pt x="366090" y="242570"/>
                </a:lnTo>
                <a:lnTo>
                  <a:pt x="366090" y="261620"/>
                </a:lnTo>
                <a:lnTo>
                  <a:pt x="346303" y="261620"/>
                </a:lnTo>
                <a:lnTo>
                  <a:pt x="346303" y="242570"/>
                </a:lnTo>
                <a:lnTo>
                  <a:pt x="366090" y="242570"/>
                </a:lnTo>
                <a:lnTo>
                  <a:pt x="366090" y="232410"/>
                </a:lnTo>
                <a:lnTo>
                  <a:pt x="338632" y="232410"/>
                </a:lnTo>
                <a:lnTo>
                  <a:pt x="336410" y="234950"/>
                </a:lnTo>
                <a:lnTo>
                  <a:pt x="336410" y="269240"/>
                </a:lnTo>
                <a:lnTo>
                  <a:pt x="338632" y="271780"/>
                </a:lnTo>
                <a:lnTo>
                  <a:pt x="373773" y="271780"/>
                </a:lnTo>
                <a:lnTo>
                  <a:pt x="375996" y="269240"/>
                </a:lnTo>
                <a:lnTo>
                  <a:pt x="375996" y="261620"/>
                </a:lnTo>
                <a:lnTo>
                  <a:pt x="375996" y="242570"/>
                </a:lnTo>
                <a:lnTo>
                  <a:pt x="375996" y="234950"/>
                </a:lnTo>
                <a:close/>
              </a:path>
              <a:path w="584200" h="582929">
                <a:moveTo>
                  <a:pt x="415569" y="306070"/>
                </a:moveTo>
                <a:lnTo>
                  <a:pt x="415493" y="196850"/>
                </a:lnTo>
                <a:lnTo>
                  <a:pt x="415467" y="167640"/>
                </a:lnTo>
                <a:lnTo>
                  <a:pt x="415467" y="162560"/>
                </a:lnTo>
                <a:lnTo>
                  <a:pt x="414210" y="157480"/>
                </a:lnTo>
                <a:lnTo>
                  <a:pt x="405676" y="122910"/>
                </a:lnTo>
                <a:lnTo>
                  <a:pt x="405676" y="167640"/>
                </a:lnTo>
                <a:lnTo>
                  <a:pt x="405676" y="172720"/>
                </a:lnTo>
                <a:lnTo>
                  <a:pt x="405676" y="196850"/>
                </a:lnTo>
                <a:lnTo>
                  <a:pt x="405676" y="306070"/>
                </a:lnTo>
                <a:lnTo>
                  <a:pt x="257263" y="306070"/>
                </a:lnTo>
                <a:lnTo>
                  <a:pt x="257263" y="242570"/>
                </a:lnTo>
                <a:lnTo>
                  <a:pt x="257263" y="234950"/>
                </a:lnTo>
                <a:lnTo>
                  <a:pt x="255041" y="232410"/>
                </a:lnTo>
                <a:lnTo>
                  <a:pt x="247357" y="232410"/>
                </a:lnTo>
                <a:lnTo>
                  <a:pt x="247357" y="242570"/>
                </a:lnTo>
                <a:lnTo>
                  <a:pt x="247357" y="306070"/>
                </a:lnTo>
                <a:lnTo>
                  <a:pt x="217678" y="306070"/>
                </a:lnTo>
                <a:lnTo>
                  <a:pt x="217678" y="242570"/>
                </a:lnTo>
                <a:lnTo>
                  <a:pt x="247357" y="242570"/>
                </a:lnTo>
                <a:lnTo>
                  <a:pt x="247357" y="232410"/>
                </a:lnTo>
                <a:lnTo>
                  <a:pt x="210007" y="232410"/>
                </a:lnTo>
                <a:lnTo>
                  <a:pt x="207784" y="234950"/>
                </a:lnTo>
                <a:lnTo>
                  <a:pt x="207784" y="306070"/>
                </a:lnTo>
                <a:lnTo>
                  <a:pt x="178104" y="306070"/>
                </a:lnTo>
                <a:lnTo>
                  <a:pt x="178104" y="196850"/>
                </a:lnTo>
                <a:lnTo>
                  <a:pt x="183261" y="201930"/>
                </a:lnTo>
                <a:lnTo>
                  <a:pt x="189204" y="204470"/>
                </a:lnTo>
                <a:lnTo>
                  <a:pt x="195770" y="207010"/>
                </a:lnTo>
                <a:lnTo>
                  <a:pt x="202844" y="207010"/>
                </a:lnTo>
                <a:lnTo>
                  <a:pt x="211950" y="205740"/>
                </a:lnTo>
                <a:lnTo>
                  <a:pt x="220141" y="203200"/>
                </a:lnTo>
                <a:lnTo>
                  <a:pt x="227101" y="198120"/>
                </a:lnTo>
                <a:lnTo>
                  <a:pt x="232524" y="190500"/>
                </a:lnTo>
                <a:lnTo>
                  <a:pt x="237947" y="198120"/>
                </a:lnTo>
                <a:lnTo>
                  <a:pt x="244906" y="203200"/>
                </a:lnTo>
                <a:lnTo>
                  <a:pt x="253098" y="205740"/>
                </a:lnTo>
                <a:lnTo>
                  <a:pt x="262204" y="207010"/>
                </a:lnTo>
                <a:lnTo>
                  <a:pt x="271310" y="205740"/>
                </a:lnTo>
                <a:lnTo>
                  <a:pt x="279501" y="203200"/>
                </a:lnTo>
                <a:lnTo>
                  <a:pt x="286461" y="198120"/>
                </a:lnTo>
                <a:lnTo>
                  <a:pt x="291884" y="190500"/>
                </a:lnTo>
                <a:lnTo>
                  <a:pt x="297307" y="198120"/>
                </a:lnTo>
                <a:lnTo>
                  <a:pt x="304279" y="203200"/>
                </a:lnTo>
                <a:lnTo>
                  <a:pt x="312470" y="205740"/>
                </a:lnTo>
                <a:lnTo>
                  <a:pt x="321576" y="207010"/>
                </a:lnTo>
                <a:lnTo>
                  <a:pt x="330682" y="205740"/>
                </a:lnTo>
                <a:lnTo>
                  <a:pt x="338874" y="203200"/>
                </a:lnTo>
                <a:lnTo>
                  <a:pt x="345833" y="198120"/>
                </a:lnTo>
                <a:lnTo>
                  <a:pt x="351256" y="190500"/>
                </a:lnTo>
                <a:lnTo>
                  <a:pt x="356679" y="198120"/>
                </a:lnTo>
                <a:lnTo>
                  <a:pt x="363639" y="203200"/>
                </a:lnTo>
                <a:lnTo>
                  <a:pt x="371830" y="205740"/>
                </a:lnTo>
                <a:lnTo>
                  <a:pt x="380936" y="207010"/>
                </a:lnTo>
                <a:lnTo>
                  <a:pt x="388010" y="207010"/>
                </a:lnTo>
                <a:lnTo>
                  <a:pt x="394576" y="204470"/>
                </a:lnTo>
                <a:lnTo>
                  <a:pt x="400519" y="201930"/>
                </a:lnTo>
                <a:lnTo>
                  <a:pt x="404380" y="198120"/>
                </a:lnTo>
                <a:lnTo>
                  <a:pt x="405676" y="196850"/>
                </a:lnTo>
                <a:lnTo>
                  <a:pt x="405676" y="172720"/>
                </a:lnTo>
                <a:lnTo>
                  <a:pt x="403733" y="182880"/>
                </a:lnTo>
                <a:lnTo>
                  <a:pt x="398424" y="190500"/>
                </a:lnTo>
                <a:lnTo>
                  <a:pt x="390550" y="195580"/>
                </a:lnTo>
                <a:lnTo>
                  <a:pt x="380936" y="198120"/>
                </a:lnTo>
                <a:lnTo>
                  <a:pt x="371322" y="195580"/>
                </a:lnTo>
                <a:lnTo>
                  <a:pt x="363448" y="190500"/>
                </a:lnTo>
                <a:lnTo>
                  <a:pt x="358140" y="182880"/>
                </a:lnTo>
                <a:lnTo>
                  <a:pt x="356196" y="172720"/>
                </a:lnTo>
                <a:lnTo>
                  <a:pt x="356196" y="167640"/>
                </a:lnTo>
                <a:lnTo>
                  <a:pt x="405676" y="167640"/>
                </a:lnTo>
                <a:lnTo>
                  <a:pt x="405676" y="122910"/>
                </a:lnTo>
                <a:lnTo>
                  <a:pt x="404279" y="117259"/>
                </a:lnTo>
                <a:lnTo>
                  <a:pt x="404279" y="157480"/>
                </a:lnTo>
                <a:lnTo>
                  <a:pt x="356196" y="157480"/>
                </a:lnTo>
                <a:lnTo>
                  <a:pt x="356196" y="88900"/>
                </a:lnTo>
                <a:lnTo>
                  <a:pt x="386969" y="88900"/>
                </a:lnTo>
                <a:lnTo>
                  <a:pt x="404279" y="157480"/>
                </a:lnTo>
                <a:lnTo>
                  <a:pt x="404279" y="117259"/>
                </a:lnTo>
                <a:lnTo>
                  <a:pt x="397281" y="88900"/>
                </a:lnTo>
                <a:lnTo>
                  <a:pt x="395084" y="80010"/>
                </a:lnTo>
                <a:lnTo>
                  <a:pt x="393103" y="78740"/>
                </a:lnTo>
                <a:lnTo>
                  <a:pt x="346303" y="78740"/>
                </a:lnTo>
                <a:lnTo>
                  <a:pt x="346303" y="88900"/>
                </a:lnTo>
                <a:lnTo>
                  <a:pt x="346303" y="157480"/>
                </a:lnTo>
                <a:lnTo>
                  <a:pt x="346303" y="167640"/>
                </a:lnTo>
                <a:lnTo>
                  <a:pt x="346303" y="172720"/>
                </a:lnTo>
                <a:lnTo>
                  <a:pt x="344360" y="182880"/>
                </a:lnTo>
                <a:lnTo>
                  <a:pt x="339051" y="190500"/>
                </a:lnTo>
                <a:lnTo>
                  <a:pt x="331190" y="195580"/>
                </a:lnTo>
                <a:lnTo>
                  <a:pt x="321576" y="198120"/>
                </a:lnTo>
                <a:lnTo>
                  <a:pt x="311962" y="195580"/>
                </a:lnTo>
                <a:lnTo>
                  <a:pt x="304088" y="190500"/>
                </a:lnTo>
                <a:lnTo>
                  <a:pt x="298780" y="182880"/>
                </a:lnTo>
                <a:lnTo>
                  <a:pt x="296837" y="172720"/>
                </a:lnTo>
                <a:lnTo>
                  <a:pt x="296837" y="167640"/>
                </a:lnTo>
                <a:lnTo>
                  <a:pt x="346303" y="167640"/>
                </a:lnTo>
                <a:lnTo>
                  <a:pt x="346303" y="157480"/>
                </a:lnTo>
                <a:lnTo>
                  <a:pt x="296837" y="157480"/>
                </a:lnTo>
                <a:lnTo>
                  <a:pt x="296837" y="88900"/>
                </a:lnTo>
                <a:lnTo>
                  <a:pt x="346303" y="88900"/>
                </a:lnTo>
                <a:lnTo>
                  <a:pt x="346303" y="78740"/>
                </a:lnTo>
                <a:lnTo>
                  <a:pt x="286943" y="78740"/>
                </a:lnTo>
                <a:lnTo>
                  <a:pt x="286943" y="88900"/>
                </a:lnTo>
                <a:lnTo>
                  <a:pt x="286943" y="157480"/>
                </a:lnTo>
                <a:lnTo>
                  <a:pt x="286943" y="167640"/>
                </a:lnTo>
                <a:lnTo>
                  <a:pt x="286943" y="172720"/>
                </a:lnTo>
                <a:lnTo>
                  <a:pt x="285000" y="182880"/>
                </a:lnTo>
                <a:lnTo>
                  <a:pt x="279692" y="190500"/>
                </a:lnTo>
                <a:lnTo>
                  <a:pt x="271818" y="195580"/>
                </a:lnTo>
                <a:lnTo>
                  <a:pt x="262204" y="198120"/>
                </a:lnTo>
                <a:lnTo>
                  <a:pt x="252590" y="195580"/>
                </a:lnTo>
                <a:lnTo>
                  <a:pt x="244716" y="190500"/>
                </a:lnTo>
                <a:lnTo>
                  <a:pt x="239407" y="182880"/>
                </a:lnTo>
                <a:lnTo>
                  <a:pt x="237464" y="172720"/>
                </a:lnTo>
                <a:lnTo>
                  <a:pt x="237464" y="167640"/>
                </a:lnTo>
                <a:lnTo>
                  <a:pt x="286943" y="167640"/>
                </a:lnTo>
                <a:lnTo>
                  <a:pt x="286943" y="157480"/>
                </a:lnTo>
                <a:lnTo>
                  <a:pt x="237477" y="157480"/>
                </a:lnTo>
                <a:lnTo>
                  <a:pt x="237477" y="88900"/>
                </a:lnTo>
                <a:lnTo>
                  <a:pt x="286943" y="88900"/>
                </a:lnTo>
                <a:lnTo>
                  <a:pt x="286943" y="78740"/>
                </a:lnTo>
                <a:lnTo>
                  <a:pt x="227571" y="78740"/>
                </a:lnTo>
                <a:lnTo>
                  <a:pt x="227571" y="88900"/>
                </a:lnTo>
                <a:lnTo>
                  <a:pt x="227571" y="157480"/>
                </a:lnTo>
                <a:lnTo>
                  <a:pt x="227571" y="167640"/>
                </a:lnTo>
                <a:lnTo>
                  <a:pt x="227571" y="172720"/>
                </a:lnTo>
                <a:lnTo>
                  <a:pt x="225628" y="182880"/>
                </a:lnTo>
                <a:lnTo>
                  <a:pt x="220319" y="190500"/>
                </a:lnTo>
                <a:lnTo>
                  <a:pt x="212458" y="195580"/>
                </a:lnTo>
                <a:lnTo>
                  <a:pt x="202844" y="198120"/>
                </a:lnTo>
                <a:lnTo>
                  <a:pt x="198031" y="196850"/>
                </a:lnTo>
                <a:lnTo>
                  <a:pt x="193230" y="195580"/>
                </a:lnTo>
                <a:lnTo>
                  <a:pt x="185356" y="190500"/>
                </a:lnTo>
                <a:lnTo>
                  <a:pt x="180047" y="182880"/>
                </a:lnTo>
                <a:lnTo>
                  <a:pt x="178104" y="172720"/>
                </a:lnTo>
                <a:lnTo>
                  <a:pt x="178104" y="167640"/>
                </a:lnTo>
                <a:lnTo>
                  <a:pt x="227571" y="167640"/>
                </a:lnTo>
                <a:lnTo>
                  <a:pt x="227571" y="157480"/>
                </a:lnTo>
                <a:lnTo>
                  <a:pt x="179489" y="157480"/>
                </a:lnTo>
                <a:lnTo>
                  <a:pt x="196811" y="88900"/>
                </a:lnTo>
                <a:lnTo>
                  <a:pt x="227571" y="88900"/>
                </a:lnTo>
                <a:lnTo>
                  <a:pt x="227571" y="78740"/>
                </a:lnTo>
                <a:lnTo>
                  <a:pt x="190677" y="78740"/>
                </a:lnTo>
                <a:lnTo>
                  <a:pt x="188696" y="80010"/>
                </a:lnTo>
                <a:lnTo>
                  <a:pt x="168351" y="161290"/>
                </a:lnTo>
                <a:lnTo>
                  <a:pt x="168313" y="162560"/>
                </a:lnTo>
                <a:lnTo>
                  <a:pt x="168211" y="313690"/>
                </a:lnTo>
                <a:lnTo>
                  <a:pt x="170421" y="316230"/>
                </a:lnTo>
                <a:lnTo>
                  <a:pt x="413346" y="316230"/>
                </a:lnTo>
                <a:lnTo>
                  <a:pt x="415569" y="313690"/>
                </a:lnTo>
                <a:lnTo>
                  <a:pt x="415569" y="306070"/>
                </a:lnTo>
                <a:close/>
              </a:path>
              <a:path w="584200" h="582929">
                <a:moveTo>
                  <a:pt x="494728" y="368300"/>
                </a:moveTo>
                <a:lnTo>
                  <a:pt x="492506" y="365760"/>
                </a:lnTo>
                <a:lnTo>
                  <a:pt x="484822" y="365760"/>
                </a:lnTo>
                <a:lnTo>
                  <a:pt x="484822" y="375920"/>
                </a:lnTo>
                <a:lnTo>
                  <a:pt x="484822" y="405130"/>
                </a:lnTo>
                <a:lnTo>
                  <a:pt x="455142" y="405130"/>
                </a:lnTo>
                <a:lnTo>
                  <a:pt x="455142" y="375920"/>
                </a:lnTo>
                <a:lnTo>
                  <a:pt x="484822" y="375920"/>
                </a:lnTo>
                <a:lnTo>
                  <a:pt x="484822" y="365760"/>
                </a:lnTo>
                <a:lnTo>
                  <a:pt x="447471" y="365760"/>
                </a:lnTo>
                <a:lnTo>
                  <a:pt x="445249" y="368300"/>
                </a:lnTo>
                <a:lnTo>
                  <a:pt x="445249" y="412750"/>
                </a:lnTo>
                <a:lnTo>
                  <a:pt x="447471" y="415290"/>
                </a:lnTo>
                <a:lnTo>
                  <a:pt x="492506" y="415290"/>
                </a:lnTo>
                <a:lnTo>
                  <a:pt x="494728" y="412750"/>
                </a:lnTo>
                <a:lnTo>
                  <a:pt x="494728" y="405130"/>
                </a:lnTo>
                <a:lnTo>
                  <a:pt x="494728" y="375920"/>
                </a:lnTo>
                <a:lnTo>
                  <a:pt x="494728" y="368300"/>
                </a:lnTo>
                <a:close/>
              </a:path>
              <a:path w="584200" h="582929">
                <a:moveTo>
                  <a:pt x="539254" y="573036"/>
                </a:moveTo>
                <a:lnTo>
                  <a:pt x="519468" y="573036"/>
                </a:lnTo>
                <a:lnTo>
                  <a:pt x="519468" y="582930"/>
                </a:lnTo>
                <a:lnTo>
                  <a:pt x="539254" y="582930"/>
                </a:lnTo>
                <a:lnTo>
                  <a:pt x="539254" y="573036"/>
                </a:lnTo>
                <a:close/>
              </a:path>
              <a:path w="584200" h="582929">
                <a:moveTo>
                  <a:pt x="583768" y="391160"/>
                </a:moveTo>
                <a:lnTo>
                  <a:pt x="575856" y="347980"/>
                </a:lnTo>
                <a:lnTo>
                  <a:pt x="573874" y="344868"/>
                </a:lnTo>
                <a:lnTo>
                  <a:pt x="573874" y="391160"/>
                </a:lnTo>
                <a:lnTo>
                  <a:pt x="567969" y="425450"/>
                </a:lnTo>
                <a:lnTo>
                  <a:pt x="551434" y="454660"/>
                </a:lnTo>
                <a:lnTo>
                  <a:pt x="526008" y="477520"/>
                </a:lnTo>
                <a:lnTo>
                  <a:pt x="493483" y="491490"/>
                </a:lnTo>
                <a:lnTo>
                  <a:pt x="491756" y="492760"/>
                </a:lnTo>
                <a:lnTo>
                  <a:pt x="490372" y="494030"/>
                </a:lnTo>
                <a:lnTo>
                  <a:pt x="469988" y="561340"/>
                </a:lnTo>
                <a:lnTo>
                  <a:pt x="449592" y="494030"/>
                </a:lnTo>
                <a:lnTo>
                  <a:pt x="448208" y="492760"/>
                </a:lnTo>
                <a:lnTo>
                  <a:pt x="446493" y="491490"/>
                </a:lnTo>
                <a:lnTo>
                  <a:pt x="414096" y="478790"/>
                </a:lnTo>
                <a:lnTo>
                  <a:pt x="388747" y="455930"/>
                </a:lnTo>
                <a:lnTo>
                  <a:pt x="372173" y="425450"/>
                </a:lnTo>
                <a:lnTo>
                  <a:pt x="367220" y="397510"/>
                </a:lnTo>
                <a:lnTo>
                  <a:pt x="366102" y="391160"/>
                </a:lnTo>
                <a:lnTo>
                  <a:pt x="374205" y="387350"/>
                </a:lnTo>
                <a:lnTo>
                  <a:pt x="382104" y="384810"/>
                </a:lnTo>
                <a:lnTo>
                  <a:pt x="389788" y="379730"/>
                </a:lnTo>
                <a:lnTo>
                  <a:pt x="397256" y="375920"/>
                </a:lnTo>
                <a:lnTo>
                  <a:pt x="396278" y="381000"/>
                </a:lnTo>
                <a:lnTo>
                  <a:pt x="396151" y="382270"/>
                </a:lnTo>
                <a:lnTo>
                  <a:pt x="396036" y="383540"/>
                </a:lnTo>
                <a:lnTo>
                  <a:pt x="395909" y="384810"/>
                </a:lnTo>
                <a:lnTo>
                  <a:pt x="395782" y="391160"/>
                </a:lnTo>
                <a:lnTo>
                  <a:pt x="401624" y="419100"/>
                </a:lnTo>
                <a:lnTo>
                  <a:pt x="417537" y="443230"/>
                </a:lnTo>
                <a:lnTo>
                  <a:pt x="441134" y="458470"/>
                </a:lnTo>
                <a:lnTo>
                  <a:pt x="469988" y="464820"/>
                </a:lnTo>
                <a:lnTo>
                  <a:pt x="498843" y="458470"/>
                </a:lnTo>
                <a:lnTo>
                  <a:pt x="504748" y="454660"/>
                </a:lnTo>
                <a:lnTo>
                  <a:pt x="522439" y="443230"/>
                </a:lnTo>
                <a:lnTo>
                  <a:pt x="538353" y="419100"/>
                </a:lnTo>
                <a:lnTo>
                  <a:pt x="544195" y="391160"/>
                </a:lnTo>
                <a:lnTo>
                  <a:pt x="538353" y="361950"/>
                </a:lnTo>
                <a:lnTo>
                  <a:pt x="534301" y="355815"/>
                </a:lnTo>
                <a:lnTo>
                  <a:pt x="534301" y="391160"/>
                </a:lnTo>
                <a:lnTo>
                  <a:pt x="529234" y="415290"/>
                </a:lnTo>
                <a:lnTo>
                  <a:pt x="515442" y="435610"/>
                </a:lnTo>
                <a:lnTo>
                  <a:pt x="494995" y="449580"/>
                </a:lnTo>
                <a:lnTo>
                  <a:pt x="469988" y="454660"/>
                </a:lnTo>
                <a:lnTo>
                  <a:pt x="444982" y="449580"/>
                </a:lnTo>
                <a:lnTo>
                  <a:pt x="424535" y="435610"/>
                </a:lnTo>
                <a:lnTo>
                  <a:pt x="410743" y="415290"/>
                </a:lnTo>
                <a:lnTo>
                  <a:pt x="405676" y="391160"/>
                </a:lnTo>
                <a:lnTo>
                  <a:pt x="405676" y="382270"/>
                </a:lnTo>
                <a:lnTo>
                  <a:pt x="406882" y="375920"/>
                </a:lnTo>
                <a:lnTo>
                  <a:pt x="407123" y="374650"/>
                </a:lnTo>
                <a:lnTo>
                  <a:pt x="409981" y="367030"/>
                </a:lnTo>
                <a:lnTo>
                  <a:pt x="421043" y="359410"/>
                </a:lnTo>
                <a:lnTo>
                  <a:pt x="431457" y="349250"/>
                </a:lnTo>
                <a:lnTo>
                  <a:pt x="441172" y="340360"/>
                </a:lnTo>
                <a:lnTo>
                  <a:pt x="450189" y="328930"/>
                </a:lnTo>
                <a:lnTo>
                  <a:pt x="463334" y="326390"/>
                </a:lnTo>
                <a:lnTo>
                  <a:pt x="469988" y="326390"/>
                </a:lnTo>
                <a:lnTo>
                  <a:pt x="494995" y="331470"/>
                </a:lnTo>
                <a:lnTo>
                  <a:pt x="515442" y="345440"/>
                </a:lnTo>
                <a:lnTo>
                  <a:pt x="529234" y="365760"/>
                </a:lnTo>
                <a:lnTo>
                  <a:pt x="534301" y="391160"/>
                </a:lnTo>
                <a:lnTo>
                  <a:pt x="534301" y="355815"/>
                </a:lnTo>
                <a:lnTo>
                  <a:pt x="522439" y="337820"/>
                </a:lnTo>
                <a:lnTo>
                  <a:pt x="504748" y="326390"/>
                </a:lnTo>
                <a:lnTo>
                  <a:pt x="498843" y="322580"/>
                </a:lnTo>
                <a:lnTo>
                  <a:pt x="475754" y="317500"/>
                </a:lnTo>
                <a:lnTo>
                  <a:pt x="469988" y="316230"/>
                </a:lnTo>
                <a:lnTo>
                  <a:pt x="462838" y="316230"/>
                </a:lnTo>
                <a:lnTo>
                  <a:pt x="459282" y="317500"/>
                </a:lnTo>
                <a:lnTo>
                  <a:pt x="464032" y="309880"/>
                </a:lnTo>
                <a:lnTo>
                  <a:pt x="468490" y="302260"/>
                </a:lnTo>
                <a:lnTo>
                  <a:pt x="472617" y="294640"/>
                </a:lnTo>
                <a:lnTo>
                  <a:pt x="476415" y="287020"/>
                </a:lnTo>
                <a:lnTo>
                  <a:pt x="514807" y="297180"/>
                </a:lnTo>
                <a:lnTo>
                  <a:pt x="545744" y="318770"/>
                </a:lnTo>
                <a:lnTo>
                  <a:pt x="566369" y="351790"/>
                </a:lnTo>
                <a:lnTo>
                  <a:pt x="573874" y="391160"/>
                </a:lnTo>
                <a:lnTo>
                  <a:pt x="573874" y="344868"/>
                </a:lnTo>
                <a:lnTo>
                  <a:pt x="554050" y="313690"/>
                </a:lnTo>
                <a:lnTo>
                  <a:pt x="521271" y="289560"/>
                </a:lnTo>
                <a:lnTo>
                  <a:pt x="513105" y="287020"/>
                </a:lnTo>
                <a:lnTo>
                  <a:pt x="480453" y="276860"/>
                </a:lnTo>
                <a:lnTo>
                  <a:pt x="486587" y="259080"/>
                </a:lnTo>
                <a:lnTo>
                  <a:pt x="491058" y="241300"/>
                </a:lnTo>
                <a:lnTo>
                  <a:pt x="493801" y="222250"/>
                </a:lnTo>
                <a:lnTo>
                  <a:pt x="494042" y="217170"/>
                </a:lnTo>
                <a:lnTo>
                  <a:pt x="494169" y="214630"/>
                </a:lnTo>
                <a:lnTo>
                  <a:pt x="494296" y="212090"/>
                </a:lnTo>
                <a:lnTo>
                  <a:pt x="494423" y="209550"/>
                </a:lnTo>
                <a:lnTo>
                  <a:pt x="494538" y="207010"/>
                </a:lnTo>
                <a:lnTo>
                  <a:pt x="494665" y="204470"/>
                </a:lnTo>
                <a:lnTo>
                  <a:pt x="494728" y="203200"/>
                </a:lnTo>
                <a:lnTo>
                  <a:pt x="489356" y="156210"/>
                </a:lnTo>
                <a:lnTo>
                  <a:pt x="484682" y="143002"/>
                </a:lnTo>
                <a:lnTo>
                  <a:pt x="484682" y="201930"/>
                </a:lnTo>
                <a:lnTo>
                  <a:pt x="484619" y="207010"/>
                </a:lnTo>
                <a:lnTo>
                  <a:pt x="483781" y="222250"/>
                </a:lnTo>
                <a:lnTo>
                  <a:pt x="480733" y="242570"/>
                </a:lnTo>
                <a:lnTo>
                  <a:pt x="475742" y="261620"/>
                </a:lnTo>
                <a:lnTo>
                  <a:pt x="468934" y="279400"/>
                </a:lnTo>
                <a:lnTo>
                  <a:pt x="468693" y="279400"/>
                </a:lnTo>
                <a:lnTo>
                  <a:pt x="463067" y="292100"/>
                </a:lnTo>
                <a:lnTo>
                  <a:pt x="456793" y="302260"/>
                </a:lnTo>
                <a:lnTo>
                  <a:pt x="449795" y="313690"/>
                </a:lnTo>
                <a:lnTo>
                  <a:pt x="442137" y="323850"/>
                </a:lnTo>
                <a:lnTo>
                  <a:pt x="439991" y="326390"/>
                </a:lnTo>
                <a:lnTo>
                  <a:pt x="437756" y="328930"/>
                </a:lnTo>
                <a:lnTo>
                  <a:pt x="433514" y="332740"/>
                </a:lnTo>
                <a:lnTo>
                  <a:pt x="430822" y="336550"/>
                </a:lnTo>
                <a:lnTo>
                  <a:pt x="427329" y="339090"/>
                </a:lnTo>
                <a:lnTo>
                  <a:pt x="424700" y="341630"/>
                </a:lnTo>
                <a:lnTo>
                  <a:pt x="422008" y="344170"/>
                </a:lnTo>
                <a:lnTo>
                  <a:pt x="416864" y="349250"/>
                </a:lnTo>
                <a:lnTo>
                  <a:pt x="414731" y="350520"/>
                </a:lnTo>
                <a:lnTo>
                  <a:pt x="412572" y="353060"/>
                </a:lnTo>
                <a:lnTo>
                  <a:pt x="409917" y="354330"/>
                </a:lnTo>
                <a:lnTo>
                  <a:pt x="408990" y="355600"/>
                </a:lnTo>
                <a:lnTo>
                  <a:pt x="397459" y="363220"/>
                </a:lnTo>
                <a:lnTo>
                  <a:pt x="385356" y="370840"/>
                </a:lnTo>
                <a:lnTo>
                  <a:pt x="372706" y="377190"/>
                </a:lnTo>
                <a:lnTo>
                  <a:pt x="359562" y="383540"/>
                </a:lnTo>
                <a:lnTo>
                  <a:pt x="358711" y="383540"/>
                </a:lnTo>
                <a:lnTo>
                  <a:pt x="356412" y="384810"/>
                </a:lnTo>
                <a:lnTo>
                  <a:pt x="354088" y="384810"/>
                </a:lnTo>
                <a:lnTo>
                  <a:pt x="350240" y="386080"/>
                </a:lnTo>
                <a:lnTo>
                  <a:pt x="349072" y="387350"/>
                </a:lnTo>
                <a:lnTo>
                  <a:pt x="348576" y="388620"/>
                </a:lnTo>
                <a:lnTo>
                  <a:pt x="291884" y="562610"/>
                </a:lnTo>
                <a:lnTo>
                  <a:pt x="234708" y="387350"/>
                </a:lnTo>
                <a:lnTo>
                  <a:pt x="233527" y="386080"/>
                </a:lnTo>
                <a:lnTo>
                  <a:pt x="232029" y="386080"/>
                </a:lnTo>
                <a:lnTo>
                  <a:pt x="219646" y="381000"/>
                </a:lnTo>
                <a:lnTo>
                  <a:pt x="207733" y="375920"/>
                </a:lnTo>
                <a:lnTo>
                  <a:pt x="203161" y="373380"/>
                </a:lnTo>
                <a:lnTo>
                  <a:pt x="196303" y="369570"/>
                </a:lnTo>
                <a:lnTo>
                  <a:pt x="185369" y="363220"/>
                </a:lnTo>
                <a:lnTo>
                  <a:pt x="185026" y="363220"/>
                </a:lnTo>
                <a:lnTo>
                  <a:pt x="175107" y="355600"/>
                </a:lnTo>
                <a:lnTo>
                  <a:pt x="173393" y="354177"/>
                </a:lnTo>
                <a:lnTo>
                  <a:pt x="173393" y="367030"/>
                </a:lnTo>
                <a:lnTo>
                  <a:pt x="165049" y="372110"/>
                </a:lnTo>
                <a:lnTo>
                  <a:pt x="156298" y="377190"/>
                </a:lnTo>
                <a:lnTo>
                  <a:pt x="147193" y="381000"/>
                </a:lnTo>
                <a:lnTo>
                  <a:pt x="137731" y="383540"/>
                </a:lnTo>
                <a:lnTo>
                  <a:pt x="135966" y="383540"/>
                </a:lnTo>
                <a:lnTo>
                  <a:pt x="134581" y="384810"/>
                </a:lnTo>
                <a:lnTo>
                  <a:pt x="113741" y="461010"/>
                </a:lnTo>
                <a:lnTo>
                  <a:pt x="92989" y="384810"/>
                </a:lnTo>
                <a:lnTo>
                  <a:pt x="91592" y="383540"/>
                </a:lnTo>
                <a:lnTo>
                  <a:pt x="89827" y="383540"/>
                </a:lnTo>
                <a:lnTo>
                  <a:pt x="57492" y="369570"/>
                </a:lnTo>
                <a:lnTo>
                  <a:pt x="32219" y="346710"/>
                </a:lnTo>
                <a:lnTo>
                  <a:pt x="15760" y="317500"/>
                </a:lnTo>
                <a:lnTo>
                  <a:pt x="9893" y="281940"/>
                </a:lnTo>
                <a:lnTo>
                  <a:pt x="15836" y="247650"/>
                </a:lnTo>
                <a:lnTo>
                  <a:pt x="32448" y="217170"/>
                </a:lnTo>
                <a:lnTo>
                  <a:pt x="57848" y="194310"/>
                </a:lnTo>
                <a:lnTo>
                  <a:pt x="90182" y="181610"/>
                </a:lnTo>
                <a:lnTo>
                  <a:pt x="89700" y="185420"/>
                </a:lnTo>
                <a:lnTo>
                  <a:pt x="89484" y="189230"/>
                </a:lnTo>
                <a:lnTo>
                  <a:pt x="89408" y="190500"/>
                </a:lnTo>
                <a:lnTo>
                  <a:pt x="89281" y="194310"/>
                </a:lnTo>
                <a:lnTo>
                  <a:pt x="89281" y="212090"/>
                </a:lnTo>
                <a:lnTo>
                  <a:pt x="69088" y="222250"/>
                </a:lnTo>
                <a:lnTo>
                  <a:pt x="53390" y="238760"/>
                </a:lnTo>
                <a:lnTo>
                  <a:pt x="43205" y="259080"/>
                </a:lnTo>
                <a:lnTo>
                  <a:pt x="39585" y="281940"/>
                </a:lnTo>
                <a:lnTo>
                  <a:pt x="45427" y="311150"/>
                </a:lnTo>
                <a:lnTo>
                  <a:pt x="61341" y="334010"/>
                </a:lnTo>
                <a:lnTo>
                  <a:pt x="84937" y="350520"/>
                </a:lnTo>
                <a:lnTo>
                  <a:pt x="113792" y="355600"/>
                </a:lnTo>
                <a:lnTo>
                  <a:pt x="123024" y="355600"/>
                </a:lnTo>
                <a:lnTo>
                  <a:pt x="140843" y="350520"/>
                </a:lnTo>
                <a:lnTo>
                  <a:pt x="149250" y="346710"/>
                </a:lnTo>
                <a:lnTo>
                  <a:pt x="154965" y="351790"/>
                </a:lnTo>
                <a:lnTo>
                  <a:pt x="160896" y="358140"/>
                </a:lnTo>
                <a:lnTo>
                  <a:pt x="167043" y="361950"/>
                </a:lnTo>
                <a:lnTo>
                  <a:pt x="173393" y="367030"/>
                </a:lnTo>
                <a:lnTo>
                  <a:pt x="173393" y="354177"/>
                </a:lnTo>
                <a:lnTo>
                  <a:pt x="165950" y="347980"/>
                </a:lnTo>
                <a:lnTo>
                  <a:pt x="157314" y="340360"/>
                </a:lnTo>
                <a:lnTo>
                  <a:pt x="148526" y="331470"/>
                </a:lnTo>
                <a:lnTo>
                  <a:pt x="146138" y="328930"/>
                </a:lnTo>
                <a:lnTo>
                  <a:pt x="143852" y="326390"/>
                </a:lnTo>
                <a:lnTo>
                  <a:pt x="142087" y="324040"/>
                </a:lnTo>
                <a:lnTo>
                  <a:pt x="142087" y="339090"/>
                </a:lnTo>
                <a:lnTo>
                  <a:pt x="135331" y="342900"/>
                </a:lnTo>
                <a:lnTo>
                  <a:pt x="113792" y="346710"/>
                </a:lnTo>
                <a:lnTo>
                  <a:pt x="88785" y="341630"/>
                </a:lnTo>
                <a:lnTo>
                  <a:pt x="68338" y="327660"/>
                </a:lnTo>
                <a:lnTo>
                  <a:pt x="54546" y="307340"/>
                </a:lnTo>
                <a:lnTo>
                  <a:pt x="49479" y="281940"/>
                </a:lnTo>
                <a:lnTo>
                  <a:pt x="52412" y="262890"/>
                </a:lnTo>
                <a:lnTo>
                  <a:pt x="60693" y="245110"/>
                </a:lnTo>
                <a:lnTo>
                  <a:pt x="73494" y="231140"/>
                </a:lnTo>
                <a:lnTo>
                  <a:pt x="90017" y="222250"/>
                </a:lnTo>
                <a:lnTo>
                  <a:pt x="90551" y="227330"/>
                </a:lnTo>
                <a:lnTo>
                  <a:pt x="91300" y="233680"/>
                </a:lnTo>
                <a:lnTo>
                  <a:pt x="110248" y="293370"/>
                </a:lnTo>
                <a:lnTo>
                  <a:pt x="142087" y="339090"/>
                </a:lnTo>
                <a:lnTo>
                  <a:pt x="142087" y="324040"/>
                </a:lnTo>
                <a:lnTo>
                  <a:pt x="140995" y="322580"/>
                </a:lnTo>
                <a:lnTo>
                  <a:pt x="139776" y="321310"/>
                </a:lnTo>
                <a:lnTo>
                  <a:pt x="138277" y="318770"/>
                </a:lnTo>
                <a:lnTo>
                  <a:pt x="136829" y="317500"/>
                </a:lnTo>
                <a:lnTo>
                  <a:pt x="133781" y="312420"/>
                </a:lnTo>
                <a:lnTo>
                  <a:pt x="131787" y="309880"/>
                </a:lnTo>
                <a:lnTo>
                  <a:pt x="127977" y="303530"/>
                </a:lnTo>
                <a:lnTo>
                  <a:pt x="126542" y="302260"/>
                </a:lnTo>
                <a:lnTo>
                  <a:pt x="123647" y="297180"/>
                </a:lnTo>
                <a:lnTo>
                  <a:pt x="121907" y="293370"/>
                </a:lnTo>
                <a:lnTo>
                  <a:pt x="120916" y="292100"/>
                </a:lnTo>
                <a:lnTo>
                  <a:pt x="118592" y="287020"/>
                </a:lnTo>
                <a:lnTo>
                  <a:pt x="102781" y="240030"/>
                </a:lnTo>
                <a:lnTo>
                  <a:pt x="100152" y="222250"/>
                </a:lnTo>
                <a:lnTo>
                  <a:pt x="99326" y="214630"/>
                </a:lnTo>
                <a:lnTo>
                  <a:pt x="99212" y="212090"/>
                </a:lnTo>
                <a:lnTo>
                  <a:pt x="99174" y="194310"/>
                </a:lnTo>
                <a:lnTo>
                  <a:pt x="99352" y="190500"/>
                </a:lnTo>
                <a:lnTo>
                  <a:pt x="99402" y="189230"/>
                </a:lnTo>
                <a:lnTo>
                  <a:pt x="100012" y="182880"/>
                </a:lnTo>
                <a:lnTo>
                  <a:pt x="100190" y="181610"/>
                </a:lnTo>
                <a:lnTo>
                  <a:pt x="101041" y="175260"/>
                </a:lnTo>
                <a:lnTo>
                  <a:pt x="113195" y="129540"/>
                </a:lnTo>
                <a:lnTo>
                  <a:pt x="135077" y="90170"/>
                </a:lnTo>
                <a:lnTo>
                  <a:pt x="165290" y="57150"/>
                </a:lnTo>
                <a:lnTo>
                  <a:pt x="202412" y="31750"/>
                </a:lnTo>
                <a:lnTo>
                  <a:pt x="245084" y="15240"/>
                </a:lnTo>
                <a:lnTo>
                  <a:pt x="291884" y="10160"/>
                </a:lnTo>
                <a:lnTo>
                  <a:pt x="336067" y="15240"/>
                </a:lnTo>
                <a:lnTo>
                  <a:pt x="376656" y="29210"/>
                </a:lnTo>
                <a:lnTo>
                  <a:pt x="412483" y="52070"/>
                </a:lnTo>
                <a:lnTo>
                  <a:pt x="442379" y="82550"/>
                </a:lnTo>
                <a:lnTo>
                  <a:pt x="465188" y="118110"/>
                </a:lnTo>
                <a:lnTo>
                  <a:pt x="479717" y="158750"/>
                </a:lnTo>
                <a:lnTo>
                  <a:pt x="484682" y="201930"/>
                </a:lnTo>
                <a:lnTo>
                  <a:pt x="484682" y="143002"/>
                </a:lnTo>
                <a:lnTo>
                  <a:pt x="450113" y="76200"/>
                </a:lnTo>
                <a:lnTo>
                  <a:pt x="418680" y="44450"/>
                </a:lnTo>
                <a:lnTo>
                  <a:pt x="381012" y="20320"/>
                </a:lnTo>
                <a:lnTo>
                  <a:pt x="352564" y="10160"/>
                </a:lnTo>
                <a:lnTo>
                  <a:pt x="338340" y="5080"/>
                </a:lnTo>
                <a:lnTo>
                  <a:pt x="291884" y="0"/>
                </a:lnTo>
                <a:lnTo>
                  <a:pt x="243001" y="6350"/>
                </a:lnTo>
                <a:lnTo>
                  <a:pt x="198412" y="22860"/>
                </a:lnTo>
                <a:lnTo>
                  <a:pt x="159524" y="49530"/>
                </a:lnTo>
                <a:lnTo>
                  <a:pt x="127787" y="83820"/>
                </a:lnTo>
                <a:lnTo>
                  <a:pt x="104648" y="124460"/>
                </a:lnTo>
                <a:lnTo>
                  <a:pt x="91541" y="171450"/>
                </a:lnTo>
                <a:lnTo>
                  <a:pt x="54775" y="185420"/>
                </a:lnTo>
                <a:lnTo>
                  <a:pt x="25806" y="209550"/>
                </a:lnTo>
                <a:lnTo>
                  <a:pt x="6819" y="243840"/>
                </a:lnTo>
                <a:lnTo>
                  <a:pt x="0" y="281940"/>
                </a:lnTo>
                <a:lnTo>
                  <a:pt x="6197" y="320040"/>
                </a:lnTo>
                <a:lnTo>
                  <a:pt x="23583" y="351790"/>
                </a:lnTo>
                <a:lnTo>
                  <a:pt x="50355" y="377190"/>
                </a:lnTo>
                <a:lnTo>
                  <a:pt x="84683" y="392430"/>
                </a:lnTo>
                <a:lnTo>
                  <a:pt x="107188" y="474091"/>
                </a:lnTo>
                <a:lnTo>
                  <a:pt x="84112" y="474091"/>
                </a:lnTo>
                <a:lnTo>
                  <a:pt x="84112" y="483984"/>
                </a:lnTo>
                <a:lnTo>
                  <a:pt x="110591" y="483984"/>
                </a:lnTo>
                <a:lnTo>
                  <a:pt x="111493" y="485140"/>
                </a:lnTo>
                <a:lnTo>
                  <a:pt x="115951" y="485140"/>
                </a:lnTo>
                <a:lnTo>
                  <a:pt x="116840" y="483984"/>
                </a:lnTo>
                <a:lnTo>
                  <a:pt x="143471" y="483984"/>
                </a:lnTo>
                <a:lnTo>
                  <a:pt x="143471" y="474091"/>
                </a:lnTo>
                <a:lnTo>
                  <a:pt x="120256" y="474091"/>
                </a:lnTo>
                <a:lnTo>
                  <a:pt x="123888" y="461010"/>
                </a:lnTo>
                <a:lnTo>
                  <a:pt x="142875" y="392430"/>
                </a:lnTo>
                <a:lnTo>
                  <a:pt x="153301" y="388620"/>
                </a:lnTo>
                <a:lnTo>
                  <a:pt x="163322" y="384810"/>
                </a:lnTo>
                <a:lnTo>
                  <a:pt x="172923" y="379730"/>
                </a:lnTo>
                <a:lnTo>
                  <a:pt x="182067" y="373380"/>
                </a:lnTo>
                <a:lnTo>
                  <a:pt x="192557" y="379730"/>
                </a:lnTo>
                <a:lnTo>
                  <a:pt x="203479" y="384810"/>
                </a:lnTo>
                <a:lnTo>
                  <a:pt x="214820" y="389890"/>
                </a:lnTo>
                <a:lnTo>
                  <a:pt x="226568" y="394970"/>
                </a:lnTo>
                <a:lnTo>
                  <a:pt x="285013" y="573036"/>
                </a:lnTo>
                <a:lnTo>
                  <a:pt x="262216" y="573036"/>
                </a:lnTo>
                <a:lnTo>
                  <a:pt x="262216" y="582930"/>
                </a:lnTo>
                <a:lnTo>
                  <a:pt x="289750" y="582930"/>
                </a:lnTo>
                <a:lnTo>
                  <a:pt x="294030" y="582930"/>
                </a:lnTo>
                <a:lnTo>
                  <a:pt x="321576" y="582930"/>
                </a:lnTo>
                <a:lnTo>
                  <a:pt x="321576" y="573036"/>
                </a:lnTo>
                <a:lnTo>
                  <a:pt x="298754" y="573036"/>
                </a:lnTo>
                <a:lnTo>
                  <a:pt x="302183" y="562610"/>
                </a:lnTo>
                <a:lnTo>
                  <a:pt x="356463" y="397510"/>
                </a:lnTo>
                <a:lnTo>
                  <a:pt x="364070" y="431800"/>
                </a:lnTo>
                <a:lnTo>
                  <a:pt x="381838" y="462280"/>
                </a:lnTo>
                <a:lnTo>
                  <a:pt x="408165" y="486410"/>
                </a:lnTo>
                <a:lnTo>
                  <a:pt x="441452" y="500380"/>
                </a:lnTo>
                <a:lnTo>
                  <a:pt x="463270" y="573036"/>
                </a:lnTo>
                <a:lnTo>
                  <a:pt x="440296" y="573036"/>
                </a:lnTo>
                <a:lnTo>
                  <a:pt x="440296" y="582930"/>
                </a:lnTo>
                <a:lnTo>
                  <a:pt x="467804" y="582930"/>
                </a:lnTo>
                <a:lnTo>
                  <a:pt x="472173" y="582930"/>
                </a:lnTo>
                <a:lnTo>
                  <a:pt x="499656" y="582930"/>
                </a:lnTo>
                <a:lnTo>
                  <a:pt x="499656" y="573036"/>
                </a:lnTo>
                <a:lnTo>
                  <a:pt x="476694" y="573036"/>
                </a:lnTo>
                <a:lnTo>
                  <a:pt x="480212" y="561340"/>
                </a:lnTo>
                <a:lnTo>
                  <a:pt x="498525" y="500380"/>
                </a:lnTo>
                <a:lnTo>
                  <a:pt x="533082" y="485140"/>
                </a:lnTo>
                <a:lnTo>
                  <a:pt x="560031" y="461010"/>
                </a:lnTo>
                <a:lnTo>
                  <a:pt x="577532" y="427990"/>
                </a:lnTo>
                <a:lnTo>
                  <a:pt x="583768" y="391160"/>
                </a:lnTo>
                <a:close/>
              </a:path>
            </a:pathLst>
          </a:custGeom>
          <a:solidFill>
            <a:srgbClr val="5F8262"/>
          </a:solidFill>
        </p:spPr>
        <p:txBody>
          <a:bodyPr wrap="square" lIns="0" tIns="0" rIns="0" bIns="0" rtlCol="0"/>
          <a:lstStyle/>
          <a:p>
            <a:endParaRPr/>
          </a:p>
        </p:txBody>
      </p:sp>
      <p:pic>
        <p:nvPicPr>
          <p:cNvPr id="8" name="object 8"/>
          <p:cNvPicPr/>
          <p:nvPr/>
        </p:nvPicPr>
        <p:blipFill>
          <a:blip r:embed="rId2" cstate="print"/>
          <a:stretch>
            <a:fillRect/>
          </a:stretch>
        </p:blipFill>
        <p:spPr>
          <a:xfrm>
            <a:off x="7036611" y="4718906"/>
            <a:ext cx="535762" cy="568360"/>
          </a:xfrm>
          <a:prstGeom prst="rect">
            <a:avLst/>
          </a:prstGeom>
        </p:spPr>
      </p:pic>
      <p:grpSp>
        <p:nvGrpSpPr>
          <p:cNvPr id="9" name="object 9"/>
          <p:cNvGrpSpPr/>
          <p:nvPr/>
        </p:nvGrpSpPr>
        <p:grpSpPr>
          <a:xfrm>
            <a:off x="1371646" y="4686300"/>
            <a:ext cx="575310" cy="633730"/>
            <a:chOff x="1371646" y="5203032"/>
            <a:chExt cx="575310" cy="633730"/>
          </a:xfrm>
        </p:grpSpPr>
        <p:sp>
          <p:nvSpPr>
            <p:cNvPr id="10" name="object 10"/>
            <p:cNvSpPr/>
            <p:nvPr/>
          </p:nvSpPr>
          <p:spPr>
            <a:xfrm>
              <a:off x="1371638" y="5203037"/>
              <a:ext cx="575310" cy="633730"/>
            </a:xfrm>
            <a:custGeom>
              <a:avLst/>
              <a:gdLst/>
              <a:ahLst/>
              <a:cxnLst/>
              <a:rect l="l" t="t" r="r" b="b"/>
              <a:pathLst>
                <a:path w="575310" h="633729">
                  <a:moveTo>
                    <a:pt x="138366" y="521944"/>
                  </a:moveTo>
                  <a:lnTo>
                    <a:pt x="135229" y="518464"/>
                  </a:lnTo>
                  <a:lnTo>
                    <a:pt x="131127" y="518236"/>
                  </a:lnTo>
                  <a:lnTo>
                    <a:pt x="95897" y="513422"/>
                  </a:lnTo>
                  <a:lnTo>
                    <a:pt x="66205" y="503148"/>
                  </a:lnTo>
                  <a:lnTo>
                    <a:pt x="42722" y="487743"/>
                  </a:lnTo>
                  <a:lnTo>
                    <a:pt x="26060" y="467512"/>
                  </a:lnTo>
                  <a:lnTo>
                    <a:pt x="15278" y="432574"/>
                  </a:lnTo>
                  <a:lnTo>
                    <a:pt x="18897" y="392125"/>
                  </a:lnTo>
                  <a:lnTo>
                    <a:pt x="36207" y="347980"/>
                  </a:lnTo>
                  <a:lnTo>
                    <a:pt x="66522" y="301942"/>
                  </a:lnTo>
                  <a:lnTo>
                    <a:pt x="109131" y="255803"/>
                  </a:lnTo>
                  <a:lnTo>
                    <a:pt x="112115" y="252996"/>
                  </a:lnTo>
                  <a:lnTo>
                    <a:pt x="112268" y="248310"/>
                  </a:lnTo>
                  <a:lnTo>
                    <a:pt x="106654" y="242328"/>
                  </a:lnTo>
                  <a:lnTo>
                    <a:pt x="101955" y="242176"/>
                  </a:lnTo>
                  <a:lnTo>
                    <a:pt x="98958" y="244995"/>
                  </a:lnTo>
                  <a:lnTo>
                    <a:pt x="70256" y="274447"/>
                  </a:lnTo>
                  <a:lnTo>
                    <a:pt x="45999" y="304546"/>
                  </a:lnTo>
                  <a:lnTo>
                    <a:pt x="12115" y="365036"/>
                  </a:lnTo>
                  <a:lnTo>
                    <a:pt x="0" y="424548"/>
                  </a:lnTo>
                  <a:lnTo>
                    <a:pt x="3441" y="451065"/>
                  </a:lnTo>
                  <a:lnTo>
                    <a:pt x="32118" y="498170"/>
                  </a:lnTo>
                  <a:lnTo>
                    <a:pt x="91401" y="527596"/>
                  </a:lnTo>
                  <a:lnTo>
                    <a:pt x="130441" y="533069"/>
                  </a:lnTo>
                  <a:lnTo>
                    <a:pt x="134670" y="533069"/>
                  </a:lnTo>
                  <a:lnTo>
                    <a:pt x="137947" y="529996"/>
                  </a:lnTo>
                  <a:lnTo>
                    <a:pt x="138366" y="521944"/>
                  </a:lnTo>
                  <a:close/>
                </a:path>
                <a:path w="575310" h="633729">
                  <a:moveTo>
                    <a:pt x="161366" y="493001"/>
                  </a:moveTo>
                  <a:lnTo>
                    <a:pt x="147777" y="449478"/>
                  </a:lnTo>
                  <a:lnTo>
                    <a:pt x="138950" y="407085"/>
                  </a:lnTo>
                  <a:lnTo>
                    <a:pt x="133591" y="362597"/>
                  </a:lnTo>
                  <a:lnTo>
                    <a:pt x="131787" y="316611"/>
                  </a:lnTo>
                  <a:lnTo>
                    <a:pt x="131940" y="303174"/>
                  </a:lnTo>
                  <a:lnTo>
                    <a:pt x="132397" y="289763"/>
                  </a:lnTo>
                  <a:lnTo>
                    <a:pt x="133159" y="276415"/>
                  </a:lnTo>
                  <a:lnTo>
                    <a:pt x="134226" y="263207"/>
                  </a:lnTo>
                  <a:lnTo>
                    <a:pt x="134620" y="259130"/>
                  </a:lnTo>
                  <a:lnTo>
                    <a:pt x="131610" y="255511"/>
                  </a:lnTo>
                  <a:lnTo>
                    <a:pt x="117094" y="302831"/>
                  </a:lnTo>
                  <a:lnTo>
                    <a:pt x="116941" y="316611"/>
                  </a:lnTo>
                  <a:lnTo>
                    <a:pt x="118757" y="362597"/>
                  </a:lnTo>
                  <a:lnTo>
                    <a:pt x="124345" y="409651"/>
                  </a:lnTo>
                  <a:lnTo>
                    <a:pt x="133451" y="453313"/>
                  </a:lnTo>
                  <a:lnTo>
                    <a:pt x="146024" y="494220"/>
                  </a:lnTo>
                  <a:lnTo>
                    <a:pt x="149961" y="499110"/>
                  </a:lnTo>
                  <a:lnTo>
                    <a:pt x="153822" y="499110"/>
                  </a:lnTo>
                  <a:lnTo>
                    <a:pt x="154698" y="498957"/>
                  </a:lnTo>
                  <a:lnTo>
                    <a:pt x="159372" y="497255"/>
                  </a:lnTo>
                  <a:lnTo>
                    <a:pt x="161366" y="493001"/>
                  </a:lnTo>
                  <a:close/>
                </a:path>
                <a:path w="575310" h="633729">
                  <a:moveTo>
                    <a:pt x="422960" y="427685"/>
                  </a:moveTo>
                  <a:lnTo>
                    <a:pt x="418223" y="420992"/>
                  </a:lnTo>
                  <a:lnTo>
                    <a:pt x="413588" y="420204"/>
                  </a:lnTo>
                  <a:lnTo>
                    <a:pt x="410248" y="422579"/>
                  </a:lnTo>
                  <a:lnTo>
                    <a:pt x="399351" y="430110"/>
                  </a:lnTo>
                  <a:lnTo>
                    <a:pt x="365226" y="451408"/>
                  </a:lnTo>
                  <a:lnTo>
                    <a:pt x="324485" y="472833"/>
                  </a:lnTo>
                  <a:lnTo>
                    <a:pt x="283273" y="490423"/>
                  </a:lnTo>
                  <a:lnTo>
                    <a:pt x="242163" y="503974"/>
                  </a:lnTo>
                  <a:lnTo>
                    <a:pt x="201714" y="513257"/>
                  </a:lnTo>
                  <a:lnTo>
                    <a:pt x="197662" y="513981"/>
                  </a:lnTo>
                  <a:lnTo>
                    <a:pt x="194983" y="517829"/>
                  </a:lnTo>
                  <a:lnTo>
                    <a:pt x="196329" y="525462"/>
                  </a:lnTo>
                  <a:lnTo>
                    <a:pt x="199453" y="528002"/>
                  </a:lnTo>
                  <a:lnTo>
                    <a:pt x="203746" y="528002"/>
                  </a:lnTo>
                  <a:lnTo>
                    <a:pt x="245999" y="518299"/>
                  </a:lnTo>
                  <a:lnTo>
                    <a:pt x="288353" y="504367"/>
                  </a:lnTo>
                  <a:lnTo>
                    <a:pt x="330771" y="486270"/>
                  </a:lnTo>
                  <a:lnTo>
                    <a:pt x="372643" y="464261"/>
                  </a:lnTo>
                  <a:lnTo>
                    <a:pt x="407644" y="442417"/>
                  </a:lnTo>
                  <a:lnTo>
                    <a:pt x="422160" y="432320"/>
                  </a:lnTo>
                  <a:lnTo>
                    <a:pt x="422960" y="427685"/>
                  </a:lnTo>
                  <a:close/>
                </a:path>
                <a:path w="575310" h="633729">
                  <a:moveTo>
                    <a:pt x="444601" y="440004"/>
                  </a:moveTo>
                  <a:lnTo>
                    <a:pt x="442125" y="436016"/>
                  </a:lnTo>
                  <a:lnTo>
                    <a:pt x="434136" y="434124"/>
                  </a:lnTo>
                  <a:lnTo>
                    <a:pt x="430149" y="436600"/>
                  </a:lnTo>
                  <a:lnTo>
                    <a:pt x="429209" y="440601"/>
                  </a:lnTo>
                  <a:lnTo>
                    <a:pt x="410552" y="500570"/>
                  </a:lnTo>
                  <a:lnTo>
                    <a:pt x="385838" y="549833"/>
                  </a:lnTo>
                  <a:lnTo>
                    <a:pt x="356273" y="586917"/>
                  </a:lnTo>
                  <a:lnTo>
                    <a:pt x="323062" y="610273"/>
                  </a:lnTo>
                  <a:lnTo>
                    <a:pt x="287413" y="618388"/>
                  </a:lnTo>
                  <a:lnTo>
                    <a:pt x="261569" y="614083"/>
                  </a:lnTo>
                  <a:lnTo>
                    <a:pt x="236474" y="601446"/>
                  </a:lnTo>
                  <a:lnTo>
                    <a:pt x="212737" y="580872"/>
                  </a:lnTo>
                  <a:lnTo>
                    <a:pt x="190995" y="552818"/>
                  </a:lnTo>
                  <a:lnTo>
                    <a:pt x="188709" y="549325"/>
                  </a:lnTo>
                  <a:lnTo>
                    <a:pt x="184124" y="548360"/>
                  </a:lnTo>
                  <a:lnTo>
                    <a:pt x="177241" y="552818"/>
                  </a:lnTo>
                  <a:lnTo>
                    <a:pt x="176276" y="557428"/>
                  </a:lnTo>
                  <a:lnTo>
                    <a:pt x="178511" y="560844"/>
                  </a:lnTo>
                  <a:lnTo>
                    <a:pt x="202704" y="591858"/>
                  </a:lnTo>
                  <a:lnTo>
                    <a:pt x="229362" y="614553"/>
                  </a:lnTo>
                  <a:lnTo>
                    <a:pt x="257822" y="628484"/>
                  </a:lnTo>
                  <a:lnTo>
                    <a:pt x="287413" y="633234"/>
                  </a:lnTo>
                  <a:lnTo>
                    <a:pt x="312953" y="629767"/>
                  </a:lnTo>
                  <a:lnTo>
                    <a:pt x="337642" y="619480"/>
                  </a:lnTo>
                  <a:lnTo>
                    <a:pt x="339153" y="618388"/>
                  </a:lnTo>
                  <a:lnTo>
                    <a:pt x="361149" y="602564"/>
                  </a:lnTo>
                  <a:lnTo>
                    <a:pt x="402031" y="551688"/>
                  </a:lnTo>
                  <a:lnTo>
                    <a:pt x="432511" y="483590"/>
                  </a:lnTo>
                  <a:lnTo>
                    <a:pt x="443661" y="443992"/>
                  </a:lnTo>
                  <a:lnTo>
                    <a:pt x="444601" y="440004"/>
                  </a:lnTo>
                  <a:close/>
                </a:path>
                <a:path w="575310" h="633729">
                  <a:moveTo>
                    <a:pt x="574814" y="208686"/>
                  </a:moveTo>
                  <a:lnTo>
                    <a:pt x="571385" y="182168"/>
                  </a:lnTo>
                  <a:lnTo>
                    <a:pt x="561606" y="158318"/>
                  </a:lnTo>
                  <a:lnTo>
                    <a:pt x="539178" y="131864"/>
                  </a:lnTo>
                  <a:lnTo>
                    <a:pt x="510324" y="114871"/>
                  </a:lnTo>
                  <a:lnTo>
                    <a:pt x="507326" y="113106"/>
                  </a:lnTo>
                  <a:lnTo>
                    <a:pt x="466902" y="102374"/>
                  </a:lnTo>
                  <a:lnTo>
                    <a:pt x="418807" y="100037"/>
                  </a:lnTo>
                  <a:lnTo>
                    <a:pt x="412064" y="100711"/>
                  </a:lnTo>
                  <a:lnTo>
                    <a:pt x="409282" y="94513"/>
                  </a:lnTo>
                  <a:lnTo>
                    <a:pt x="383197" y="54025"/>
                  </a:lnTo>
                  <a:lnTo>
                    <a:pt x="353695" y="24396"/>
                  </a:lnTo>
                  <a:lnTo>
                    <a:pt x="287413" y="0"/>
                  </a:lnTo>
                  <a:lnTo>
                    <a:pt x="261861" y="3467"/>
                  </a:lnTo>
                  <a:lnTo>
                    <a:pt x="213664" y="30657"/>
                  </a:lnTo>
                  <a:lnTo>
                    <a:pt x="172783" y="81546"/>
                  </a:lnTo>
                  <a:lnTo>
                    <a:pt x="142303" y="149644"/>
                  </a:lnTo>
                  <a:lnTo>
                    <a:pt x="131165" y="189230"/>
                  </a:lnTo>
                  <a:lnTo>
                    <a:pt x="130225" y="193217"/>
                  </a:lnTo>
                  <a:lnTo>
                    <a:pt x="132702" y="197218"/>
                  </a:lnTo>
                  <a:lnTo>
                    <a:pt x="140677" y="199085"/>
                  </a:lnTo>
                  <a:lnTo>
                    <a:pt x="144678" y="196608"/>
                  </a:lnTo>
                  <a:lnTo>
                    <a:pt x="145618" y="192633"/>
                  </a:lnTo>
                  <a:lnTo>
                    <a:pt x="164274" y="132676"/>
                  </a:lnTo>
                  <a:lnTo>
                    <a:pt x="188988" y="83400"/>
                  </a:lnTo>
                  <a:lnTo>
                    <a:pt x="218554" y="46329"/>
                  </a:lnTo>
                  <a:lnTo>
                    <a:pt x="251764" y="22974"/>
                  </a:lnTo>
                  <a:lnTo>
                    <a:pt x="287413" y="14846"/>
                  </a:lnTo>
                  <a:lnTo>
                    <a:pt x="317411" y="20523"/>
                  </a:lnTo>
                  <a:lnTo>
                    <a:pt x="345986" y="37198"/>
                  </a:lnTo>
                  <a:lnTo>
                    <a:pt x="372452" y="64350"/>
                  </a:lnTo>
                  <a:lnTo>
                    <a:pt x="396151" y="101434"/>
                  </a:lnTo>
                  <a:lnTo>
                    <a:pt x="396506" y="102273"/>
                  </a:lnTo>
                  <a:lnTo>
                    <a:pt x="377456" y="104165"/>
                  </a:lnTo>
                  <a:lnTo>
                    <a:pt x="334441" y="113347"/>
                  </a:lnTo>
                  <a:lnTo>
                    <a:pt x="290436" y="127355"/>
                  </a:lnTo>
                  <a:lnTo>
                    <a:pt x="246113" y="145973"/>
                  </a:lnTo>
                  <a:lnTo>
                    <a:pt x="202171" y="168986"/>
                  </a:lnTo>
                  <a:lnTo>
                    <a:pt x="167170" y="190830"/>
                  </a:lnTo>
                  <a:lnTo>
                    <a:pt x="151853" y="205549"/>
                  </a:lnTo>
                  <a:lnTo>
                    <a:pt x="156591" y="212242"/>
                  </a:lnTo>
                  <a:lnTo>
                    <a:pt x="161213" y="213029"/>
                  </a:lnTo>
                  <a:lnTo>
                    <a:pt x="164566" y="210654"/>
                  </a:lnTo>
                  <a:lnTo>
                    <a:pt x="175475" y="203123"/>
                  </a:lnTo>
                  <a:lnTo>
                    <a:pt x="209588" y="181838"/>
                  </a:lnTo>
                  <a:lnTo>
                    <a:pt x="263004" y="154546"/>
                  </a:lnTo>
                  <a:lnTo>
                    <a:pt x="316636" y="134010"/>
                  </a:lnTo>
                  <a:lnTo>
                    <a:pt x="369189" y="120650"/>
                  </a:lnTo>
                  <a:lnTo>
                    <a:pt x="402793" y="116789"/>
                  </a:lnTo>
                  <a:lnTo>
                    <a:pt x="416229" y="147802"/>
                  </a:lnTo>
                  <a:lnTo>
                    <a:pt x="430936" y="200012"/>
                  </a:lnTo>
                  <a:lnTo>
                    <a:pt x="439966" y="256717"/>
                  </a:lnTo>
                  <a:lnTo>
                    <a:pt x="443052" y="316611"/>
                  </a:lnTo>
                  <a:lnTo>
                    <a:pt x="442887" y="330060"/>
                  </a:lnTo>
                  <a:lnTo>
                    <a:pt x="442429" y="343471"/>
                  </a:lnTo>
                  <a:lnTo>
                    <a:pt x="441667" y="356806"/>
                  </a:lnTo>
                  <a:lnTo>
                    <a:pt x="440601" y="370027"/>
                  </a:lnTo>
                  <a:lnTo>
                    <a:pt x="440220" y="374103"/>
                  </a:lnTo>
                  <a:lnTo>
                    <a:pt x="443217" y="377710"/>
                  </a:lnTo>
                  <a:lnTo>
                    <a:pt x="447560" y="378129"/>
                  </a:lnTo>
                  <a:lnTo>
                    <a:pt x="451789" y="378129"/>
                  </a:lnTo>
                  <a:lnTo>
                    <a:pt x="457720" y="330403"/>
                  </a:lnTo>
                  <a:lnTo>
                    <a:pt x="457885" y="316611"/>
                  </a:lnTo>
                  <a:lnTo>
                    <a:pt x="455841" y="267055"/>
                  </a:lnTo>
                  <a:lnTo>
                    <a:pt x="449795" y="219367"/>
                  </a:lnTo>
                  <a:lnTo>
                    <a:pt x="439928" y="174256"/>
                  </a:lnTo>
                  <a:lnTo>
                    <a:pt x="426453" y="132676"/>
                  </a:lnTo>
                  <a:lnTo>
                    <a:pt x="418503" y="114973"/>
                  </a:lnTo>
                  <a:lnTo>
                    <a:pt x="419379" y="114871"/>
                  </a:lnTo>
                  <a:lnTo>
                    <a:pt x="463346" y="116840"/>
                  </a:lnTo>
                  <a:lnTo>
                    <a:pt x="528840" y="142570"/>
                  </a:lnTo>
                  <a:lnTo>
                    <a:pt x="559549" y="200660"/>
                  </a:lnTo>
                  <a:lnTo>
                    <a:pt x="555929" y="241096"/>
                  </a:lnTo>
                  <a:lnTo>
                    <a:pt x="538607" y="285254"/>
                  </a:lnTo>
                  <a:lnTo>
                    <a:pt x="508279" y="331292"/>
                  </a:lnTo>
                  <a:lnTo>
                    <a:pt x="465670" y="377444"/>
                  </a:lnTo>
                  <a:lnTo>
                    <a:pt x="462699" y="380238"/>
                  </a:lnTo>
                  <a:lnTo>
                    <a:pt x="462546" y="384937"/>
                  </a:lnTo>
                  <a:lnTo>
                    <a:pt x="466940" y="389597"/>
                  </a:lnTo>
                  <a:lnTo>
                    <a:pt x="467131" y="389597"/>
                  </a:lnTo>
                  <a:lnTo>
                    <a:pt x="468782" y="390271"/>
                  </a:lnTo>
                  <a:lnTo>
                    <a:pt x="472579" y="390271"/>
                  </a:lnTo>
                  <a:lnTo>
                    <a:pt x="474408" y="389597"/>
                  </a:lnTo>
                  <a:lnTo>
                    <a:pt x="504571" y="358787"/>
                  </a:lnTo>
                  <a:lnTo>
                    <a:pt x="528815" y="328688"/>
                  </a:lnTo>
                  <a:lnTo>
                    <a:pt x="562686" y="268211"/>
                  </a:lnTo>
                  <a:lnTo>
                    <a:pt x="571919" y="237502"/>
                  </a:lnTo>
                  <a:lnTo>
                    <a:pt x="574814" y="208686"/>
                  </a:lnTo>
                  <a:close/>
                </a:path>
              </a:pathLst>
            </a:custGeom>
            <a:solidFill>
              <a:srgbClr val="5F8262"/>
            </a:solidFill>
          </p:spPr>
          <p:txBody>
            <a:bodyPr wrap="square" lIns="0" tIns="0" rIns="0" bIns="0" rtlCol="0"/>
            <a:lstStyle/>
            <a:p>
              <a:endParaRPr/>
            </a:p>
          </p:txBody>
        </p:sp>
        <p:pic>
          <p:nvPicPr>
            <p:cNvPr id="11" name="object 11"/>
            <p:cNvPicPr/>
            <p:nvPr/>
          </p:nvPicPr>
          <p:blipFill>
            <a:blip r:embed="rId3" cstate="print"/>
            <a:stretch>
              <a:fillRect/>
            </a:stretch>
          </p:blipFill>
          <p:spPr>
            <a:xfrm>
              <a:off x="1581409" y="5515499"/>
              <a:ext cx="154724" cy="84785"/>
            </a:xfrm>
            <a:prstGeom prst="rect">
              <a:avLst/>
            </a:prstGeom>
          </p:spPr>
        </p:pic>
        <p:pic>
          <p:nvPicPr>
            <p:cNvPr id="12" name="object 12"/>
            <p:cNvPicPr/>
            <p:nvPr/>
          </p:nvPicPr>
          <p:blipFill>
            <a:blip r:embed="rId4" cstate="print"/>
            <a:stretch>
              <a:fillRect/>
            </a:stretch>
          </p:blipFill>
          <p:spPr>
            <a:xfrm>
              <a:off x="1622116" y="5422614"/>
              <a:ext cx="73304" cy="73329"/>
            </a:xfrm>
            <a:prstGeom prst="rect">
              <a:avLst/>
            </a:prstGeom>
          </p:spPr>
        </p:pic>
        <p:pic>
          <p:nvPicPr>
            <p:cNvPr id="13" name="object 13"/>
            <p:cNvPicPr/>
            <p:nvPr/>
          </p:nvPicPr>
          <p:blipFill>
            <a:blip r:embed="rId5" cstate="print"/>
            <a:stretch>
              <a:fillRect/>
            </a:stretch>
          </p:blipFill>
          <p:spPr>
            <a:xfrm>
              <a:off x="1459325" y="5385866"/>
              <a:ext cx="87401" cy="87388"/>
            </a:xfrm>
            <a:prstGeom prst="rect">
              <a:avLst/>
            </a:prstGeom>
          </p:spPr>
        </p:pic>
        <p:pic>
          <p:nvPicPr>
            <p:cNvPr id="14" name="object 14"/>
            <p:cNvPicPr/>
            <p:nvPr/>
          </p:nvPicPr>
          <p:blipFill>
            <a:blip r:embed="rId6" cstate="print"/>
            <a:stretch>
              <a:fillRect/>
            </a:stretch>
          </p:blipFill>
          <p:spPr>
            <a:xfrm>
              <a:off x="1494953" y="5684485"/>
              <a:ext cx="87401" cy="87388"/>
            </a:xfrm>
            <a:prstGeom prst="rect">
              <a:avLst/>
            </a:prstGeom>
          </p:spPr>
        </p:pic>
        <p:pic>
          <p:nvPicPr>
            <p:cNvPr id="15" name="object 15"/>
            <p:cNvPicPr/>
            <p:nvPr/>
          </p:nvPicPr>
          <p:blipFill>
            <a:blip r:embed="rId7" cstate="print"/>
            <a:stretch>
              <a:fillRect/>
            </a:stretch>
          </p:blipFill>
          <p:spPr>
            <a:xfrm>
              <a:off x="1771379" y="5566042"/>
              <a:ext cx="87401" cy="87375"/>
            </a:xfrm>
            <a:prstGeom prst="rect">
              <a:avLst/>
            </a:prstGeom>
          </p:spPr>
        </p:pic>
      </p:grpSp>
      <p:sp>
        <p:nvSpPr>
          <p:cNvPr id="16" name="object 16"/>
          <p:cNvSpPr txBox="1"/>
          <p:nvPr/>
        </p:nvSpPr>
        <p:spPr>
          <a:xfrm>
            <a:off x="12591181" y="5644202"/>
            <a:ext cx="4974146" cy="2398092"/>
          </a:xfrm>
          <a:prstGeom prst="rect">
            <a:avLst/>
          </a:prstGeom>
        </p:spPr>
        <p:txBody>
          <a:bodyPr vert="horz" wrap="square" lIns="0" tIns="12700" rIns="0" bIns="0" rtlCol="0">
            <a:spAutoFit/>
          </a:bodyPr>
          <a:lstStyle/>
          <a:p>
            <a:pPr marL="12700" algn="just">
              <a:lnSpc>
                <a:spcPct val="100000"/>
              </a:lnSpc>
              <a:spcBef>
                <a:spcPts val="100"/>
              </a:spcBef>
            </a:pPr>
            <a:r>
              <a:rPr sz="2800" spc="-10" dirty="0">
                <a:solidFill>
                  <a:srgbClr val="37403A"/>
                </a:solidFill>
                <a:latin typeface="Gill Sans MT"/>
                <a:cs typeface="Gill Sans MT"/>
              </a:rPr>
              <a:t>TruncatedSVD</a:t>
            </a:r>
            <a:endParaRPr sz="2800" dirty="0">
              <a:latin typeface="Gill Sans MT"/>
              <a:cs typeface="Gill Sans MT"/>
            </a:endParaRPr>
          </a:p>
          <a:p>
            <a:pPr marL="12700" algn="just">
              <a:lnSpc>
                <a:spcPct val="100000"/>
              </a:lnSpc>
            </a:pPr>
            <a:r>
              <a:rPr sz="2800" spc="55" dirty="0">
                <a:solidFill>
                  <a:srgbClr val="37403A"/>
                </a:solidFill>
                <a:latin typeface="Gill Sans MT"/>
                <a:cs typeface="Gill Sans MT"/>
              </a:rPr>
              <a:t>Recommender</a:t>
            </a:r>
            <a:endParaRPr sz="2800" dirty="0">
              <a:latin typeface="Gill Sans MT"/>
              <a:cs typeface="Gill Sans MT"/>
            </a:endParaRPr>
          </a:p>
          <a:p>
            <a:pPr marL="12700" marR="5080" algn="just">
              <a:lnSpc>
                <a:spcPct val="100000"/>
              </a:lnSpc>
              <a:spcBef>
                <a:spcPts val="1800"/>
              </a:spcBef>
            </a:pPr>
            <a:r>
              <a:rPr sz="2800" spc="95" dirty="0">
                <a:solidFill>
                  <a:srgbClr val="37403A"/>
                </a:solidFill>
                <a:latin typeface="Gill Sans MT"/>
                <a:cs typeface="Gill Sans MT"/>
              </a:rPr>
              <a:t>Main</a:t>
            </a:r>
            <a:r>
              <a:rPr sz="2800" spc="50" dirty="0">
                <a:solidFill>
                  <a:srgbClr val="37403A"/>
                </a:solidFill>
                <a:latin typeface="Gill Sans MT"/>
                <a:cs typeface="Gill Sans MT"/>
              </a:rPr>
              <a:t> personalized </a:t>
            </a:r>
            <a:r>
              <a:rPr sz="2800" dirty="0">
                <a:solidFill>
                  <a:srgbClr val="37403A"/>
                </a:solidFill>
                <a:latin typeface="Gill Sans MT"/>
                <a:cs typeface="Gill Sans MT"/>
              </a:rPr>
              <a:t>model;</a:t>
            </a:r>
            <a:r>
              <a:rPr sz="2800" spc="50" dirty="0">
                <a:solidFill>
                  <a:srgbClr val="37403A"/>
                </a:solidFill>
                <a:latin typeface="Gill Sans MT"/>
                <a:cs typeface="Gill Sans MT"/>
              </a:rPr>
              <a:t> </a:t>
            </a:r>
            <a:r>
              <a:rPr sz="2800" dirty="0">
                <a:solidFill>
                  <a:srgbClr val="37403A"/>
                </a:solidFill>
                <a:latin typeface="Gill Sans MT"/>
                <a:cs typeface="Gill Sans MT"/>
              </a:rPr>
              <a:t>learns</a:t>
            </a:r>
            <a:r>
              <a:rPr sz="2800" spc="50" dirty="0">
                <a:solidFill>
                  <a:srgbClr val="37403A"/>
                </a:solidFill>
                <a:latin typeface="Gill Sans MT"/>
                <a:cs typeface="Gill Sans MT"/>
              </a:rPr>
              <a:t> </a:t>
            </a:r>
            <a:r>
              <a:rPr sz="2800" spc="65" dirty="0">
                <a:solidFill>
                  <a:srgbClr val="37403A"/>
                </a:solidFill>
                <a:latin typeface="Gill Sans MT"/>
                <a:cs typeface="Gill Sans MT"/>
              </a:rPr>
              <a:t>latent </a:t>
            </a:r>
            <a:r>
              <a:rPr sz="2800" dirty="0">
                <a:solidFill>
                  <a:srgbClr val="37403A"/>
                </a:solidFill>
                <a:latin typeface="Gill Sans MT"/>
                <a:cs typeface="Gill Sans MT"/>
              </a:rPr>
              <a:t>user-item</a:t>
            </a:r>
            <a:r>
              <a:rPr sz="2800" spc="45" dirty="0">
                <a:solidFill>
                  <a:srgbClr val="37403A"/>
                </a:solidFill>
                <a:latin typeface="Gill Sans MT"/>
                <a:cs typeface="Gill Sans MT"/>
              </a:rPr>
              <a:t> </a:t>
            </a:r>
            <a:r>
              <a:rPr sz="2800" spc="55" dirty="0">
                <a:solidFill>
                  <a:srgbClr val="37403A"/>
                </a:solidFill>
                <a:latin typeface="Gill Sans MT"/>
                <a:cs typeface="Gill Sans MT"/>
              </a:rPr>
              <a:t>patterns</a:t>
            </a:r>
            <a:r>
              <a:rPr sz="2800" spc="45" dirty="0">
                <a:solidFill>
                  <a:srgbClr val="37403A"/>
                </a:solidFill>
                <a:latin typeface="Gill Sans MT"/>
                <a:cs typeface="Gill Sans MT"/>
              </a:rPr>
              <a:t> </a:t>
            </a:r>
            <a:r>
              <a:rPr sz="2800" dirty="0">
                <a:solidFill>
                  <a:srgbClr val="37403A"/>
                </a:solidFill>
                <a:latin typeface="Gill Sans MT"/>
                <a:cs typeface="Gill Sans MT"/>
              </a:rPr>
              <a:t>for</a:t>
            </a:r>
            <a:r>
              <a:rPr sz="2800" spc="45" dirty="0">
                <a:solidFill>
                  <a:srgbClr val="37403A"/>
                </a:solidFill>
                <a:latin typeface="Gill Sans MT"/>
                <a:cs typeface="Gill Sans MT"/>
              </a:rPr>
              <a:t> </a:t>
            </a:r>
            <a:r>
              <a:rPr sz="2800" spc="-55" dirty="0">
                <a:solidFill>
                  <a:srgbClr val="37403A"/>
                </a:solidFill>
                <a:latin typeface="Gill Sans MT"/>
                <a:cs typeface="Gill Sans MT"/>
              </a:rPr>
              <a:t>Top-</a:t>
            </a:r>
            <a:r>
              <a:rPr sz="2800" spc="-80" dirty="0">
                <a:solidFill>
                  <a:srgbClr val="37403A"/>
                </a:solidFill>
                <a:latin typeface="Gill Sans MT"/>
                <a:cs typeface="Gill Sans MT"/>
              </a:rPr>
              <a:t>N</a:t>
            </a:r>
            <a:r>
              <a:rPr sz="2800" spc="50" dirty="0">
                <a:solidFill>
                  <a:srgbClr val="37403A"/>
                </a:solidFill>
                <a:latin typeface="Gill Sans MT"/>
                <a:cs typeface="Gill Sans MT"/>
              </a:rPr>
              <a:t> </a:t>
            </a:r>
            <a:r>
              <a:rPr sz="2800" spc="45" dirty="0">
                <a:solidFill>
                  <a:srgbClr val="37403A"/>
                </a:solidFill>
                <a:latin typeface="Gill Sans MT"/>
                <a:cs typeface="Gill Sans MT"/>
              </a:rPr>
              <a:t>ranking</a:t>
            </a:r>
            <a:endParaRPr sz="2800" dirty="0">
              <a:latin typeface="Gill Sans MT"/>
              <a:cs typeface="Gill Sans MT"/>
            </a:endParaRPr>
          </a:p>
        </p:txBody>
      </p:sp>
      <p:sp>
        <p:nvSpPr>
          <p:cNvPr id="17" name="object 17"/>
          <p:cNvSpPr txBox="1"/>
          <p:nvPr/>
        </p:nvSpPr>
        <p:spPr>
          <a:xfrm>
            <a:off x="6975040" y="5644202"/>
            <a:ext cx="4882745" cy="2398092"/>
          </a:xfrm>
          <a:prstGeom prst="rect">
            <a:avLst/>
          </a:prstGeom>
        </p:spPr>
        <p:txBody>
          <a:bodyPr vert="horz" wrap="square" lIns="0" tIns="12700" rIns="0" bIns="0" rtlCol="0">
            <a:spAutoFit/>
          </a:bodyPr>
          <a:lstStyle/>
          <a:p>
            <a:pPr marL="12700" marR="85725">
              <a:lnSpc>
                <a:spcPct val="100000"/>
              </a:lnSpc>
              <a:spcBef>
                <a:spcPts val="100"/>
              </a:spcBef>
            </a:pPr>
            <a:r>
              <a:rPr sz="2800" spc="75" dirty="0">
                <a:solidFill>
                  <a:srgbClr val="37403A"/>
                </a:solidFill>
                <a:latin typeface="Gill Sans MT"/>
                <a:cs typeface="Gill Sans MT"/>
              </a:rPr>
              <a:t>Item-</a:t>
            </a:r>
            <a:r>
              <a:rPr sz="2800" spc="80" dirty="0">
                <a:solidFill>
                  <a:srgbClr val="37403A"/>
                </a:solidFill>
                <a:latin typeface="Gill Sans MT"/>
                <a:cs typeface="Gill Sans MT"/>
              </a:rPr>
              <a:t>Item</a:t>
            </a:r>
            <a:r>
              <a:rPr sz="2800" spc="-85" dirty="0">
                <a:solidFill>
                  <a:srgbClr val="37403A"/>
                </a:solidFill>
                <a:latin typeface="Gill Sans MT"/>
                <a:cs typeface="Gill Sans MT"/>
              </a:rPr>
              <a:t> </a:t>
            </a:r>
            <a:r>
              <a:rPr sz="2800" spc="40" dirty="0">
                <a:solidFill>
                  <a:srgbClr val="37403A"/>
                </a:solidFill>
                <a:latin typeface="Gill Sans MT"/>
                <a:cs typeface="Gill Sans MT"/>
              </a:rPr>
              <a:t>Collaborative </a:t>
            </a:r>
            <a:r>
              <a:rPr sz="2800" spc="55" dirty="0">
                <a:solidFill>
                  <a:srgbClr val="37403A"/>
                </a:solidFill>
                <a:latin typeface="Gill Sans MT"/>
                <a:cs typeface="Gill Sans MT"/>
              </a:rPr>
              <a:t>Filtering</a:t>
            </a:r>
            <a:endParaRPr sz="2800" dirty="0">
              <a:latin typeface="Gill Sans MT"/>
              <a:cs typeface="Gill Sans MT"/>
            </a:endParaRPr>
          </a:p>
          <a:p>
            <a:pPr marL="12700" marR="5080">
              <a:lnSpc>
                <a:spcPct val="100000"/>
              </a:lnSpc>
              <a:spcBef>
                <a:spcPts val="1800"/>
              </a:spcBef>
            </a:pPr>
            <a:r>
              <a:rPr sz="2800" dirty="0">
                <a:solidFill>
                  <a:srgbClr val="37403A"/>
                </a:solidFill>
                <a:latin typeface="Gill Sans MT"/>
                <a:cs typeface="Gill Sans MT"/>
              </a:rPr>
              <a:t>Uses</a:t>
            </a:r>
            <a:r>
              <a:rPr sz="2800" spc="70" dirty="0">
                <a:solidFill>
                  <a:srgbClr val="37403A"/>
                </a:solidFill>
                <a:latin typeface="Gill Sans MT"/>
                <a:cs typeface="Gill Sans MT"/>
              </a:rPr>
              <a:t> </a:t>
            </a:r>
            <a:r>
              <a:rPr sz="2800" spc="50" dirty="0">
                <a:solidFill>
                  <a:srgbClr val="37403A"/>
                </a:solidFill>
                <a:latin typeface="Gill Sans MT"/>
                <a:cs typeface="Gill Sans MT"/>
              </a:rPr>
              <a:t>cosine</a:t>
            </a:r>
            <a:r>
              <a:rPr sz="2800" spc="75" dirty="0">
                <a:solidFill>
                  <a:srgbClr val="37403A"/>
                </a:solidFill>
                <a:latin typeface="Gill Sans MT"/>
                <a:cs typeface="Gill Sans MT"/>
              </a:rPr>
              <a:t> </a:t>
            </a:r>
            <a:r>
              <a:rPr sz="2800" dirty="0">
                <a:solidFill>
                  <a:srgbClr val="37403A"/>
                </a:solidFill>
                <a:latin typeface="Gill Sans MT"/>
                <a:cs typeface="Gill Sans MT"/>
              </a:rPr>
              <a:t>similarity</a:t>
            </a:r>
            <a:r>
              <a:rPr sz="2800" spc="70" dirty="0">
                <a:solidFill>
                  <a:srgbClr val="37403A"/>
                </a:solidFill>
                <a:latin typeface="Gill Sans MT"/>
                <a:cs typeface="Gill Sans MT"/>
              </a:rPr>
              <a:t> </a:t>
            </a:r>
            <a:r>
              <a:rPr sz="2800" dirty="0">
                <a:solidFill>
                  <a:srgbClr val="37403A"/>
                </a:solidFill>
                <a:latin typeface="Gill Sans MT"/>
                <a:cs typeface="Gill Sans MT"/>
              </a:rPr>
              <a:t>to</a:t>
            </a:r>
            <a:r>
              <a:rPr sz="2800" spc="75" dirty="0">
                <a:solidFill>
                  <a:srgbClr val="37403A"/>
                </a:solidFill>
                <a:latin typeface="Gill Sans MT"/>
                <a:cs typeface="Gill Sans MT"/>
              </a:rPr>
              <a:t> </a:t>
            </a:r>
            <a:r>
              <a:rPr sz="2800" spc="40" dirty="0">
                <a:solidFill>
                  <a:srgbClr val="37403A"/>
                </a:solidFill>
                <a:latin typeface="Gill Sans MT"/>
                <a:cs typeface="Gill Sans MT"/>
              </a:rPr>
              <a:t>recommend </a:t>
            </a:r>
            <a:r>
              <a:rPr sz="2800" spc="60" dirty="0">
                <a:solidFill>
                  <a:srgbClr val="37403A"/>
                </a:solidFill>
                <a:latin typeface="Gill Sans MT"/>
                <a:cs typeface="Gill Sans MT"/>
              </a:rPr>
              <a:t>items</a:t>
            </a:r>
            <a:r>
              <a:rPr sz="2800" spc="20" dirty="0">
                <a:solidFill>
                  <a:srgbClr val="37403A"/>
                </a:solidFill>
                <a:latin typeface="Gill Sans MT"/>
                <a:cs typeface="Gill Sans MT"/>
              </a:rPr>
              <a:t> </a:t>
            </a:r>
            <a:r>
              <a:rPr sz="2800" dirty="0">
                <a:solidFill>
                  <a:srgbClr val="37403A"/>
                </a:solidFill>
                <a:latin typeface="Gill Sans MT"/>
                <a:cs typeface="Gill Sans MT"/>
              </a:rPr>
              <a:t>similar</a:t>
            </a:r>
            <a:r>
              <a:rPr sz="2800" spc="25" dirty="0">
                <a:solidFill>
                  <a:srgbClr val="37403A"/>
                </a:solidFill>
                <a:latin typeface="Gill Sans MT"/>
                <a:cs typeface="Gill Sans MT"/>
              </a:rPr>
              <a:t> </a:t>
            </a:r>
            <a:r>
              <a:rPr sz="2800" dirty="0">
                <a:solidFill>
                  <a:srgbClr val="37403A"/>
                </a:solidFill>
                <a:latin typeface="Gill Sans MT"/>
                <a:cs typeface="Gill Sans MT"/>
              </a:rPr>
              <a:t>to</a:t>
            </a:r>
            <a:r>
              <a:rPr sz="2800" spc="25" dirty="0">
                <a:solidFill>
                  <a:srgbClr val="37403A"/>
                </a:solidFill>
                <a:latin typeface="Gill Sans MT"/>
                <a:cs typeface="Gill Sans MT"/>
              </a:rPr>
              <a:t> </a:t>
            </a:r>
            <a:r>
              <a:rPr sz="2800" dirty="0">
                <a:solidFill>
                  <a:srgbClr val="37403A"/>
                </a:solidFill>
                <a:latin typeface="Gill Sans MT"/>
                <a:cs typeface="Gill Sans MT"/>
              </a:rPr>
              <a:t>user</a:t>
            </a:r>
            <a:r>
              <a:rPr sz="2800" spc="25" dirty="0">
                <a:solidFill>
                  <a:srgbClr val="37403A"/>
                </a:solidFill>
                <a:latin typeface="Gill Sans MT"/>
                <a:cs typeface="Gill Sans MT"/>
              </a:rPr>
              <a:t> </a:t>
            </a:r>
            <a:r>
              <a:rPr sz="2800" spc="-10" dirty="0">
                <a:solidFill>
                  <a:srgbClr val="37403A"/>
                </a:solidFill>
                <a:latin typeface="Gill Sans MT"/>
                <a:cs typeface="Gill Sans MT"/>
              </a:rPr>
              <a:t>history</a:t>
            </a:r>
            <a:endParaRPr sz="2800" dirty="0">
              <a:latin typeface="Gill Sans MT"/>
              <a:cs typeface="Gill Sans MT"/>
            </a:endParaRPr>
          </a:p>
        </p:txBody>
      </p:sp>
      <p:sp>
        <p:nvSpPr>
          <p:cNvPr id="18" name="object 18"/>
          <p:cNvSpPr txBox="1"/>
          <p:nvPr/>
        </p:nvSpPr>
        <p:spPr>
          <a:xfrm>
            <a:off x="1229521" y="5828432"/>
            <a:ext cx="4648949" cy="1967205"/>
          </a:xfrm>
          <a:prstGeom prst="rect">
            <a:avLst/>
          </a:prstGeom>
        </p:spPr>
        <p:txBody>
          <a:bodyPr vert="horz" wrap="square" lIns="0" tIns="12700" rIns="0" bIns="0" rtlCol="0">
            <a:spAutoFit/>
          </a:bodyPr>
          <a:lstStyle/>
          <a:p>
            <a:pPr marL="12700">
              <a:lnSpc>
                <a:spcPct val="100000"/>
              </a:lnSpc>
              <a:spcBef>
                <a:spcPts val="100"/>
              </a:spcBef>
            </a:pPr>
            <a:r>
              <a:rPr sz="2800" spc="70" dirty="0">
                <a:solidFill>
                  <a:srgbClr val="37403A"/>
                </a:solidFill>
                <a:latin typeface="Gill Sans MT"/>
                <a:cs typeface="Gill Sans MT"/>
              </a:rPr>
              <a:t>Popularity</a:t>
            </a:r>
            <a:r>
              <a:rPr sz="2800" spc="-70" dirty="0">
                <a:solidFill>
                  <a:srgbClr val="37403A"/>
                </a:solidFill>
                <a:latin typeface="Gill Sans MT"/>
                <a:cs typeface="Gill Sans MT"/>
              </a:rPr>
              <a:t> </a:t>
            </a:r>
            <a:r>
              <a:rPr sz="2800" spc="75" dirty="0">
                <a:solidFill>
                  <a:srgbClr val="37403A"/>
                </a:solidFill>
                <a:latin typeface="Gill Sans MT"/>
                <a:cs typeface="Gill Sans MT"/>
              </a:rPr>
              <a:t>Baseline</a:t>
            </a:r>
            <a:endParaRPr sz="2800" dirty="0">
              <a:latin typeface="Gill Sans MT"/>
              <a:cs typeface="Gill Sans MT"/>
            </a:endParaRPr>
          </a:p>
          <a:p>
            <a:pPr marL="12700" marR="5080">
              <a:lnSpc>
                <a:spcPct val="100000"/>
              </a:lnSpc>
              <a:spcBef>
                <a:spcPts val="1800"/>
              </a:spcBef>
            </a:pPr>
            <a:r>
              <a:rPr sz="2800" dirty="0">
                <a:solidFill>
                  <a:srgbClr val="37403A"/>
                </a:solidFill>
                <a:latin typeface="Gill Sans MT"/>
                <a:cs typeface="Gill Sans MT"/>
              </a:rPr>
              <a:t>Ranks</a:t>
            </a:r>
            <a:r>
              <a:rPr sz="2800" spc="35" dirty="0">
                <a:solidFill>
                  <a:srgbClr val="37403A"/>
                </a:solidFill>
                <a:latin typeface="Gill Sans MT"/>
                <a:cs typeface="Gill Sans MT"/>
              </a:rPr>
              <a:t> </a:t>
            </a:r>
            <a:r>
              <a:rPr sz="2800" spc="60" dirty="0">
                <a:solidFill>
                  <a:srgbClr val="37403A"/>
                </a:solidFill>
                <a:latin typeface="Gill Sans MT"/>
                <a:cs typeface="Gill Sans MT"/>
              </a:rPr>
              <a:t>items</a:t>
            </a:r>
            <a:r>
              <a:rPr sz="2800" spc="35" dirty="0">
                <a:solidFill>
                  <a:srgbClr val="37403A"/>
                </a:solidFill>
                <a:latin typeface="Gill Sans MT"/>
                <a:cs typeface="Gill Sans MT"/>
              </a:rPr>
              <a:t> </a:t>
            </a:r>
            <a:r>
              <a:rPr sz="2800" spc="120" dirty="0">
                <a:solidFill>
                  <a:srgbClr val="37403A"/>
                </a:solidFill>
                <a:latin typeface="Gill Sans MT"/>
                <a:cs typeface="Gill Sans MT"/>
              </a:rPr>
              <a:t>by</a:t>
            </a:r>
            <a:r>
              <a:rPr sz="2800" spc="35" dirty="0">
                <a:solidFill>
                  <a:srgbClr val="37403A"/>
                </a:solidFill>
                <a:latin typeface="Gill Sans MT"/>
                <a:cs typeface="Gill Sans MT"/>
              </a:rPr>
              <a:t> </a:t>
            </a:r>
            <a:r>
              <a:rPr sz="2800" dirty="0">
                <a:solidFill>
                  <a:srgbClr val="37403A"/>
                </a:solidFill>
                <a:latin typeface="Gill Sans MT"/>
                <a:cs typeface="Gill Sans MT"/>
              </a:rPr>
              <a:t>overall</a:t>
            </a:r>
            <a:r>
              <a:rPr sz="2800" spc="40" dirty="0">
                <a:solidFill>
                  <a:srgbClr val="37403A"/>
                </a:solidFill>
                <a:latin typeface="Gill Sans MT"/>
                <a:cs typeface="Gill Sans MT"/>
              </a:rPr>
              <a:t> </a:t>
            </a:r>
            <a:r>
              <a:rPr sz="2800" spc="-10" dirty="0">
                <a:solidFill>
                  <a:srgbClr val="37403A"/>
                </a:solidFill>
                <a:latin typeface="Gill Sans MT"/>
                <a:cs typeface="Gill Sans MT"/>
              </a:rPr>
              <a:t>interaction </a:t>
            </a:r>
            <a:r>
              <a:rPr sz="2800" spc="50" dirty="0">
                <a:solidFill>
                  <a:srgbClr val="37403A"/>
                </a:solidFill>
                <a:latin typeface="Gill Sans MT"/>
                <a:cs typeface="Gill Sans MT"/>
              </a:rPr>
              <a:t>count;</a:t>
            </a:r>
            <a:r>
              <a:rPr sz="2800" spc="-60" dirty="0">
                <a:solidFill>
                  <a:srgbClr val="37403A"/>
                </a:solidFill>
                <a:latin typeface="Gill Sans MT"/>
                <a:cs typeface="Gill Sans MT"/>
              </a:rPr>
              <a:t> </a:t>
            </a:r>
            <a:r>
              <a:rPr sz="2800" spc="70" dirty="0">
                <a:solidFill>
                  <a:srgbClr val="37403A"/>
                </a:solidFill>
                <a:latin typeface="Gill Sans MT"/>
                <a:cs typeface="Gill Sans MT"/>
              </a:rPr>
              <a:t>ideal</a:t>
            </a:r>
            <a:r>
              <a:rPr sz="2800" spc="-55" dirty="0">
                <a:solidFill>
                  <a:srgbClr val="37403A"/>
                </a:solidFill>
                <a:latin typeface="Gill Sans MT"/>
                <a:cs typeface="Gill Sans MT"/>
              </a:rPr>
              <a:t> </a:t>
            </a:r>
            <a:r>
              <a:rPr sz="2800" dirty="0">
                <a:solidFill>
                  <a:srgbClr val="37403A"/>
                </a:solidFill>
                <a:latin typeface="Gill Sans MT"/>
                <a:cs typeface="Gill Sans MT"/>
              </a:rPr>
              <a:t>for</a:t>
            </a:r>
            <a:r>
              <a:rPr sz="2800" spc="-55" dirty="0">
                <a:solidFill>
                  <a:srgbClr val="37403A"/>
                </a:solidFill>
                <a:latin typeface="Gill Sans MT"/>
                <a:cs typeface="Gill Sans MT"/>
              </a:rPr>
              <a:t> </a:t>
            </a:r>
            <a:r>
              <a:rPr sz="2800" spc="100" dirty="0">
                <a:solidFill>
                  <a:srgbClr val="37403A"/>
                </a:solidFill>
                <a:latin typeface="Gill Sans MT"/>
                <a:cs typeface="Gill Sans MT"/>
              </a:rPr>
              <a:t>new</a:t>
            </a:r>
            <a:r>
              <a:rPr sz="2800" spc="-55" dirty="0">
                <a:solidFill>
                  <a:srgbClr val="37403A"/>
                </a:solidFill>
                <a:latin typeface="Gill Sans MT"/>
                <a:cs typeface="Gill Sans MT"/>
              </a:rPr>
              <a:t> </a:t>
            </a:r>
            <a:r>
              <a:rPr sz="2800" spc="-10" dirty="0">
                <a:solidFill>
                  <a:srgbClr val="37403A"/>
                </a:solidFill>
                <a:latin typeface="Gill Sans MT"/>
                <a:cs typeface="Gill Sans MT"/>
              </a:rPr>
              <a:t>users</a:t>
            </a:r>
            <a:endParaRPr sz="2800" dirty="0">
              <a:latin typeface="Gill Sans MT"/>
              <a:cs typeface="Gill Sans MT"/>
            </a:endParaRPr>
          </a:p>
        </p:txBody>
      </p:sp>
      <p:sp>
        <p:nvSpPr>
          <p:cNvPr id="19" name="object 19"/>
          <p:cNvSpPr/>
          <p:nvPr/>
        </p:nvSpPr>
        <p:spPr>
          <a:xfrm>
            <a:off x="11949223" y="4686301"/>
            <a:ext cx="45719" cy="3355993"/>
          </a:xfrm>
          <a:custGeom>
            <a:avLst/>
            <a:gdLst/>
            <a:ahLst/>
            <a:cxnLst/>
            <a:rect l="l" t="t" r="r" b="b"/>
            <a:pathLst>
              <a:path h="2761615">
                <a:moveTo>
                  <a:pt x="0" y="2761297"/>
                </a:moveTo>
                <a:lnTo>
                  <a:pt x="0" y="0"/>
                </a:lnTo>
              </a:path>
            </a:pathLst>
          </a:custGeom>
          <a:ln w="28575">
            <a:solidFill>
              <a:srgbClr val="5F8262"/>
            </a:solidFill>
            <a:prstDash val="sysDash"/>
          </a:ln>
        </p:spPr>
        <p:txBody>
          <a:bodyPr wrap="square" lIns="0" tIns="0" rIns="0" bIns="0" rtlCol="0"/>
          <a:lstStyle/>
          <a:p>
            <a:endParaRPr/>
          </a:p>
        </p:txBody>
      </p:sp>
      <p:sp>
        <p:nvSpPr>
          <p:cNvPr id="20" name="object 20"/>
          <p:cNvSpPr/>
          <p:nvPr/>
        </p:nvSpPr>
        <p:spPr>
          <a:xfrm>
            <a:off x="6333119" y="4686301"/>
            <a:ext cx="45719" cy="3355993"/>
          </a:xfrm>
          <a:custGeom>
            <a:avLst/>
            <a:gdLst/>
            <a:ahLst/>
            <a:cxnLst/>
            <a:rect l="l" t="t" r="r" b="b"/>
            <a:pathLst>
              <a:path h="2761615">
                <a:moveTo>
                  <a:pt x="0" y="2761297"/>
                </a:moveTo>
                <a:lnTo>
                  <a:pt x="0" y="0"/>
                </a:lnTo>
              </a:path>
            </a:pathLst>
          </a:custGeom>
          <a:ln w="28575">
            <a:solidFill>
              <a:srgbClr val="5F8262"/>
            </a:solidFill>
            <a:prstDash val="sysDash"/>
          </a:ln>
        </p:spPr>
        <p:txBody>
          <a:bodyPr wrap="square" lIns="0" tIns="0" rIns="0" bIns="0" rtlCol="0"/>
          <a:lstStyle/>
          <a:p>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1D716F0-D2CE-961A-1001-E6386C46CD6C}"/>
              </a:ext>
            </a:extLst>
          </p:cNvPr>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dirty="0"/>
          </a:p>
        </p:txBody>
      </p:sp>
      <p:sp>
        <p:nvSpPr>
          <p:cNvPr id="2" name="Text 0"/>
          <p:cNvSpPr/>
          <p:nvPr/>
        </p:nvSpPr>
        <p:spPr>
          <a:xfrm>
            <a:off x="822960" y="548640"/>
            <a:ext cx="16733520" cy="822960"/>
          </a:xfrm>
          <a:prstGeom prst="rect">
            <a:avLst/>
          </a:prstGeom>
          <a:noFill/>
          <a:ln/>
        </p:spPr>
        <p:txBody>
          <a:bodyPr wrap="square" rtlCol="0" anchor="ctr"/>
          <a:lstStyle/>
          <a:p>
            <a:r>
              <a:rPr lang="en-US" sz="4500" b="1" dirty="0">
                <a:solidFill>
                  <a:srgbClr val="0F172A"/>
                </a:solidFill>
                <a:latin typeface="Garamond" panose="02020404030301010803" pitchFamily="18" charset="0"/>
                <a:ea typeface="Calibri" pitchFamily="34" charset="-122"/>
                <a:cs typeface="Calibri" pitchFamily="34" charset="-120"/>
              </a:rPr>
              <a:t>6.1. Comparison of Methods:</a:t>
            </a:r>
            <a:endParaRPr lang="en-US" sz="4500" dirty="0">
              <a:latin typeface="Garamond" panose="02020404030301010803" pitchFamily="18" charset="0"/>
            </a:endParaRPr>
          </a:p>
        </p:txBody>
      </p:sp>
      <p:sp>
        <p:nvSpPr>
          <p:cNvPr id="3" name="Shape 1"/>
          <p:cNvSpPr/>
          <p:nvPr/>
        </p:nvSpPr>
        <p:spPr>
          <a:xfrm>
            <a:off x="822960" y="1440180"/>
            <a:ext cx="16733520" cy="0"/>
          </a:xfrm>
          <a:prstGeom prst="line">
            <a:avLst/>
          </a:prstGeom>
          <a:noFill/>
          <a:ln w="12700">
            <a:solidFill>
              <a:srgbClr val="CBD5E1"/>
            </a:solidFill>
            <a:prstDash val="solid"/>
          </a:ln>
        </p:spPr>
        <p:txBody>
          <a:bodyPr/>
          <a:lstStyle/>
          <a:p>
            <a:endParaRPr lang="en-US"/>
          </a:p>
        </p:txBody>
      </p:sp>
      <p:sp>
        <p:nvSpPr>
          <p:cNvPr id="4" name="Shape 2"/>
          <p:cNvSpPr/>
          <p:nvPr/>
        </p:nvSpPr>
        <p:spPr>
          <a:xfrm>
            <a:off x="891540" y="1988820"/>
            <a:ext cx="5189220" cy="5897881"/>
          </a:xfrm>
          <a:prstGeom prst="roundRect">
            <a:avLst/>
          </a:prstGeom>
          <a:solidFill>
            <a:srgbClr val="F8FAFC"/>
          </a:solidFill>
          <a:ln w="12700">
            <a:solidFill>
              <a:srgbClr val="E2E8F0"/>
            </a:solidFill>
            <a:prstDash val="solid"/>
          </a:ln>
          <a:effectLst>
            <a:outerShdw blurRad="38100" dist="12700" dir="2700000" algn="bl" rotWithShape="0">
              <a:srgbClr val="000000">
                <a:alpha val="10000"/>
              </a:srgbClr>
            </a:outerShdw>
          </a:effectLst>
        </p:spPr>
        <p:txBody>
          <a:bodyPr/>
          <a:lstStyle/>
          <a:p>
            <a:endParaRPr lang="en-US"/>
          </a:p>
        </p:txBody>
      </p:sp>
      <p:sp>
        <p:nvSpPr>
          <p:cNvPr id="5" name="Text 3"/>
          <p:cNvSpPr/>
          <p:nvPr/>
        </p:nvSpPr>
        <p:spPr>
          <a:xfrm>
            <a:off x="1303020" y="2468880"/>
            <a:ext cx="4366260" cy="617220"/>
          </a:xfrm>
          <a:prstGeom prst="rect">
            <a:avLst/>
          </a:prstGeom>
          <a:noFill/>
          <a:ln/>
        </p:spPr>
        <p:txBody>
          <a:bodyPr wrap="square" rtlCol="0" anchor="ctr"/>
          <a:lstStyle/>
          <a:p>
            <a:r>
              <a:rPr lang="en-US" sz="2700" b="1" dirty="0">
                <a:solidFill>
                  <a:srgbClr val="0F172A"/>
                </a:solidFill>
                <a:latin typeface="Calibri" pitchFamily="34" charset="0"/>
                <a:ea typeface="Calibri" pitchFamily="34" charset="-122"/>
                <a:cs typeface="Calibri" pitchFamily="34" charset="-120"/>
              </a:rPr>
              <a:t>Popularity baseline</a:t>
            </a:r>
            <a:endParaRPr lang="en-US" sz="2700" dirty="0"/>
          </a:p>
        </p:txBody>
      </p:sp>
      <p:sp>
        <p:nvSpPr>
          <p:cNvPr id="6" name="Text 4"/>
          <p:cNvSpPr/>
          <p:nvPr/>
        </p:nvSpPr>
        <p:spPr>
          <a:xfrm>
            <a:off x="1303020" y="3291840"/>
            <a:ext cx="4366260" cy="1920240"/>
          </a:xfrm>
          <a:prstGeom prst="rect">
            <a:avLst/>
          </a:prstGeom>
          <a:noFill/>
          <a:ln/>
        </p:spPr>
        <p:txBody>
          <a:bodyPr wrap="square" rtlCol="0" anchor="ctr"/>
          <a:lstStyle/>
          <a:p>
            <a:pPr marL="342900" indent="-342900">
              <a:spcAft>
                <a:spcPts val="1200"/>
              </a:spcAft>
              <a:buSzPct val="100000"/>
              <a:buChar char="•"/>
            </a:pPr>
            <a:r>
              <a:rPr lang="en-US" sz="2800" dirty="0">
                <a:solidFill>
                  <a:srgbClr val="0F172A"/>
                </a:solidFill>
                <a:latin typeface="Calibri" pitchFamily="34" charset="0"/>
                <a:ea typeface="Calibri" pitchFamily="34" charset="-122"/>
                <a:cs typeface="Calibri" pitchFamily="34" charset="-120"/>
              </a:rPr>
              <a:t>Ranks globally popular items.</a:t>
            </a:r>
            <a:endParaRPr lang="en-US" sz="2800" dirty="0"/>
          </a:p>
          <a:p>
            <a:pPr marL="342900" indent="-342900">
              <a:spcAft>
                <a:spcPts val="1200"/>
              </a:spcAft>
              <a:buSzPct val="100000"/>
              <a:buChar char="•"/>
            </a:pPr>
            <a:r>
              <a:rPr lang="en-US" sz="2800" dirty="0">
                <a:solidFill>
                  <a:srgbClr val="0F172A"/>
                </a:solidFill>
                <a:latin typeface="Calibri" pitchFamily="34" charset="0"/>
                <a:ea typeface="Calibri" pitchFamily="34" charset="-122"/>
                <a:cs typeface="Calibri" pitchFamily="34" charset="-120"/>
              </a:rPr>
              <a:t>Strong baseline and cold-start friendly.</a:t>
            </a:r>
            <a:endParaRPr lang="en-US" sz="2800" dirty="0"/>
          </a:p>
        </p:txBody>
      </p:sp>
      <p:sp>
        <p:nvSpPr>
          <p:cNvPr id="7" name="Shape 5"/>
          <p:cNvSpPr/>
          <p:nvPr/>
        </p:nvSpPr>
        <p:spPr>
          <a:xfrm>
            <a:off x="6560820" y="1988820"/>
            <a:ext cx="5189220" cy="5829299"/>
          </a:xfrm>
          <a:prstGeom prst="roundRect">
            <a:avLst/>
          </a:prstGeom>
          <a:solidFill>
            <a:srgbClr val="F8FAFC"/>
          </a:solidFill>
          <a:ln w="12700">
            <a:solidFill>
              <a:srgbClr val="E2E8F0"/>
            </a:solidFill>
            <a:prstDash val="solid"/>
          </a:ln>
          <a:effectLst>
            <a:outerShdw blurRad="38100" dist="12700" dir="2700000" algn="bl" rotWithShape="0">
              <a:srgbClr val="000000">
                <a:alpha val="10000"/>
              </a:srgbClr>
            </a:outerShdw>
          </a:effectLst>
        </p:spPr>
        <p:txBody>
          <a:bodyPr/>
          <a:lstStyle/>
          <a:p>
            <a:endParaRPr lang="en-US"/>
          </a:p>
        </p:txBody>
      </p:sp>
      <p:sp>
        <p:nvSpPr>
          <p:cNvPr id="8" name="Text 6"/>
          <p:cNvSpPr/>
          <p:nvPr/>
        </p:nvSpPr>
        <p:spPr>
          <a:xfrm>
            <a:off x="6972300" y="2468880"/>
            <a:ext cx="4366260" cy="617220"/>
          </a:xfrm>
          <a:prstGeom prst="rect">
            <a:avLst/>
          </a:prstGeom>
          <a:noFill/>
          <a:ln/>
        </p:spPr>
        <p:txBody>
          <a:bodyPr wrap="square" rtlCol="0" anchor="ctr"/>
          <a:lstStyle/>
          <a:p>
            <a:r>
              <a:rPr lang="en-US" sz="2700" b="1" dirty="0">
                <a:solidFill>
                  <a:srgbClr val="0F172A"/>
                </a:solidFill>
                <a:latin typeface="Calibri" pitchFamily="34" charset="0"/>
                <a:ea typeface="Calibri" pitchFamily="34" charset="-122"/>
                <a:cs typeface="Calibri" pitchFamily="34" charset="-120"/>
              </a:rPr>
              <a:t>Item–Item CF (cosine)</a:t>
            </a:r>
            <a:endParaRPr lang="en-US" sz="2700" dirty="0"/>
          </a:p>
        </p:txBody>
      </p:sp>
      <p:sp>
        <p:nvSpPr>
          <p:cNvPr id="9" name="Text 7"/>
          <p:cNvSpPr/>
          <p:nvPr/>
        </p:nvSpPr>
        <p:spPr>
          <a:xfrm>
            <a:off x="6972300" y="3291840"/>
            <a:ext cx="4366260" cy="1920240"/>
          </a:xfrm>
          <a:prstGeom prst="rect">
            <a:avLst/>
          </a:prstGeom>
          <a:noFill/>
          <a:ln/>
        </p:spPr>
        <p:txBody>
          <a:bodyPr wrap="square" rtlCol="0" anchor="ctr"/>
          <a:lstStyle/>
          <a:p>
            <a:pPr marL="342900" indent="-342900">
              <a:spcAft>
                <a:spcPts val="1200"/>
              </a:spcAft>
              <a:buSzPct val="100000"/>
              <a:buChar char="•"/>
            </a:pPr>
            <a:r>
              <a:rPr lang="en-US" sz="2800" dirty="0">
                <a:solidFill>
                  <a:srgbClr val="0F172A"/>
                </a:solidFill>
                <a:latin typeface="Calibri" pitchFamily="34" charset="0"/>
                <a:ea typeface="Calibri" pitchFamily="34" charset="-122"/>
                <a:cs typeface="Calibri" pitchFamily="34" charset="-120"/>
              </a:rPr>
              <a:t>Finds similar items using cosine similarity.</a:t>
            </a:r>
            <a:endParaRPr lang="en-US" sz="2800" dirty="0"/>
          </a:p>
          <a:p>
            <a:pPr marL="342900" indent="-342900">
              <a:spcAft>
                <a:spcPts val="1200"/>
              </a:spcAft>
              <a:buSzPct val="100000"/>
              <a:buChar char="•"/>
            </a:pPr>
            <a:r>
              <a:rPr lang="en-US" sz="2800" dirty="0">
                <a:solidFill>
                  <a:srgbClr val="0F172A"/>
                </a:solidFill>
                <a:latin typeface="Calibri" pitchFamily="34" charset="0"/>
                <a:ea typeface="Calibri" pitchFamily="34" charset="-122"/>
                <a:cs typeface="Calibri" pitchFamily="34" charset="-120"/>
              </a:rPr>
              <a:t>Explainable: “similar to items you liked”.</a:t>
            </a:r>
            <a:endParaRPr lang="en-US" sz="2800" dirty="0"/>
          </a:p>
        </p:txBody>
      </p:sp>
      <p:sp>
        <p:nvSpPr>
          <p:cNvPr id="10" name="Shape 8"/>
          <p:cNvSpPr/>
          <p:nvPr/>
        </p:nvSpPr>
        <p:spPr>
          <a:xfrm>
            <a:off x="12230100" y="1988820"/>
            <a:ext cx="5189220" cy="5593080"/>
          </a:xfrm>
          <a:prstGeom prst="roundRect">
            <a:avLst/>
          </a:prstGeom>
          <a:solidFill>
            <a:srgbClr val="F8FAFC"/>
          </a:solidFill>
          <a:ln w="12700">
            <a:solidFill>
              <a:srgbClr val="E2E8F0"/>
            </a:solidFill>
            <a:prstDash val="solid"/>
          </a:ln>
          <a:effectLst>
            <a:outerShdw blurRad="38100" dist="12700" dir="2700000" algn="bl" rotWithShape="0">
              <a:srgbClr val="000000">
                <a:alpha val="10000"/>
              </a:srgbClr>
            </a:outerShdw>
          </a:effectLst>
        </p:spPr>
        <p:txBody>
          <a:bodyPr/>
          <a:lstStyle/>
          <a:p>
            <a:endParaRPr lang="en-US"/>
          </a:p>
        </p:txBody>
      </p:sp>
      <p:sp>
        <p:nvSpPr>
          <p:cNvPr id="11" name="Text 9"/>
          <p:cNvSpPr/>
          <p:nvPr/>
        </p:nvSpPr>
        <p:spPr>
          <a:xfrm>
            <a:off x="12641580" y="2468880"/>
            <a:ext cx="4366260" cy="617220"/>
          </a:xfrm>
          <a:prstGeom prst="rect">
            <a:avLst/>
          </a:prstGeom>
          <a:noFill/>
          <a:ln/>
        </p:spPr>
        <p:txBody>
          <a:bodyPr wrap="square" rtlCol="0" anchor="ctr"/>
          <a:lstStyle/>
          <a:p>
            <a:r>
              <a:rPr lang="en-US" sz="2700" b="1" dirty="0">
                <a:solidFill>
                  <a:srgbClr val="0F172A"/>
                </a:solidFill>
                <a:latin typeface="Calibri" pitchFamily="34" charset="0"/>
                <a:ea typeface="Calibri" pitchFamily="34" charset="-122"/>
                <a:cs typeface="Calibri" pitchFamily="34" charset="-120"/>
              </a:rPr>
              <a:t>TruncatedSVD (main model)</a:t>
            </a:r>
            <a:endParaRPr lang="en-US" sz="2700" dirty="0"/>
          </a:p>
        </p:txBody>
      </p:sp>
      <p:sp>
        <p:nvSpPr>
          <p:cNvPr id="12" name="Text 10"/>
          <p:cNvSpPr/>
          <p:nvPr/>
        </p:nvSpPr>
        <p:spPr>
          <a:xfrm>
            <a:off x="12641580" y="3291840"/>
            <a:ext cx="4366260" cy="1920240"/>
          </a:xfrm>
          <a:prstGeom prst="rect">
            <a:avLst/>
          </a:prstGeom>
          <a:noFill/>
          <a:ln/>
        </p:spPr>
        <p:txBody>
          <a:bodyPr wrap="square" rtlCol="0" anchor="ctr"/>
          <a:lstStyle/>
          <a:p>
            <a:pPr marL="342900" indent="-342900">
              <a:spcAft>
                <a:spcPts val="1200"/>
              </a:spcAft>
              <a:buSzPct val="100000"/>
              <a:buChar char="•"/>
            </a:pPr>
            <a:r>
              <a:rPr lang="en-US" sz="2800" dirty="0">
                <a:solidFill>
                  <a:srgbClr val="0F172A"/>
                </a:solidFill>
                <a:latin typeface="Calibri" pitchFamily="34" charset="0"/>
                <a:ea typeface="Calibri" pitchFamily="34" charset="-122"/>
                <a:cs typeface="Calibri" pitchFamily="34" charset="-120"/>
              </a:rPr>
              <a:t>Learns latent factors from sparse matrix.</a:t>
            </a:r>
            <a:endParaRPr lang="en-US" sz="2800" dirty="0"/>
          </a:p>
          <a:p>
            <a:pPr marL="342900" indent="-342900">
              <a:spcAft>
                <a:spcPts val="1200"/>
              </a:spcAft>
              <a:buSzPct val="100000"/>
              <a:buChar char="•"/>
            </a:pPr>
            <a:r>
              <a:rPr lang="en-US" sz="2800" dirty="0">
                <a:solidFill>
                  <a:srgbClr val="0F172A"/>
                </a:solidFill>
                <a:latin typeface="Calibri" pitchFamily="34" charset="0"/>
                <a:ea typeface="Calibri" pitchFamily="34" charset="-122"/>
                <a:cs typeface="Calibri" pitchFamily="34" charset="-120"/>
              </a:rPr>
              <a:t>Captures subtle user preferences.</a:t>
            </a:r>
            <a:endParaRPr lang="en-US" sz="2800" dirty="0"/>
          </a:p>
        </p:txBody>
      </p:sp>
      <p:sp>
        <p:nvSpPr>
          <p:cNvPr id="13" name="Shape 11"/>
          <p:cNvSpPr/>
          <p:nvPr/>
        </p:nvSpPr>
        <p:spPr>
          <a:xfrm>
            <a:off x="891540" y="9532620"/>
            <a:ext cx="16527780" cy="0"/>
          </a:xfrm>
          <a:prstGeom prst="rect">
            <a:avLst/>
          </a:prstGeom>
          <a:noFill/>
          <a:ln w="12700">
            <a:solidFill>
              <a:srgbClr val="CBD5E1"/>
            </a:solidFill>
            <a:prstDash val="solid"/>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CC414-8DB7-5E4B-87E2-89CA35C50074}"/>
            </a:ext>
          </a:extLst>
        </p:cNvPr>
        <p:cNvGrpSpPr/>
        <p:nvPr/>
      </p:nvGrpSpPr>
      <p:grpSpPr>
        <a:xfrm>
          <a:off x="0" y="0"/>
          <a:ext cx="0" cy="0"/>
          <a:chOff x="0" y="0"/>
          <a:chExt cx="0" cy="0"/>
        </a:xfrm>
      </p:grpSpPr>
      <p:sp>
        <p:nvSpPr>
          <p:cNvPr id="4" name="object 4" descr="$PPTXTitle">
            <a:extLst>
              <a:ext uri="{FF2B5EF4-FFF2-40B4-BE49-F238E27FC236}">
                <a16:creationId xmlns:a16="http://schemas.microsoft.com/office/drawing/2014/main" id="{E025CB0A-65A7-5522-510F-BC0FA785516C}"/>
              </a:ext>
            </a:extLst>
          </p:cNvPr>
          <p:cNvSpPr txBox="1">
            <a:spLocks noGrp="1"/>
          </p:cNvSpPr>
          <p:nvPr>
            <p:ph type="title"/>
          </p:nvPr>
        </p:nvSpPr>
        <p:spPr>
          <a:xfrm>
            <a:off x="4343400" y="4030484"/>
            <a:ext cx="15697200" cy="1086067"/>
          </a:xfrm>
          <a:prstGeom prst="rect">
            <a:avLst/>
          </a:prstGeom>
        </p:spPr>
        <p:txBody>
          <a:bodyPr vert="horz" wrap="square" lIns="0" tIns="185420" rIns="0" bIns="0" rtlCol="0">
            <a:spAutoFit/>
          </a:bodyPr>
          <a:lstStyle/>
          <a:p>
            <a:pPr marL="2280920" marR="5080" indent="-2268855">
              <a:lnSpc>
                <a:spcPts val="6800"/>
              </a:lnSpc>
              <a:spcBef>
                <a:spcPts val="1460"/>
              </a:spcBef>
            </a:pPr>
            <a:r>
              <a:rPr lang="en-US" spc="-295" dirty="0"/>
              <a:t>Solution and Achieved Results</a:t>
            </a:r>
            <a:endParaRPr spc="400" dirty="0"/>
          </a:p>
        </p:txBody>
      </p:sp>
    </p:spTree>
    <p:extLst>
      <p:ext uri="{BB962C8B-B14F-4D97-AF65-F5344CB8AC3E}">
        <p14:creationId xmlns:p14="http://schemas.microsoft.com/office/powerpoint/2010/main" val="2232125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3" name="object 3" descr="$PPTXTitle"/>
          <p:cNvSpPr txBox="1">
            <a:spLocks noGrp="1"/>
          </p:cNvSpPr>
          <p:nvPr>
            <p:ph type="title"/>
          </p:nvPr>
        </p:nvSpPr>
        <p:spPr>
          <a:xfrm>
            <a:off x="0" y="1927569"/>
            <a:ext cx="16916399" cy="1059264"/>
          </a:xfrm>
          <a:prstGeom prst="rect">
            <a:avLst/>
          </a:prstGeom>
        </p:spPr>
        <p:txBody>
          <a:bodyPr vert="horz" wrap="square" lIns="0" tIns="12700" rIns="0" bIns="0" rtlCol="0">
            <a:spAutoFit/>
          </a:bodyPr>
          <a:lstStyle/>
          <a:p>
            <a:pPr marL="2262505">
              <a:lnSpc>
                <a:spcPct val="100000"/>
              </a:lnSpc>
              <a:spcBef>
                <a:spcPts val="100"/>
              </a:spcBef>
            </a:pPr>
            <a:r>
              <a:rPr lang="en-US" spc="270" dirty="0">
                <a:solidFill>
                  <a:srgbClr val="37403A"/>
                </a:solidFill>
              </a:rPr>
              <a:t>7.1.How We Used </a:t>
            </a:r>
            <a:r>
              <a:rPr spc="270" dirty="0">
                <a:solidFill>
                  <a:srgbClr val="37403A"/>
                </a:solidFill>
              </a:rPr>
              <a:t>Train/Test</a:t>
            </a:r>
            <a:r>
              <a:rPr spc="-90" dirty="0">
                <a:solidFill>
                  <a:srgbClr val="37403A"/>
                </a:solidFill>
              </a:rPr>
              <a:t> </a:t>
            </a:r>
            <a:r>
              <a:rPr spc="505" dirty="0">
                <a:solidFill>
                  <a:srgbClr val="37403A"/>
                </a:solidFill>
              </a:rPr>
              <a:t>Strategy</a:t>
            </a:r>
          </a:p>
        </p:txBody>
      </p:sp>
      <p:sp>
        <p:nvSpPr>
          <p:cNvPr id="7" name="object 7"/>
          <p:cNvSpPr/>
          <p:nvPr/>
        </p:nvSpPr>
        <p:spPr>
          <a:xfrm>
            <a:off x="12603905" y="5203052"/>
            <a:ext cx="887730" cy="633730"/>
          </a:xfrm>
          <a:custGeom>
            <a:avLst/>
            <a:gdLst/>
            <a:ahLst/>
            <a:cxnLst/>
            <a:rect l="l" t="t" r="r" b="b"/>
            <a:pathLst>
              <a:path w="887730" h="633729">
                <a:moveTo>
                  <a:pt x="443534" y="162218"/>
                </a:moveTo>
                <a:lnTo>
                  <a:pt x="397357" y="188569"/>
                </a:lnTo>
                <a:lnTo>
                  <a:pt x="187578" y="515416"/>
                </a:lnTo>
                <a:lnTo>
                  <a:pt x="169852" y="564524"/>
                </a:lnTo>
                <a:lnTo>
                  <a:pt x="171637" y="582910"/>
                </a:lnTo>
                <a:lnTo>
                  <a:pt x="204604" y="623490"/>
                </a:lnTo>
                <a:lnTo>
                  <a:pt x="244728" y="633349"/>
                </a:lnTo>
                <a:lnTo>
                  <a:pt x="642340" y="633349"/>
                </a:lnTo>
                <a:lnTo>
                  <a:pt x="682470" y="623490"/>
                </a:lnTo>
                <a:lnTo>
                  <a:pt x="715481" y="582910"/>
                </a:lnTo>
                <a:lnTo>
                  <a:pt x="717308" y="564524"/>
                </a:lnTo>
                <a:lnTo>
                  <a:pt x="716131" y="558596"/>
                </a:lnTo>
                <a:lnTo>
                  <a:pt x="424687" y="558596"/>
                </a:lnTo>
                <a:lnTo>
                  <a:pt x="416588" y="556954"/>
                </a:lnTo>
                <a:lnTo>
                  <a:pt x="409962" y="552481"/>
                </a:lnTo>
                <a:lnTo>
                  <a:pt x="405489" y="545855"/>
                </a:lnTo>
                <a:lnTo>
                  <a:pt x="403873" y="537883"/>
                </a:lnTo>
                <a:lnTo>
                  <a:pt x="403847" y="499935"/>
                </a:lnTo>
                <a:lnTo>
                  <a:pt x="405489" y="491855"/>
                </a:lnTo>
                <a:lnTo>
                  <a:pt x="409962" y="485273"/>
                </a:lnTo>
                <a:lnTo>
                  <a:pt x="416588" y="480843"/>
                </a:lnTo>
                <a:lnTo>
                  <a:pt x="424687" y="479221"/>
                </a:lnTo>
                <a:lnTo>
                  <a:pt x="676332" y="479221"/>
                </a:lnTo>
                <a:lnTo>
                  <a:pt x="664630" y="460997"/>
                </a:lnTo>
                <a:lnTo>
                  <a:pt x="422567" y="460997"/>
                </a:lnTo>
                <a:lnTo>
                  <a:pt x="414255" y="459327"/>
                </a:lnTo>
                <a:lnTo>
                  <a:pt x="407373" y="454745"/>
                </a:lnTo>
                <a:lnTo>
                  <a:pt x="402598" y="447892"/>
                </a:lnTo>
                <a:lnTo>
                  <a:pt x="400608" y="439407"/>
                </a:lnTo>
                <a:lnTo>
                  <a:pt x="393496" y="269938"/>
                </a:lnTo>
                <a:lnTo>
                  <a:pt x="394931" y="261268"/>
                </a:lnTo>
                <a:lnTo>
                  <a:pt x="399620" y="254119"/>
                </a:lnTo>
                <a:lnTo>
                  <a:pt x="406748" y="249262"/>
                </a:lnTo>
                <a:lnTo>
                  <a:pt x="415455" y="247472"/>
                </a:lnTo>
                <a:lnTo>
                  <a:pt x="527531" y="247472"/>
                </a:lnTo>
                <a:lnTo>
                  <a:pt x="489711" y="188569"/>
                </a:lnTo>
                <a:lnTo>
                  <a:pt x="468961" y="168822"/>
                </a:lnTo>
                <a:lnTo>
                  <a:pt x="443534" y="162218"/>
                </a:lnTo>
                <a:close/>
              </a:path>
              <a:path w="887730" h="633729">
                <a:moveTo>
                  <a:pt x="676332" y="479221"/>
                </a:moveTo>
                <a:lnTo>
                  <a:pt x="462508" y="479221"/>
                </a:lnTo>
                <a:lnTo>
                  <a:pt x="470608" y="480843"/>
                </a:lnTo>
                <a:lnTo>
                  <a:pt x="477234" y="485273"/>
                </a:lnTo>
                <a:lnTo>
                  <a:pt x="481707" y="491855"/>
                </a:lnTo>
                <a:lnTo>
                  <a:pt x="483218" y="499289"/>
                </a:lnTo>
                <a:lnTo>
                  <a:pt x="483323" y="537883"/>
                </a:lnTo>
                <a:lnTo>
                  <a:pt x="481707" y="545855"/>
                </a:lnTo>
                <a:lnTo>
                  <a:pt x="477234" y="552481"/>
                </a:lnTo>
                <a:lnTo>
                  <a:pt x="470608" y="556954"/>
                </a:lnTo>
                <a:lnTo>
                  <a:pt x="462508" y="558596"/>
                </a:lnTo>
                <a:lnTo>
                  <a:pt x="716131" y="558596"/>
                </a:lnTo>
                <a:lnTo>
                  <a:pt x="712811" y="542018"/>
                </a:lnTo>
                <a:lnTo>
                  <a:pt x="699553" y="515416"/>
                </a:lnTo>
                <a:lnTo>
                  <a:pt x="676332" y="479221"/>
                </a:lnTo>
                <a:close/>
              </a:path>
              <a:path w="887730" h="633729">
                <a:moveTo>
                  <a:pt x="462508" y="499935"/>
                </a:moveTo>
                <a:lnTo>
                  <a:pt x="424687" y="499935"/>
                </a:lnTo>
                <a:lnTo>
                  <a:pt x="424667" y="506056"/>
                </a:lnTo>
                <a:lnTo>
                  <a:pt x="424560" y="537883"/>
                </a:lnTo>
                <a:lnTo>
                  <a:pt x="462508" y="537883"/>
                </a:lnTo>
                <a:lnTo>
                  <a:pt x="462508" y="499935"/>
                </a:lnTo>
                <a:close/>
              </a:path>
              <a:path w="887730" h="633729">
                <a:moveTo>
                  <a:pt x="273439" y="114111"/>
                </a:moveTo>
                <a:lnTo>
                  <a:pt x="230624" y="122364"/>
                </a:lnTo>
                <a:lnTo>
                  <a:pt x="192360" y="142485"/>
                </a:lnTo>
                <a:lnTo>
                  <a:pt x="161344" y="173025"/>
                </a:lnTo>
                <a:lnTo>
                  <a:pt x="140271" y="212534"/>
                </a:lnTo>
                <a:lnTo>
                  <a:pt x="95734" y="221697"/>
                </a:lnTo>
                <a:lnTo>
                  <a:pt x="57203" y="243215"/>
                </a:lnTo>
                <a:lnTo>
                  <a:pt x="26914" y="274851"/>
                </a:lnTo>
                <a:lnTo>
                  <a:pt x="7101" y="314371"/>
                </a:lnTo>
                <a:lnTo>
                  <a:pt x="0" y="359537"/>
                </a:lnTo>
                <a:lnTo>
                  <a:pt x="7515" y="406049"/>
                </a:lnTo>
                <a:lnTo>
                  <a:pt x="28437" y="446472"/>
                </a:lnTo>
                <a:lnTo>
                  <a:pt x="60328" y="478365"/>
                </a:lnTo>
                <a:lnTo>
                  <a:pt x="100751" y="499289"/>
                </a:lnTo>
                <a:lnTo>
                  <a:pt x="147269" y="506806"/>
                </a:lnTo>
                <a:lnTo>
                  <a:pt x="172478" y="506806"/>
                </a:lnTo>
                <a:lnTo>
                  <a:pt x="172592" y="506552"/>
                </a:lnTo>
                <a:lnTo>
                  <a:pt x="172846" y="506298"/>
                </a:lnTo>
                <a:lnTo>
                  <a:pt x="172973" y="506056"/>
                </a:lnTo>
                <a:lnTo>
                  <a:pt x="382752" y="179209"/>
                </a:lnTo>
                <a:lnTo>
                  <a:pt x="410033" y="153442"/>
                </a:lnTo>
                <a:lnTo>
                  <a:pt x="443534" y="144853"/>
                </a:lnTo>
                <a:lnTo>
                  <a:pt x="733938" y="144853"/>
                </a:lnTo>
                <a:lnTo>
                  <a:pt x="707170" y="131787"/>
                </a:lnTo>
                <a:lnTo>
                  <a:pt x="609015" y="131787"/>
                </a:lnTo>
                <a:lnTo>
                  <a:pt x="605753" y="119176"/>
                </a:lnTo>
                <a:lnTo>
                  <a:pt x="318109" y="119176"/>
                </a:lnTo>
                <a:lnTo>
                  <a:pt x="273439" y="114111"/>
                </a:lnTo>
                <a:close/>
              </a:path>
              <a:path w="887730" h="633729">
                <a:moveTo>
                  <a:pt x="733938" y="144853"/>
                </a:moveTo>
                <a:lnTo>
                  <a:pt x="443534" y="144853"/>
                </a:lnTo>
                <a:lnTo>
                  <a:pt x="477035" y="153442"/>
                </a:lnTo>
                <a:lnTo>
                  <a:pt x="504316" y="179209"/>
                </a:lnTo>
                <a:lnTo>
                  <a:pt x="714185" y="506056"/>
                </a:lnTo>
                <a:lnTo>
                  <a:pt x="714717" y="506806"/>
                </a:lnTo>
                <a:lnTo>
                  <a:pt x="739927" y="506806"/>
                </a:lnTo>
                <a:lnTo>
                  <a:pt x="786384" y="499289"/>
                </a:lnTo>
                <a:lnTo>
                  <a:pt x="826776" y="478365"/>
                </a:lnTo>
                <a:lnTo>
                  <a:pt x="858667" y="446472"/>
                </a:lnTo>
                <a:lnTo>
                  <a:pt x="879620" y="406049"/>
                </a:lnTo>
                <a:lnTo>
                  <a:pt x="887196" y="359537"/>
                </a:lnTo>
                <a:lnTo>
                  <a:pt x="881018" y="317090"/>
                </a:lnTo>
                <a:lnTo>
                  <a:pt x="863420" y="279122"/>
                </a:lnTo>
                <a:lnTo>
                  <a:pt x="835809" y="247728"/>
                </a:lnTo>
                <a:lnTo>
                  <a:pt x="799591" y="225005"/>
                </a:lnTo>
                <a:lnTo>
                  <a:pt x="777421" y="182099"/>
                </a:lnTo>
                <a:lnTo>
                  <a:pt x="743882" y="149706"/>
                </a:lnTo>
                <a:lnTo>
                  <a:pt x="733938" y="144853"/>
                </a:lnTo>
                <a:close/>
              </a:path>
              <a:path w="887730" h="633729">
                <a:moveTo>
                  <a:pt x="527531" y="247472"/>
                </a:moveTo>
                <a:lnTo>
                  <a:pt x="471741" y="247472"/>
                </a:lnTo>
                <a:lnTo>
                  <a:pt x="480403" y="249262"/>
                </a:lnTo>
                <a:lnTo>
                  <a:pt x="487497" y="254119"/>
                </a:lnTo>
                <a:lnTo>
                  <a:pt x="492202" y="261268"/>
                </a:lnTo>
                <a:lnTo>
                  <a:pt x="493699" y="269938"/>
                </a:lnTo>
                <a:lnTo>
                  <a:pt x="486624" y="438543"/>
                </a:lnTo>
                <a:lnTo>
                  <a:pt x="486587" y="439407"/>
                </a:lnTo>
                <a:lnTo>
                  <a:pt x="484596" y="447892"/>
                </a:lnTo>
                <a:lnTo>
                  <a:pt x="479818" y="454745"/>
                </a:lnTo>
                <a:lnTo>
                  <a:pt x="472936" y="459327"/>
                </a:lnTo>
                <a:lnTo>
                  <a:pt x="464629" y="460997"/>
                </a:lnTo>
                <a:lnTo>
                  <a:pt x="664630" y="460997"/>
                </a:lnTo>
                <a:lnTo>
                  <a:pt x="527531" y="247472"/>
                </a:lnTo>
                <a:close/>
              </a:path>
              <a:path w="887730" h="633729">
                <a:moveTo>
                  <a:pt x="472427" y="268439"/>
                </a:moveTo>
                <a:lnTo>
                  <a:pt x="414705" y="268439"/>
                </a:lnTo>
                <a:lnTo>
                  <a:pt x="414451" y="268681"/>
                </a:lnTo>
                <a:lnTo>
                  <a:pt x="421449" y="438543"/>
                </a:lnTo>
                <a:lnTo>
                  <a:pt x="421449" y="439407"/>
                </a:lnTo>
                <a:lnTo>
                  <a:pt x="421944" y="440283"/>
                </a:lnTo>
                <a:lnTo>
                  <a:pt x="465378" y="440283"/>
                </a:lnTo>
                <a:lnTo>
                  <a:pt x="465747" y="439407"/>
                </a:lnTo>
                <a:lnTo>
                  <a:pt x="465874" y="438543"/>
                </a:lnTo>
                <a:lnTo>
                  <a:pt x="472949" y="269938"/>
                </a:lnTo>
                <a:lnTo>
                  <a:pt x="472986" y="269062"/>
                </a:lnTo>
                <a:lnTo>
                  <a:pt x="472702" y="268681"/>
                </a:lnTo>
                <a:lnTo>
                  <a:pt x="472427" y="268439"/>
                </a:lnTo>
                <a:close/>
              </a:path>
              <a:path w="887730" h="633729">
                <a:moveTo>
                  <a:pt x="656283" y="122933"/>
                </a:moveTo>
                <a:lnTo>
                  <a:pt x="609015" y="131787"/>
                </a:lnTo>
                <a:lnTo>
                  <a:pt x="707170" y="131787"/>
                </a:lnTo>
                <a:lnTo>
                  <a:pt x="702371" y="129445"/>
                </a:lnTo>
                <a:lnTo>
                  <a:pt x="656283" y="122933"/>
                </a:lnTo>
                <a:close/>
              </a:path>
              <a:path w="887730" h="633729">
                <a:moveTo>
                  <a:pt x="462635" y="0"/>
                </a:moveTo>
                <a:lnTo>
                  <a:pt x="411780" y="8952"/>
                </a:lnTo>
                <a:lnTo>
                  <a:pt x="368517" y="33804"/>
                </a:lnTo>
                <a:lnTo>
                  <a:pt x="336182" y="71548"/>
                </a:lnTo>
                <a:lnTo>
                  <a:pt x="318109" y="119176"/>
                </a:lnTo>
                <a:lnTo>
                  <a:pt x="605753" y="119176"/>
                </a:lnTo>
                <a:lnTo>
                  <a:pt x="576035" y="53423"/>
                </a:lnTo>
                <a:lnTo>
                  <a:pt x="544764" y="25072"/>
                </a:lnTo>
                <a:lnTo>
                  <a:pt x="506299" y="6600"/>
                </a:lnTo>
                <a:lnTo>
                  <a:pt x="462635" y="0"/>
                </a:lnTo>
                <a:close/>
              </a:path>
            </a:pathLst>
          </a:custGeom>
          <a:solidFill>
            <a:srgbClr val="5F8262"/>
          </a:solidFill>
        </p:spPr>
        <p:txBody>
          <a:bodyPr wrap="square" lIns="0" tIns="0" rIns="0" bIns="0" rtlCol="0"/>
          <a:lstStyle/>
          <a:p>
            <a:endParaRPr/>
          </a:p>
        </p:txBody>
      </p:sp>
      <p:sp>
        <p:nvSpPr>
          <p:cNvPr id="8" name="object 8"/>
          <p:cNvSpPr/>
          <p:nvPr/>
        </p:nvSpPr>
        <p:spPr>
          <a:xfrm>
            <a:off x="6987883" y="5203126"/>
            <a:ext cx="655955" cy="633730"/>
          </a:xfrm>
          <a:custGeom>
            <a:avLst/>
            <a:gdLst/>
            <a:ahLst/>
            <a:cxnLst/>
            <a:rect l="l" t="t" r="r" b="b"/>
            <a:pathLst>
              <a:path w="655954" h="633729">
                <a:moveTo>
                  <a:pt x="223215" y="177812"/>
                </a:moveTo>
                <a:lnTo>
                  <a:pt x="205587" y="130835"/>
                </a:lnTo>
                <a:lnTo>
                  <a:pt x="187972" y="177812"/>
                </a:lnTo>
                <a:lnTo>
                  <a:pt x="223215" y="177812"/>
                </a:lnTo>
                <a:close/>
              </a:path>
              <a:path w="655954" h="633729">
                <a:moveTo>
                  <a:pt x="411200" y="61125"/>
                </a:moveTo>
                <a:lnTo>
                  <a:pt x="406400" y="37312"/>
                </a:lnTo>
                <a:lnTo>
                  <a:pt x="393306" y="17894"/>
                </a:lnTo>
                <a:lnTo>
                  <a:pt x="373875" y="4800"/>
                </a:lnTo>
                <a:lnTo>
                  <a:pt x="350075" y="0"/>
                </a:lnTo>
                <a:lnTo>
                  <a:pt x="288950" y="0"/>
                </a:lnTo>
                <a:lnTo>
                  <a:pt x="288950" y="185280"/>
                </a:lnTo>
                <a:lnTo>
                  <a:pt x="288950" y="203682"/>
                </a:lnTo>
                <a:lnTo>
                  <a:pt x="281482" y="211150"/>
                </a:lnTo>
                <a:lnTo>
                  <a:pt x="271322" y="211150"/>
                </a:lnTo>
                <a:lnTo>
                  <a:pt x="287883" y="255320"/>
                </a:lnTo>
                <a:lnTo>
                  <a:pt x="271792" y="277736"/>
                </a:lnTo>
                <a:lnTo>
                  <a:pt x="265874" y="276326"/>
                </a:lnTo>
                <a:lnTo>
                  <a:pt x="265658" y="276326"/>
                </a:lnTo>
                <a:lnTo>
                  <a:pt x="260286" y="272630"/>
                </a:lnTo>
                <a:lnTo>
                  <a:pt x="256667" y="267017"/>
                </a:lnTo>
                <a:lnTo>
                  <a:pt x="235724" y="211150"/>
                </a:lnTo>
                <a:lnTo>
                  <a:pt x="175475" y="211150"/>
                </a:lnTo>
                <a:lnTo>
                  <a:pt x="154520" y="267017"/>
                </a:lnTo>
                <a:lnTo>
                  <a:pt x="151015" y="272630"/>
                </a:lnTo>
                <a:lnTo>
                  <a:pt x="145796" y="276326"/>
                </a:lnTo>
                <a:lnTo>
                  <a:pt x="139585" y="277812"/>
                </a:lnTo>
                <a:lnTo>
                  <a:pt x="133070" y="276771"/>
                </a:lnTo>
                <a:lnTo>
                  <a:pt x="127444" y="273265"/>
                </a:lnTo>
                <a:lnTo>
                  <a:pt x="123736" y="268058"/>
                </a:lnTo>
                <a:lnTo>
                  <a:pt x="122250" y="261848"/>
                </a:lnTo>
                <a:lnTo>
                  <a:pt x="123304" y="255320"/>
                </a:lnTo>
                <a:lnTo>
                  <a:pt x="139865" y="211150"/>
                </a:lnTo>
                <a:lnTo>
                  <a:pt x="129717" y="211150"/>
                </a:lnTo>
                <a:lnTo>
                  <a:pt x="122250" y="203682"/>
                </a:lnTo>
                <a:lnTo>
                  <a:pt x="122250" y="185280"/>
                </a:lnTo>
                <a:lnTo>
                  <a:pt x="129717" y="177812"/>
                </a:lnTo>
                <a:lnTo>
                  <a:pt x="152374" y="177812"/>
                </a:lnTo>
                <a:lnTo>
                  <a:pt x="192430" y="70993"/>
                </a:lnTo>
                <a:lnTo>
                  <a:pt x="198653" y="66675"/>
                </a:lnTo>
                <a:lnTo>
                  <a:pt x="212547" y="66675"/>
                </a:lnTo>
                <a:lnTo>
                  <a:pt x="218757" y="70993"/>
                </a:lnTo>
                <a:lnTo>
                  <a:pt x="258826" y="177812"/>
                </a:lnTo>
                <a:lnTo>
                  <a:pt x="281482" y="177812"/>
                </a:lnTo>
                <a:lnTo>
                  <a:pt x="288950" y="185280"/>
                </a:lnTo>
                <a:lnTo>
                  <a:pt x="288950" y="0"/>
                </a:lnTo>
                <a:lnTo>
                  <a:pt x="61125" y="0"/>
                </a:lnTo>
                <a:lnTo>
                  <a:pt x="37312" y="4800"/>
                </a:lnTo>
                <a:lnTo>
                  <a:pt x="17894" y="17894"/>
                </a:lnTo>
                <a:lnTo>
                  <a:pt x="4800" y="37312"/>
                </a:lnTo>
                <a:lnTo>
                  <a:pt x="0" y="61125"/>
                </a:lnTo>
                <a:lnTo>
                  <a:pt x="0" y="283400"/>
                </a:lnTo>
                <a:lnTo>
                  <a:pt x="4800" y="307200"/>
                </a:lnTo>
                <a:lnTo>
                  <a:pt x="17894" y="326631"/>
                </a:lnTo>
                <a:lnTo>
                  <a:pt x="37312" y="339725"/>
                </a:lnTo>
                <a:lnTo>
                  <a:pt x="61125" y="344525"/>
                </a:lnTo>
                <a:lnTo>
                  <a:pt x="66675" y="344525"/>
                </a:lnTo>
                <a:lnTo>
                  <a:pt x="66675" y="416763"/>
                </a:lnTo>
                <a:lnTo>
                  <a:pt x="69456" y="425780"/>
                </a:lnTo>
                <a:lnTo>
                  <a:pt x="76365" y="431520"/>
                </a:lnTo>
                <a:lnTo>
                  <a:pt x="85267" y="433095"/>
                </a:lnTo>
                <a:lnTo>
                  <a:pt x="94018" y="429653"/>
                </a:lnTo>
                <a:lnTo>
                  <a:pt x="196037" y="344525"/>
                </a:lnTo>
                <a:lnTo>
                  <a:pt x="254050" y="344525"/>
                </a:lnTo>
                <a:lnTo>
                  <a:pt x="281051" y="299770"/>
                </a:lnTo>
                <a:lnTo>
                  <a:pt x="317296" y="262534"/>
                </a:lnTo>
                <a:lnTo>
                  <a:pt x="361200" y="234340"/>
                </a:lnTo>
                <a:lnTo>
                  <a:pt x="411200" y="216712"/>
                </a:lnTo>
                <a:lnTo>
                  <a:pt x="411200" y="66675"/>
                </a:lnTo>
                <a:lnTo>
                  <a:pt x="411200" y="61125"/>
                </a:lnTo>
                <a:close/>
              </a:path>
              <a:path w="655954" h="633729">
                <a:moveTo>
                  <a:pt x="655701" y="438988"/>
                </a:moveTo>
                <a:lnTo>
                  <a:pt x="650557" y="394449"/>
                </a:lnTo>
                <a:lnTo>
                  <a:pt x="635901" y="353529"/>
                </a:lnTo>
                <a:lnTo>
                  <a:pt x="612927" y="317411"/>
                </a:lnTo>
                <a:lnTo>
                  <a:pt x="582790" y="287274"/>
                </a:lnTo>
                <a:lnTo>
                  <a:pt x="566788" y="277101"/>
                </a:lnTo>
                <a:lnTo>
                  <a:pt x="566788" y="496468"/>
                </a:lnTo>
                <a:lnTo>
                  <a:pt x="566788" y="514870"/>
                </a:lnTo>
                <a:lnTo>
                  <a:pt x="559320" y="522338"/>
                </a:lnTo>
                <a:lnTo>
                  <a:pt x="550125" y="522338"/>
                </a:lnTo>
                <a:lnTo>
                  <a:pt x="523087" y="518795"/>
                </a:lnTo>
                <a:lnTo>
                  <a:pt x="498665" y="508812"/>
                </a:lnTo>
                <a:lnTo>
                  <a:pt x="477761" y="493293"/>
                </a:lnTo>
                <a:lnTo>
                  <a:pt x="461213" y="473202"/>
                </a:lnTo>
                <a:lnTo>
                  <a:pt x="444665" y="493293"/>
                </a:lnTo>
                <a:lnTo>
                  <a:pt x="423748" y="508812"/>
                </a:lnTo>
                <a:lnTo>
                  <a:pt x="399338" y="518795"/>
                </a:lnTo>
                <a:lnTo>
                  <a:pt x="372300" y="522338"/>
                </a:lnTo>
                <a:lnTo>
                  <a:pt x="363105" y="522338"/>
                </a:lnTo>
                <a:lnTo>
                  <a:pt x="355638" y="514870"/>
                </a:lnTo>
                <a:lnTo>
                  <a:pt x="355638" y="496468"/>
                </a:lnTo>
                <a:lnTo>
                  <a:pt x="363105" y="489000"/>
                </a:lnTo>
                <a:lnTo>
                  <a:pt x="372300" y="489000"/>
                </a:lnTo>
                <a:lnTo>
                  <a:pt x="400392" y="483311"/>
                </a:lnTo>
                <a:lnTo>
                  <a:pt x="423354" y="467817"/>
                </a:lnTo>
                <a:lnTo>
                  <a:pt x="438848" y="444855"/>
                </a:lnTo>
                <a:lnTo>
                  <a:pt x="444538" y="416763"/>
                </a:lnTo>
                <a:lnTo>
                  <a:pt x="444538" y="411200"/>
                </a:lnTo>
                <a:lnTo>
                  <a:pt x="385330" y="411200"/>
                </a:lnTo>
                <a:lnTo>
                  <a:pt x="377863" y="403733"/>
                </a:lnTo>
                <a:lnTo>
                  <a:pt x="377863" y="385330"/>
                </a:lnTo>
                <a:lnTo>
                  <a:pt x="385330" y="377863"/>
                </a:lnTo>
                <a:lnTo>
                  <a:pt x="444538" y="377863"/>
                </a:lnTo>
                <a:lnTo>
                  <a:pt x="444538" y="340880"/>
                </a:lnTo>
                <a:lnTo>
                  <a:pt x="452005" y="333400"/>
                </a:lnTo>
                <a:lnTo>
                  <a:pt x="470408" y="333400"/>
                </a:lnTo>
                <a:lnTo>
                  <a:pt x="477888" y="340880"/>
                </a:lnTo>
                <a:lnTo>
                  <a:pt x="477888" y="377863"/>
                </a:lnTo>
                <a:lnTo>
                  <a:pt x="537095" y="377863"/>
                </a:lnTo>
                <a:lnTo>
                  <a:pt x="544563" y="385330"/>
                </a:lnTo>
                <a:lnTo>
                  <a:pt x="544563" y="403733"/>
                </a:lnTo>
                <a:lnTo>
                  <a:pt x="537095" y="411200"/>
                </a:lnTo>
                <a:lnTo>
                  <a:pt x="477888" y="411200"/>
                </a:lnTo>
                <a:lnTo>
                  <a:pt x="477888" y="416763"/>
                </a:lnTo>
                <a:lnTo>
                  <a:pt x="483577" y="444855"/>
                </a:lnTo>
                <a:lnTo>
                  <a:pt x="499071" y="467817"/>
                </a:lnTo>
                <a:lnTo>
                  <a:pt x="522033" y="483311"/>
                </a:lnTo>
                <a:lnTo>
                  <a:pt x="550125" y="489000"/>
                </a:lnTo>
                <a:lnTo>
                  <a:pt x="559320" y="489000"/>
                </a:lnTo>
                <a:lnTo>
                  <a:pt x="566788" y="496468"/>
                </a:lnTo>
                <a:lnTo>
                  <a:pt x="566788" y="277101"/>
                </a:lnTo>
                <a:lnTo>
                  <a:pt x="546671" y="264299"/>
                </a:lnTo>
                <a:lnTo>
                  <a:pt x="505752" y="249643"/>
                </a:lnTo>
                <a:lnTo>
                  <a:pt x="461213" y="244500"/>
                </a:lnTo>
                <a:lnTo>
                  <a:pt x="416674" y="249643"/>
                </a:lnTo>
                <a:lnTo>
                  <a:pt x="375754" y="264299"/>
                </a:lnTo>
                <a:lnTo>
                  <a:pt x="339636" y="287274"/>
                </a:lnTo>
                <a:lnTo>
                  <a:pt x="309499" y="317411"/>
                </a:lnTo>
                <a:lnTo>
                  <a:pt x="286524" y="353529"/>
                </a:lnTo>
                <a:lnTo>
                  <a:pt x="271868" y="394449"/>
                </a:lnTo>
                <a:lnTo>
                  <a:pt x="266725" y="438988"/>
                </a:lnTo>
                <a:lnTo>
                  <a:pt x="271843" y="483311"/>
                </a:lnTo>
                <a:lnTo>
                  <a:pt x="286524" y="524446"/>
                </a:lnTo>
                <a:lnTo>
                  <a:pt x="309499" y="560565"/>
                </a:lnTo>
                <a:lnTo>
                  <a:pt x="339636" y="590702"/>
                </a:lnTo>
                <a:lnTo>
                  <a:pt x="375754" y="613676"/>
                </a:lnTo>
                <a:lnTo>
                  <a:pt x="416674" y="628332"/>
                </a:lnTo>
                <a:lnTo>
                  <a:pt x="461213" y="633476"/>
                </a:lnTo>
                <a:lnTo>
                  <a:pt x="481215" y="632434"/>
                </a:lnTo>
                <a:lnTo>
                  <a:pt x="500900" y="629348"/>
                </a:lnTo>
                <a:lnTo>
                  <a:pt x="520217" y="624205"/>
                </a:lnTo>
                <a:lnTo>
                  <a:pt x="539076" y="617042"/>
                </a:lnTo>
                <a:lnTo>
                  <a:pt x="636295" y="633260"/>
                </a:lnTo>
                <a:lnTo>
                  <a:pt x="644131" y="632587"/>
                </a:lnTo>
                <a:lnTo>
                  <a:pt x="650646" y="628497"/>
                </a:lnTo>
                <a:lnTo>
                  <a:pt x="654786" y="621995"/>
                </a:lnTo>
                <a:lnTo>
                  <a:pt x="655218" y="617042"/>
                </a:lnTo>
                <a:lnTo>
                  <a:pt x="655485" y="614070"/>
                </a:lnTo>
                <a:lnTo>
                  <a:pt x="640181" y="522338"/>
                </a:lnTo>
                <a:lnTo>
                  <a:pt x="639267" y="516851"/>
                </a:lnTo>
                <a:lnTo>
                  <a:pt x="646430" y="497979"/>
                </a:lnTo>
                <a:lnTo>
                  <a:pt x="651573" y="478675"/>
                </a:lnTo>
                <a:lnTo>
                  <a:pt x="654659" y="458990"/>
                </a:lnTo>
                <a:lnTo>
                  <a:pt x="655701" y="438988"/>
                </a:lnTo>
                <a:close/>
              </a:path>
            </a:pathLst>
          </a:custGeom>
          <a:solidFill>
            <a:srgbClr val="5F8262"/>
          </a:solidFill>
        </p:spPr>
        <p:txBody>
          <a:bodyPr wrap="square" lIns="0" tIns="0" rIns="0" bIns="0" rtlCol="0"/>
          <a:lstStyle/>
          <a:p>
            <a:endParaRPr/>
          </a:p>
        </p:txBody>
      </p:sp>
      <p:sp>
        <p:nvSpPr>
          <p:cNvPr id="9" name="object 9"/>
          <p:cNvSpPr/>
          <p:nvPr/>
        </p:nvSpPr>
        <p:spPr>
          <a:xfrm>
            <a:off x="1371667" y="5203029"/>
            <a:ext cx="612775" cy="633730"/>
          </a:xfrm>
          <a:custGeom>
            <a:avLst/>
            <a:gdLst/>
            <a:ahLst/>
            <a:cxnLst/>
            <a:rect l="l" t="t" r="r" b="b"/>
            <a:pathLst>
              <a:path w="612775" h="633729">
                <a:moveTo>
                  <a:pt x="316534" y="71637"/>
                </a:moveTo>
                <a:lnTo>
                  <a:pt x="296113" y="71637"/>
                </a:lnTo>
                <a:lnTo>
                  <a:pt x="296113" y="306778"/>
                </a:lnTo>
                <a:lnTo>
                  <a:pt x="252499" y="316856"/>
                </a:lnTo>
                <a:lnTo>
                  <a:pt x="216989" y="341630"/>
                </a:lnTo>
                <a:lnTo>
                  <a:pt x="192961" y="377647"/>
                </a:lnTo>
                <a:lnTo>
                  <a:pt x="183794" y="421459"/>
                </a:lnTo>
                <a:lnTo>
                  <a:pt x="183794" y="633244"/>
                </a:lnTo>
                <a:lnTo>
                  <a:pt x="326745" y="633244"/>
                </a:lnTo>
                <a:lnTo>
                  <a:pt x="326745" y="609038"/>
                </a:lnTo>
                <a:lnTo>
                  <a:pt x="388899" y="609038"/>
                </a:lnTo>
                <a:lnTo>
                  <a:pt x="403260" y="606342"/>
                </a:lnTo>
                <a:lnTo>
                  <a:pt x="415064" y="598614"/>
                </a:lnTo>
                <a:lnTo>
                  <a:pt x="423110" y="587024"/>
                </a:lnTo>
                <a:lnTo>
                  <a:pt x="426199" y="572741"/>
                </a:lnTo>
                <a:lnTo>
                  <a:pt x="426199" y="536432"/>
                </a:lnTo>
                <a:lnTo>
                  <a:pt x="469696" y="524329"/>
                </a:lnTo>
                <a:lnTo>
                  <a:pt x="448721" y="490294"/>
                </a:lnTo>
                <a:lnTo>
                  <a:pt x="306324" y="490294"/>
                </a:lnTo>
                <a:lnTo>
                  <a:pt x="296402" y="489640"/>
                </a:lnTo>
                <a:lnTo>
                  <a:pt x="286613" y="487664"/>
                </a:lnTo>
                <a:lnTo>
                  <a:pt x="286651" y="475395"/>
                </a:lnTo>
                <a:lnTo>
                  <a:pt x="284568" y="472093"/>
                </a:lnTo>
                <a:lnTo>
                  <a:pt x="281292" y="470569"/>
                </a:lnTo>
                <a:lnTo>
                  <a:pt x="279487" y="469757"/>
                </a:lnTo>
                <a:lnTo>
                  <a:pt x="254508" y="469757"/>
                </a:lnTo>
                <a:lnTo>
                  <a:pt x="247914" y="462575"/>
                </a:lnTo>
                <a:lnTo>
                  <a:pt x="242392" y="454598"/>
                </a:lnTo>
                <a:lnTo>
                  <a:pt x="238013" y="445941"/>
                </a:lnTo>
                <a:lnTo>
                  <a:pt x="234848" y="436724"/>
                </a:lnTo>
                <a:lnTo>
                  <a:pt x="248234" y="429244"/>
                </a:lnTo>
                <a:lnTo>
                  <a:pt x="246862" y="422360"/>
                </a:lnTo>
                <a:lnTo>
                  <a:pt x="246862" y="415274"/>
                </a:lnTo>
                <a:lnTo>
                  <a:pt x="248234" y="408390"/>
                </a:lnTo>
                <a:lnTo>
                  <a:pt x="234848" y="400910"/>
                </a:lnTo>
                <a:lnTo>
                  <a:pt x="238022" y="391693"/>
                </a:lnTo>
                <a:lnTo>
                  <a:pt x="242411" y="383038"/>
                </a:lnTo>
                <a:lnTo>
                  <a:pt x="247942" y="375064"/>
                </a:lnTo>
                <a:lnTo>
                  <a:pt x="254546" y="367890"/>
                </a:lnTo>
                <a:lnTo>
                  <a:pt x="279459" y="367890"/>
                </a:lnTo>
                <a:lnTo>
                  <a:pt x="281292" y="367064"/>
                </a:lnTo>
                <a:lnTo>
                  <a:pt x="284568" y="365540"/>
                </a:lnTo>
                <a:lnTo>
                  <a:pt x="286651" y="362238"/>
                </a:lnTo>
                <a:lnTo>
                  <a:pt x="286613" y="349996"/>
                </a:lnTo>
                <a:lnTo>
                  <a:pt x="296402" y="348007"/>
                </a:lnTo>
                <a:lnTo>
                  <a:pt x="306324" y="347340"/>
                </a:lnTo>
                <a:lnTo>
                  <a:pt x="402734" y="347340"/>
                </a:lnTo>
                <a:lnTo>
                  <a:pt x="397951" y="340345"/>
                </a:lnTo>
                <a:lnTo>
                  <a:pt x="361297" y="315751"/>
                </a:lnTo>
                <a:lnTo>
                  <a:pt x="316534" y="306600"/>
                </a:lnTo>
                <a:lnTo>
                  <a:pt x="316534" y="71637"/>
                </a:lnTo>
                <a:close/>
              </a:path>
              <a:path w="612775" h="633729">
                <a:moveTo>
                  <a:pt x="347347" y="463686"/>
                </a:moveTo>
                <a:lnTo>
                  <a:pt x="343242" y="463686"/>
                </a:lnTo>
                <a:lnTo>
                  <a:pt x="340144" y="465667"/>
                </a:lnTo>
                <a:lnTo>
                  <a:pt x="337362" y="467547"/>
                </a:lnTo>
                <a:lnTo>
                  <a:pt x="334429" y="469185"/>
                </a:lnTo>
                <a:lnTo>
                  <a:pt x="331355" y="470569"/>
                </a:lnTo>
                <a:lnTo>
                  <a:pt x="328079" y="472093"/>
                </a:lnTo>
                <a:lnTo>
                  <a:pt x="325996" y="475395"/>
                </a:lnTo>
                <a:lnTo>
                  <a:pt x="325909" y="487664"/>
                </a:lnTo>
                <a:lnTo>
                  <a:pt x="316177" y="489640"/>
                </a:lnTo>
                <a:lnTo>
                  <a:pt x="306324" y="490294"/>
                </a:lnTo>
                <a:lnTo>
                  <a:pt x="448721" y="490294"/>
                </a:lnTo>
                <a:lnTo>
                  <a:pt x="436064" y="469757"/>
                </a:lnTo>
                <a:lnTo>
                  <a:pt x="358124" y="469757"/>
                </a:lnTo>
                <a:lnTo>
                  <a:pt x="350380" y="465426"/>
                </a:lnTo>
                <a:lnTo>
                  <a:pt x="347347" y="463686"/>
                </a:lnTo>
                <a:close/>
              </a:path>
              <a:path w="612775" h="633729">
                <a:moveTo>
                  <a:pt x="269405" y="463686"/>
                </a:moveTo>
                <a:lnTo>
                  <a:pt x="265300" y="463686"/>
                </a:lnTo>
                <a:lnTo>
                  <a:pt x="262267" y="465426"/>
                </a:lnTo>
                <a:lnTo>
                  <a:pt x="254508" y="469757"/>
                </a:lnTo>
                <a:lnTo>
                  <a:pt x="279487" y="469757"/>
                </a:lnTo>
                <a:lnTo>
                  <a:pt x="278218" y="469185"/>
                </a:lnTo>
                <a:lnTo>
                  <a:pt x="275285" y="467547"/>
                </a:lnTo>
                <a:lnTo>
                  <a:pt x="272503" y="465667"/>
                </a:lnTo>
                <a:lnTo>
                  <a:pt x="269405" y="463686"/>
                </a:lnTo>
                <a:close/>
              </a:path>
              <a:path w="612775" h="633729">
                <a:moveTo>
                  <a:pt x="416785" y="367890"/>
                </a:moveTo>
                <a:lnTo>
                  <a:pt x="358151" y="367890"/>
                </a:lnTo>
                <a:lnTo>
                  <a:pt x="364737" y="375064"/>
                </a:lnTo>
                <a:lnTo>
                  <a:pt x="370256" y="383038"/>
                </a:lnTo>
                <a:lnTo>
                  <a:pt x="374634" y="391693"/>
                </a:lnTo>
                <a:lnTo>
                  <a:pt x="377799" y="400910"/>
                </a:lnTo>
                <a:lnTo>
                  <a:pt x="364413" y="408390"/>
                </a:lnTo>
                <a:lnTo>
                  <a:pt x="365785" y="415274"/>
                </a:lnTo>
                <a:lnTo>
                  <a:pt x="365785" y="422360"/>
                </a:lnTo>
                <a:lnTo>
                  <a:pt x="364413" y="429244"/>
                </a:lnTo>
                <a:lnTo>
                  <a:pt x="377799" y="436724"/>
                </a:lnTo>
                <a:lnTo>
                  <a:pt x="374625" y="445941"/>
                </a:lnTo>
                <a:lnTo>
                  <a:pt x="370235" y="454598"/>
                </a:lnTo>
                <a:lnTo>
                  <a:pt x="364700" y="462575"/>
                </a:lnTo>
                <a:lnTo>
                  <a:pt x="358090" y="469757"/>
                </a:lnTo>
                <a:lnTo>
                  <a:pt x="436064" y="469757"/>
                </a:lnTo>
                <a:lnTo>
                  <a:pt x="432409" y="463826"/>
                </a:lnTo>
                <a:lnTo>
                  <a:pt x="432409" y="421459"/>
                </a:lnTo>
                <a:lnTo>
                  <a:pt x="422865" y="376782"/>
                </a:lnTo>
                <a:lnTo>
                  <a:pt x="416785" y="367890"/>
                </a:lnTo>
                <a:close/>
              </a:path>
              <a:path w="612775" h="633729">
                <a:moveTo>
                  <a:pt x="306324" y="394992"/>
                </a:moveTo>
                <a:lnTo>
                  <a:pt x="299999" y="394992"/>
                </a:lnTo>
                <a:lnTo>
                  <a:pt x="293941" y="397506"/>
                </a:lnTo>
                <a:lnTo>
                  <a:pt x="285013" y="406434"/>
                </a:lnTo>
                <a:lnTo>
                  <a:pt x="282498" y="412492"/>
                </a:lnTo>
                <a:lnTo>
                  <a:pt x="282498" y="418817"/>
                </a:lnTo>
                <a:lnTo>
                  <a:pt x="284371" y="428090"/>
                </a:lnTo>
                <a:lnTo>
                  <a:pt x="289477" y="435663"/>
                </a:lnTo>
                <a:lnTo>
                  <a:pt x="297050" y="440770"/>
                </a:lnTo>
                <a:lnTo>
                  <a:pt x="306324" y="442642"/>
                </a:lnTo>
                <a:lnTo>
                  <a:pt x="315597" y="440770"/>
                </a:lnTo>
                <a:lnTo>
                  <a:pt x="323170" y="435663"/>
                </a:lnTo>
                <a:lnTo>
                  <a:pt x="328276" y="428090"/>
                </a:lnTo>
                <a:lnTo>
                  <a:pt x="330149" y="418817"/>
                </a:lnTo>
                <a:lnTo>
                  <a:pt x="328276" y="409544"/>
                </a:lnTo>
                <a:lnTo>
                  <a:pt x="323170" y="401970"/>
                </a:lnTo>
                <a:lnTo>
                  <a:pt x="315597" y="396864"/>
                </a:lnTo>
                <a:lnTo>
                  <a:pt x="306324" y="394992"/>
                </a:lnTo>
                <a:close/>
              </a:path>
              <a:path w="612775" h="633729">
                <a:moveTo>
                  <a:pt x="279459" y="367890"/>
                </a:moveTo>
                <a:lnTo>
                  <a:pt x="254546" y="367890"/>
                </a:lnTo>
                <a:lnTo>
                  <a:pt x="262267" y="372208"/>
                </a:lnTo>
                <a:lnTo>
                  <a:pt x="265455" y="374037"/>
                </a:lnTo>
                <a:lnTo>
                  <a:pt x="269266" y="374037"/>
                </a:lnTo>
                <a:lnTo>
                  <a:pt x="272503" y="371967"/>
                </a:lnTo>
                <a:lnTo>
                  <a:pt x="275285" y="370087"/>
                </a:lnTo>
                <a:lnTo>
                  <a:pt x="278218" y="368449"/>
                </a:lnTo>
                <a:lnTo>
                  <a:pt x="279459" y="367890"/>
                </a:lnTo>
                <a:close/>
              </a:path>
              <a:path w="612775" h="633729">
                <a:moveTo>
                  <a:pt x="402734" y="347340"/>
                </a:moveTo>
                <a:lnTo>
                  <a:pt x="306324" y="347340"/>
                </a:lnTo>
                <a:lnTo>
                  <a:pt x="316456" y="348007"/>
                </a:lnTo>
                <a:lnTo>
                  <a:pt x="316314" y="348007"/>
                </a:lnTo>
                <a:lnTo>
                  <a:pt x="326034" y="349996"/>
                </a:lnTo>
                <a:lnTo>
                  <a:pt x="325996" y="362238"/>
                </a:lnTo>
                <a:lnTo>
                  <a:pt x="328079" y="365540"/>
                </a:lnTo>
                <a:lnTo>
                  <a:pt x="331355" y="367064"/>
                </a:lnTo>
                <a:lnTo>
                  <a:pt x="334429" y="368449"/>
                </a:lnTo>
                <a:lnTo>
                  <a:pt x="337362" y="370087"/>
                </a:lnTo>
                <a:lnTo>
                  <a:pt x="340144" y="371967"/>
                </a:lnTo>
                <a:lnTo>
                  <a:pt x="343381" y="374037"/>
                </a:lnTo>
                <a:lnTo>
                  <a:pt x="347192" y="374037"/>
                </a:lnTo>
                <a:lnTo>
                  <a:pt x="350380" y="372208"/>
                </a:lnTo>
                <a:lnTo>
                  <a:pt x="358117" y="367890"/>
                </a:lnTo>
                <a:lnTo>
                  <a:pt x="416785" y="367890"/>
                </a:lnTo>
                <a:lnTo>
                  <a:pt x="402734" y="347340"/>
                </a:lnTo>
                <a:close/>
              </a:path>
              <a:path w="612775" h="633729">
                <a:moveTo>
                  <a:pt x="204215" y="183969"/>
                </a:moveTo>
                <a:lnTo>
                  <a:pt x="0" y="183969"/>
                </a:lnTo>
                <a:lnTo>
                  <a:pt x="0" y="214601"/>
                </a:lnTo>
                <a:lnTo>
                  <a:pt x="8023" y="254344"/>
                </a:lnTo>
                <a:lnTo>
                  <a:pt x="29903" y="286800"/>
                </a:lnTo>
                <a:lnTo>
                  <a:pt x="62359" y="308684"/>
                </a:lnTo>
                <a:lnTo>
                  <a:pt x="102107" y="316709"/>
                </a:lnTo>
                <a:lnTo>
                  <a:pt x="141851" y="308684"/>
                </a:lnTo>
                <a:lnTo>
                  <a:pt x="174307" y="286800"/>
                </a:lnTo>
                <a:lnTo>
                  <a:pt x="178032" y="281276"/>
                </a:lnTo>
                <a:lnTo>
                  <a:pt x="73825" y="281276"/>
                </a:lnTo>
                <a:lnTo>
                  <a:pt x="62992" y="270443"/>
                </a:lnTo>
                <a:lnTo>
                  <a:pt x="88214" y="245233"/>
                </a:lnTo>
                <a:lnTo>
                  <a:pt x="62992" y="220011"/>
                </a:lnTo>
                <a:lnTo>
                  <a:pt x="73825" y="209178"/>
                </a:lnTo>
                <a:lnTo>
                  <a:pt x="204215" y="209178"/>
                </a:lnTo>
                <a:lnTo>
                  <a:pt x="204215" y="183969"/>
                </a:lnTo>
                <a:close/>
              </a:path>
              <a:path w="612775" h="633729">
                <a:moveTo>
                  <a:pt x="612647" y="183969"/>
                </a:moveTo>
                <a:lnTo>
                  <a:pt x="408431" y="183969"/>
                </a:lnTo>
                <a:lnTo>
                  <a:pt x="408431" y="214601"/>
                </a:lnTo>
                <a:lnTo>
                  <a:pt x="416456" y="254344"/>
                </a:lnTo>
                <a:lnTo>
                  <a:pt x="438340" y="286800"/>
                </a:lnTo>
                <a:lnTo>
                  <a:pt x="470796" y="308684"/>
                </a:lnTo>
                <a:lnTo>
                  <a:pt x="510540" y="316709"/>
                </a:lnTo>
                <a:lnTo>
                  <a:pt x="550288" y="308684"/>
                </a:lnTo>
                <a:lnTo>
                  <a:pt x="582744" y="286800"/>
                </a:lnTo>
                <a:lnTo>
                  <a:pt x="585578" y="282597"/>
                </a:lnTo>
                <a:lnTo>
                  <a:pt x="509612" y="282597"/>
                </a:lnTo>
                <a:lnTo>
                  <a:pt x="507568" y="282063"/>
                </a:lnTo>
                <a:lnTo>
                  <a:pt x="475310" y="257870"/>
                </a:lnTo>
                <a:lnTo>
                  <a:pt x="484505" y="245627"/>
                </a:lnTo>
                <a:lnTo>
                  <a:pt x="522788" y="245627"/>
                </a:lnTo>
                <a:lnTo>
                  <a:pt x="550367" y="208861"/>
                </a:lnTo>
                <a:lnTo>
                  <a:pt x="612647" y="208861"/>
                </a:lnTo>
                <a:lnTo>
                  <a:pt x="612647" y="183969"/>
                </a:lnTo>
                <a:close/>
              </a:path>
              <a:path w="612775" h="633729">
                <a:moveTo>
                  <a:pt x="612647" y="208861"/>
                </a:moveTo>
                <a:lnTo>
                  <a:pt x="550367" y="208861"/>
                </a:lnTo>
                <a:lnTo>
                  <a:pt x="562610" y="218055"/>
                </a:lnTo>
                <a:lnTo>
                  <a:pt x="515442" y="280946"/>
                </a:lnTo>
                <a:lnTo>
                  <a:pt x="513575" y="282063"/>
                </a:lnTo>
                <a:lnTo>
                  <a:pt x="513370" y="282063"/>
                </a:lnTo>
                <a:lnTo>
                  <a:pt x="509612" y="282597"/>
                </a:lnTo>
                <a:lnTo>
                  <a:pt x="585578" y="282597"/>
                </a:lnTo>
                <a:lnTo>
                  <a:pt x="604624" y="254344"/>
                </a:lnTo>
                <a:lnTo>
                  <a:pt x="612647" y="214601"/>
                </a:lnTo>
                <a:lnTo>
                  <a:pt x="612647" y="208861"/>
                </a:lnTo>
                <a:close/>
              </a:path>
              <a:path w="612775" h="633729">
                <a:moveTo>
                  <a:pt x="99047" y="256054"/>
                </a:moveTo>
                <a:lnTo>
                  <a:pt x="73825" y="281276"/>
                </a:lnTo>
                <a:lnTo>
                  <a:pt x="124256" y="281276"/>
                </a:lnTo>
                <a:lnTo>
                  <a:pt x="99047" y="256054"/>
                </a:lnTo>
                <a:close/>
              </a:path>
              <a:path w="612775" h="633729">
                <a:moveTo>
                  <a:pt x="204215" y="209178"/>
                </a:moveTo>
                <a:lnTo>
                  <a:pt x="124256" y="209178"/>
                </a:lnTo>
                <a:lnTo>
                  <a:pt x="135089" y="220011"/>
                </a:lnTo>
                <a:lnTo>
                  <a:pt x="109867" y="245233"/>
                </a:lnTo>
                <a:lnTo>
                  <a:pt x="135089" y="270443"/>
                </a:lnTo>
                <a:lnTo>
                  <a:pt x="124256" y="281276"/>
                </a:lnTo>
                <a:lnTo>
                  <a:pt x="178032" y="281276"/>
                </a:lnTo>
                <a:lnTo>
                  <a:pt x="196191" y="254344"/>
                </a:lnTo>
                <a:lnTo>
                  <a:pt x="204215" y="214601"/>
                </a:lnTo>
                <a:lnTo>
                  <a:pt x="204215" y="209178"/>
                </a:lnTo>
                <a:close/>
              </a:path>
              <a:path w="612775" h="633729">
                <a:moveTo>
                  <a:pt x="522788" y="245627"/>
                </a:moveTo>
                <a:lnTo>
                  <a:pt x="484505" y="245627"/>
                </a:lnTo>
                <a:lnTo>
                  <a:pt x="509003" y="264004"/>
                </a:lnTo>
                <a:lnTo>
                  <a:pt x="522788" y="245627"/>
                </a:lnTo>
                <a:close/>
              </a:path>
              <a:path w="612775" h="633729">
                <a:moveTo>
                  <a:pt x="124256" y="209178"/>
                </a:moveTo>
                <a:lnTo>
                  <a:pt x="73825" y="209178"/>
                </a:lnTo>
                <a:lnTo>
                  <a:pt x="99047" y="234400"/>
                </a:lnTo>
                <a:lnTo>
                  <a:pt x="124256" y="209178"/>
                </a:lnTo>
                <a:close/>
              </a:path>
              <a:path w="612775" h="633729">
                <a:moveTo>
                  <a:pt x="120383" y="71637"/>
                </a:moveTo>
                <a:lnTo>
                  <a:pt x="83832" y="71637"/>
                </a:lnTo>
                <a:lnTo>
                  <a:pt x="14706" y="183969"/>
                </a:lnTo>
                <a:lnTo>
                  <a:pt x="38684" y="183969"/>
                </a:lnTo>
                <a:lnTo>
                  <a:pt x="102107" y="80921"/>
                </a:lnTo>
                <a:lnTo>
                  <a:pt x="126095" y="80921"/>
                </a:lnTo>
                <a:lnTo>
                  <a:pt x="120383" y="71637"/>
                </a:lnTo>
                <a:close/>
              </a:path>
              <a:path w="612775" h="633729">
                <a:moveTo>
                  <a:pt x="126095" y="80921"/>
                </a:moveTo>
                <a:lnTo>
                  <a:pt x="102107" y="80921"/>
                </a:lnTo>
                <a:lnTo>
                  <a:pt x="165519" y="183969"/>
                </a:lnTo>
                <a:lnTo>
                  <a:pt x="189496" y="183969"/>
                </a:lnTo>
                <a:lnTo>
                  <a:pt x="126095" y="80921"/>
                </a:lnTo>
                <a:close/>
              </a:path>
              <a:path w="612775" h="633729">
                <a:moveTo>
                  <a:pt x="528815" y="71637"/>
                </a:moveTo>
                <a:lnTo>
                  <a:pt x="492264" y="71637"/>
                </a:lnTo>
                <a:lnTo>
                  <a:pt x="423151" y="183969"/>
                </a:lnTo>
                <a:lnTo>
                  <a:pt x="447128" y="183969"/>
                </a:lnTo>
                <a:lnTo>
                  <a:pt x="510540" y="80921"/>
                </a:lnTo>
                <a:lnTo>
                  <a:pt x="534528" y="80921"/>
                </a:lnTo>
                <a:lnTo>
                  <a:pt x="528815" y="71637"/>
                </a:lnTo>
                <a:close/>
              </a:path>
              <a:path w="612775" h="633729">
                <a:moveTo>
                  <a:pt x="534528" y="80921"/>
                </a:moveTo>
                <a:lnTo>
                  <a:pt x="510540" y="80921"/>
                </a:lnTo>
                <a:lnTo>
                  <a:pt x="573963" y="183969"/>
                </a:lnTo>
                <a:lnTo>
                  <a:pt x="597941" y="183969"/>
                </a:lnTo>
                <a:lnTo>
                  <a:pt x="534528" y="80921"/>
                </a:lnTo>
                <a:close/>
              </a:path>
              <a:path w="612775" h="633729">
                <a:moveTo>
                  <a:pt x="561594" y="51215"/>
                </a:moveTo>
                <a:lnTo>
                  <a:pt x="51053" y="51215"/>
                </a:lnTo>
                <a:lnTo>
                  <a:pt x="51053" y="71637"/>
                </a:lnTo>
                <a:lnTo>
                  <a:pt x="561594" y="71637"/>
                </a:lnTo>
                <a:lnTo>
                  <a:pt x="561594" y="51215"/>
                </a:lnTo>
                <a:close/>
              </a:path>
              <a:path w="612775" h="633729">
                <a:moveTo>
                  <a:pt x="306324" y="0"/>
                </a:moveTo>
                <a:lnTo>
                  <a:pt x="295012" y="2155"/>
                </a:lnTo>
                <a:lnTo>
                  <a:pt x="285013" y="8620"/>
                </a:lnTo>
                <a:lnTo>
                  <a:pt x="278226" y="18408"/>
                </a:lnTo>
                <a:lnTo>
                  <a:pt x="275707" y="29641"/>
                </a:lnTo>
                <a:lnTo>
                  <a:pt x="277498" y="41013"/>
                </a:lnTo>
                <a:lnTo>
                  <a:pt x="283641" y="51215"/>
                </a:lnTo>
                <a:lnTo>
                  <a:pt x="329006" y="51215"/>
                </a:lnTo>
                <a:lnTo>
                  <a:pt x="335149" y="41013"/>
                </a:lnTo>
                <a:lnTo>
                  <a:pt x="336940" y="29641"/>
                </a:lnTo>
                <a:lnTo>
                  <a:pt x="334421" y="18408"/>
                </a:lnTo>
                <a:lnTo>
                  <a:pt x="327634" y="8620"/>
                </a:lnTo>
                <a:lnTo>
                  <a:pt x="317635" y="2155"/>
                </a:lnTo>
                <a:lnTo>
                  <a:pt x="306324" y="0"/>
                </a:lnTo>
                <a:close/>
              </a:path>
            </a:pathLst>
          </a:custGeom>
          <a:solidFill>
            <a:srgbClr val="5F8262"/>
          </a:solidFill>
        </p:spPr>
        <p:txBody>
          <a:bodyPr wrap="square" lIns="0" tIns="0" rIns="0" bIns="0" rtlCol="0"/>
          <a:lstStyle/>
          <a:p>
            <a:endParaRPr/>
          </a:p>
        </p:txBody>
      </p:sp>
      <p:sp>
        <p:nvSpPr>
          <p:cNvPr id="10" name="object 10"/>
          <p:cNvSpPr txBox="1"/>
          <p:nvPr/>
        </p:nvSpPr>
        <p:spPr>
          <a:xfrm>
            <a:off x="12591181" y="6160934"/>
            <a:ext cx="3802379" cy="1320800"/>
          </a:xfrm>
          <a:prstGeom prst="rect">
            <a:avLst/>
          </a:prstGeom>
        </p:spPr>
        <p:txBody>
          <a:bodyPr vert="horz" wrap="square" lIns="0" tIns="12700" rIns="0" bIns="0" rtlCol="0">
            <a:spAutoFit/>
          </a:bodyPr>
          <a:lstStyle/>
          <a:p>
            <a:pPr marL="12700">
              <a:lnSpc>
                <a:spcPct val="100000"/>
              </a:lnSpc>
              <a:spcBef>
                <a:spcPts val="100"/>
              </a:spcBef>
            </a:pPr>
            <a:r>
              <a:rPr sz="3000" spc="80" dirty="0">
                <a:solidFill>
                  <a:srgbClr val="37403A"/>
                </a:solidFill>
                <a:latin typeface="Gill Sans MT"/>
                <a:cs typeface="Gill Sans MT"/>
              </a:rPr>
              <a:t>Prevent</a:t>
            </a:r>
            <a:r>
              <a:rPr sz="3000" spc="-100" dirty="0">
                <a:solidFill>
                  <a:srgbClr val="37403A"/>
                </a:solidFill>
                <a:latin typeface="Gill Sans MT"/>
                <a:cs typeface="Gill Sans MT"/>
              </a:rPr>
              <a:t> </a:t>
            </a:r>
            <a:r>
              <a:rPr sz="3000" spc="55" dirty="0">
                <a:solidFill>
                  <a:srgbClr val="37403A"/>
                </a:solidFill>
                <a:latin typeface="Gill Sans MT"/>
                <a:cs typeface="Gill Sans MT"/>
              </a:rPr>
              <a:t>Data</a:t>
            </a:r>
            <a:r>
              <a:rPr sz="3000" spc="-95" dirty="0">
                <a:solidFill>
                  <a:srgbClr val="37403A"/>
                </a:solidFill>
                <a:latin typeface="Gill Sans MT"/>
                <a:cs typeface="Gill Sans MT"/>
              </a:rPr>
              <a:t> </a:t>
            </a:r>
            <a:r>
              <a:rPr sz="3000" spc="125" dirty="0">
                <a:solidFill>
                  <a:srgbClr val="37403A"/>
                </a:solidFill>
                <a:latin typeface="Gill Sans MT"/>
                <a:cs typeface="Gill Sans MT"/>
              </a:rPr>
              <a:t>Leakage</a:t>
            </a:r>
            <a:endParaRPr sz="3000">
              <a:latin typeface="Gill Sans MT"/>
              <a:cs typeface="Gill Sans MT"/>
            </a:endParaRPr>
          </a:p>
          <a:p>
            <a:pPr marL="12700" marR="5080">
              <a:lnSpc>
                <a:spcPct val="100000"/>
              </a:lnSpc>
              <a:spcBef>
                <a:spcPts val="1800"/>
              </a:spcBef>
            </a:pPr>
            <a:r>
              <a:rPr sz="2000" dirty="0">
                <a:solidFill>
                  <a:srgbClr val="37403A"/>
                </a:solidFill>
                <a:latin typeface="Gill Sans MT"/>
                <a:cs typeface="Gill Sans MT"/>
              </a:rPr>
              <a:t>Exclude </a:t>
            </a:r>
            <a:r>
              <a:rPr sz="2000" spc="60" dirty="0">
                <a:solidFill>
                  <a:srgbClr val="37403A"/>
                </a:solidFill>
                <a:latin typeface="Gill Sans MT"/>
                <a:cs typeface="Gill Sans MT"/>
              </a:rPr>
              <a:t>items</a:t>
            </a:r>
            <a:r>
              <a:rPr sz="2000" spc="5" dirty="0">
                <a:solidFill>
                  <a:srgbClr val="37403A"/>
                </a:solidFill>
                <a:latin typeface="Gill Sans MT"/>
                <a:cs typeface="Gill Sans MT"/>
              </a:rPr>
              <a:t> </a:t>
            </a:r>
            <a:r>
              <a:rPr sz="2000" spc="55" dirty="0">
                <a:solidFill>
                  <a:srgbClr val="37403A"/>
                </a:solidFill>
                <a:latin typeface="Gill Sans MT"/>
                <a:cs typeface="Gill Sans MT"/>
              </a:rPr>
              <a:t>already</a:t>
            </a:r>
            <a:r>
              <a:rPr sz="2000" dirty="0">
                <a:solidFill>
                  <a:srgbClr val="37403A"/>
                </a:solidFill>
                <a:latin typeface="Gill Sans MT"/>
                <a:cs typeface="Gill Sans MT"/>
              </a:rPr>
              <a:t> </a:t>
            </a:r>
            <a:r>
              <a:rPr sz="2000" spc="60" dirty="0">
                <a:solidFill>
                  <a:srgbClr val="37403A"/>
                </a:solidFill>
                <a:latin typeface="Gill Sans MT"/>
                <a:cs typeface="Gill Sans MT"/>
              </a:rPr>
              <a:t>seen</a:t>
            </a:r>
            <a:r>
              <a:rPr sz="2000" spc="5" dirty="0">
                <a:solidFill>
                  <a:srgbClr val="37403A"/>
                </a:solidFill>
                <a:latin typeface="Gill Sans MT"/>
                <a:cs typeface="Gill Sans MT"/>
              </a:rPr>
              <a:t> </a:t>
            </a:r>
            <a:r>
              <a:rPr sz="2000" spc="120" dirty="0">
                <a:solidFill>
                  <a:srgbClr val="37403A"/>
                </a:solidFill>
                <a:latin typeface="Gill Sans MT"/>
                <a:cs typeface="Gill Sans MT"/>
              </a:rPr>
              <a:t>by</a:t>
            </a:r>
            <a:r>
              <a:rPr sz="2000" dirty="0">
                <a:solidFill>
                  <a:srgbClr val="37403A"/>
                </a:solidFill>
                <a:latin typeface="Gill Sans MT"/>
                <a:cs typeface="Gill Sans MT"/>
              </a:rPr>
              <a:t> </a:t>
            </a:r>
            <a:r>
              <a:rPr sz="2000" spc="-20" dirty="0">
                <a:solidFill>
                  <a:srgbClr val="37403A"/>
                </a:solidFill>
                <a:latin typeface="Gill Sans MT"/>
                <a:cs typeface="Gill Sans MT"/>
              </a:rPr>
              <a:t>user </a:t>
            </a:r>
            <a:r>
              <a:rPr sz="2000" dirty="0">
                <a:solidFill>
                  <a:srgbClr val="37403A"/>
                </a:solidFill>
                <a:latin typeface="Gill Sans MT"/>
                <a:cs typeface="Gill Sans MT"/>
              </a:rPr>
              <a:t>from</a:t>
            </a:r>
            <a:r>
              <a:rPr sz="2000" spc="45" dirty="0">
                <a:solidFill>
                  <a:srgbClr val="37403A"/>
                </a:solidFill>
                <a:latin typeface="Gill Sans MT"/>
                <a:cs typeface="Gill Sans MT"/>
              </a:rPr>
              <a:t> recommendations</a:t>
            </a:r>
            <a:endParaRPr sz="2000">
              <a:latin typeface="Gill Sans MT"/>
              <a:cs typeface="Gill Sans MT"/>
            </a:endParaRPr>
          </a:p>
        </p:txBody>
      </p:sp>
      <p:sp>
        <p:nvSpPr>
          <p:cNvPr id="11" name="object 11"/>
          <p:cNvSpPr txBox="1"/>
          <p:nvPr/>
        </p:nvSpPr>
        <p:spPr>
          <a:xfrm>
            <a:off x="6975040" y="6160935"/>
            <a:ext cx="4299585" cy="1778000"/>
          </a:xfrm>
          <a:prstGeom prst="rect">
            <a:avLst/>
          </a:prstGeom>
        </p:spPr>
        <p:txBody>
          <a:bodyPr vert="horz" wrap="square" lIns="0" tIns="12700" rIns="0" bIns="0" rtlCol="0">
            <a:spAutoFit/>
          </a:bodyPr>
          <a:lstStyle/>
          <a:p>
            <a:pPr marL="12700" marR="5080">
              <a:lnSpc>
                <a:spcPct val="100000"/>
              </a:lnSpc>
              <a:spcBef>
                <a:spcPts val="100"/>
              </a:spcBef>
            </a:pPr>
            <a:r>
              <a:rPr sz="3000" dirty="0">
                <a:solidFill>
                  <a:srgbClr val="37403A"/>
                </a:solidFill>
                <a:latin typeface="Gill Sans MT"/>
                <a:cs typeface="Gill Sans MT"/>
              </a:rPr>
              <a:t>Training</a:t>
            </a:r>
            <a:r>
              <a:rPr sz="3000" spc="30" dirty="0">
                <a:solidFill>
                  <a:srgbClr val="37403A"/>
                </a:solidFill>
                <a:latin typeface="Gill Sans MT"/>
                <a:cs typeface="Gill Sans MT"/>
              </a:rPr>
              <a:t> </a:t>
            </a:r>
            <a:r>
              <a:rPr sz="3000" spc="60" dirty="0">
                <a:solidFill>
                  <a:srgbClr val="37403A"/>
                </a:solidFill>
                <a:latin typeface="Gill Sans MT"/>
                <a:cs typeface="Gill Sans MT"/>
              </a:rPr>
              <a:t>on</a:t>
            </a:r>
            <a:r>
              <a:rPr sz="3000" spc="35" dirty="0">
                <a:solidFill>
                  <a:srgbClr val="37403A"/>
                </a:solidFill>
                <a:latin typeface="Gill Sans MT"/>
                <a:cs typeface="Gill Sans MT"/>
              </a:rPr>
              <a:t> </a:t>
            </a:r>
            <a:r>
              <a:rPr sz="3000" dirty="0">
                <a:solidFill>
                  <a:srgbClr val="37403A"/>
                </a:solidFill>
                <a:latin typeface="Gill Sans MT"/>
                <a:cs typeface="Gill Sans MT"/>
              </a:rPr>
              <a:t>Historical</a:t>
            </a:r>
            <a:r>
              <a:rPr sz="3000" spc="35" dirty="0">
                <a:solidFill>
                  <a:srgbClr val="37403A"/>
                </a:solidFill>
                <a:latin typeface="Gill Sans MT"/>
                <a:cs typeface="Gill Sans MT"/>
              </a:rPr>
              <a:t> Data </a:t>
            </a:r>
            <a:r>
              <a:rPr sz="3000" spc="-20" dirty="0">
                <a:solidFill>
                  <a:srgbClr val="37403A"/>
                </a:solidFill>
                <a:latin typeface="Gill Sans MT"/>
                <a:cs typeface="Gill Sans MT"/>
              </a:rPr>
              <a:t>Only</a:t>
            </a:r>
            <a:endParaRPr sz="3000" dirty="0">
              <a:latin typeface="Gill Sans MT"/>
              <a:cs typeface="Gill Sans MT"/>
            </a:endParaRPr>
          </a:p>
          <a:p>
            <a:pPr marL="12700" marR="367030">
              <a:lnSpc>
                <a:spcPct val="100000"/>
              </a:lnSpc>
              <a:spcBef>
                <a:spcPts val="1800"/>
              </a:spcBef>
            </a:pPr>
            <a:r>
              <a:rPr sz="2000" spc="10" dirty="0">
                <a:solidFill>
                  <a:srgbClr val="37403A"/>
                </a:solidFill>
                <a:latin typeface="Gill Sans MT"/>
                <a:cs typeface="Gill Sans MT"/>
              </a:rPr>
              <a:t>Use </a:t>
            </a:r>
            <a:r>
              <a:rPr sz="2000" spc="60" dirty="0">
                <a:solidFill>
                  <a:srgbClr val="37403A"/>
                </a:solidFill>
                <a:latin typeface="Gill Sans MT"/>
                <a:cs typeface="Gill Sans MT"/>
              </a:rPr>
              <a:t>all</a:t>
            </a:r>
            <a:r>
              <a:rPr sz="2000" spc="10" dirty="0">
                <a:solidFill>
                  <a:srgbClr val="37403A"/>
                </a:solidFill>
                <a:latin typeface="Gill Sans MT"/>
                <a:cs typeface="Gill Sans MT"/>
              </a:rPr>
              <a:t> earlier</a:t>
            </a:r>
            <a:r>
              <a:rPr sz="2000" spc="15" dirty="0">
                <a:solidFill>
                  <a:srgbClr val="37403A"/>
                </a:solidFill>
                <a:latin typeface="Gill Sans MT"/>
                <a:cs typeface="Gill Sans MT"/>
              </a:rPr>
              <a:t> </a:t>
            </a:r>
            <a:r>
              <a:rPr sz="2000" spc="10" dirty="0">
                <a:solidFill>
                  <a:srgbClr val="37403A"/>
                </a:solidFill>
                <a:latin typeface="Gill Sans MT"/>
                <a:cs typeface="Gill Sans MT"/>
              </a:rPr>
              <a:t>interactions for </a:t>
            </a:r>
            <a:r>
              <a:rPr sz="2000" spc="50" dirty="0">
                <a:solidFill>
                  <a:srgbClr val="37403A"/>
                </a:solidFill>
                <a:latin typeface="Gill Sans MT"/>
                <a:cs typeface="Gill Sans MT"/>
              </a:rPr>
              <a:t>model training</a:t>
            </a:r>
            <a:endParaRPr sz="2000" dirty="0">
              <a:latin typeface="Gill Sans MT"/>
              <a:cs typeface="Gill Sans MT"/>
            </a:endParaRPr>
          </a:p>
        </p:txBody>
      </p:sp>
      <p:sp>
        <p:nvSpPr>
          <p:cNvPr id="12" name="object 12"/>
          <p:cNvSpPr txBox="1"/>
          <p:nvPr/>
        </p:nvSpPr>
        <p:spPr>
          <a:xfrm>
            <a:off x="1358900" y="6160935"/>
            <a:ext cx="4189729" cy="1778000"/>
          </a:xfrm>
          <a:prstGeom prst="rect">
            <a:avLst/>
          </a:prstGeom>
        </p:spPr>
        <p:txBody>
          <a:bodyPr vert="horz" wrap="square" lIns="0" tIns="12700" rIns="0" bIns="0" rtlCol="0">
            <a:spAutoFit/>
          </a:bodyPr>
          <a:lstStyle/>
          <a:p>
            <a:pPr marL="12700" marR="478155">
              <a:lnSpc>
                <a:spcPct val="100000"/>
              </a:lnSpc>
              <a:spcBef>
                <a:spcPts val="100"/>
              </a:spcBef>
            </a:pPr>
            <a:r>
              <a:rPr sz="3000" dirty="0">
                <a:solidFill>
                  <a:srgbClr val="37403A"/>
                </a:solidFill>
                <a:latin typeface="Gill Sans MT"/>
                <a:cs typeface="Gill Sans MT"/>
              </a:rPr>
              <a:t>Time-Aware</a:t>
            </a:r>
            <a:r>
              <a:rPr sz="3000" spc="45" dirty="0">
                <a:solidFill>
                  <a:srgbClr val="37403A"/>
                </a:solidFill>
                <a:latin typeface="Gill Sans MT"/>
                <a:cs typeface="Gill Sans MT"/>
              </a:rPr>
              <a:t> </a:t>
            </a:r>
            <a:r>
              <a:rPr sz="3000" spc="-10" dirty="0">
                <a:solidFill>
                  <a:srgbClr val="37403A"/>
                </a:solidFill>
                <a:latin typeface="Gill Sans MT"/>
                <a:cs typeface="Gill Sans MT"/>
              </a:rPr>
              <a:t>Train/Test </a:t>
            </a:r>
            <a:r>
              <a:rPr sz="3000" spc="100" dirty="0">
                <a:solidFill>
                  <a:srgbClr val="37403A"/>
                </a:solidFill>
                <a:latin typeface="Gill Sans MT"/>
                <a:cs typeface="Gill Sans MT"/>
              </a:rPr>
              <a:t>Split</a:t>
            </a:r>
            <a:endParaRPr sz="3000">
              <a:latin typeface="Gill Sans MT"/>
              <a:cs typeface="Gill Sans MT"/>
            </a:endParaRPr>
          </a:p>
          <a:p>
            <a:pPr marL="12700" marR="5080">
              <a:lnSpc>
                <a:spcPct val="100000"/>
              </a:lnSpc>
              <a:spcBef>
                <a:spcPts val="1800"/>
              </a:spcBef>
            </a:pPr>
            <a:r>
              <a:rPr sz="2000" spc="60" dirty="0">
                <a:solidFill>
                  <a:srgbClr val="37403A"/>
                </a:solidFill>
                <a:latin typeface="Gill Sans MT"/>
                <a:cs typeface="Gill Sans MT"/>
              </a:rPr>
              <a:t>Assign</a:t>
            </a:r>
            <a:r>
              <a:rPr sz="2000" spc="15" dirty="0">
                <a:solidFill>
                  <a:srgbClr val="37403A"/>
                </a:solidFill>
                <a:latin typeface="Gill Sans MT"/>
                <a:cs typeface="Gill Sans MT"/>
              </a:rPr>
              <a:t> </a:t>
            </a:r>
            <a:r>
              <a:rPr sz="2000" spc="80" dirty="0">
                <a:solidFill>
                  <a:srgbClr val="37403A"/>
                </a:solidFill>
                <a:latin typeface="Gill Sans MT"/>
                <a:cs typeface="Gill Sans MT"/>
              </a:rPr>
              <a:t>each</a:t>
            </a:r>
            <a:r>
              <a:rPr sz="2000" spc="15" dirty="0">
                <a:solidFill>
                  <a:srgbClr val="37403A"/>
                </a:solidFill>
                <a:latin typeface="Gill Sans MT"/>
                <a:cs typeface="Gill Sans MT"/>
              </a:rPr>
              <a:t> </a:t>
            </a:r>
            <a:r>
              <a:rPr sz="2000" spc="10" dirty="0">
                <a:solidFill>
                  <a:srgbClr val="37403A"/>
                </a:solidFill>
                <a:latin typeface="Gill Sans MT"/>
                <a:cs typeface="Gill Sans MT"/>
              </a:rPr>
              <a:t>user's</a:t>
            </a:r>
            <a:r>
              <a:rPr sz="2000" spc="15" dirty="0">
                <a:solidFill>
                  <a:srgbClr val="37403A"/>
                </a:solidFill>
                <a:latin typeface="Gill Sans MT"/>
                <a:cs typeface="Gill Sans MT"/>
              </a:rPr>
              <a:t> </a:t>
            </a:r>
            <a:r>
              <a:rPr sz="2000" spc="70" dirty="0">
                <a:solidFill>
                  <a:srgbClr val="37403A"/>
                </a:solidFill>
                <a:latin typeface="Gill Sans MT"/>
                <a:cs typeface="Gill Sans MT"/>
              </a:rPr>
              <a:t>latest</a:t>
            </a:r>
            <a:r>
              <a:rPr sz="2000" spc="20" dirty="0">
                <a:solidFill>
                  <a:srgbClr val="37403A"/>
                </a:solidFill>
                <a:latin typeface="Gill Sans MT"/>
                <a:cs typeface="Gill Sans MT"/>
              </a:rPr>
              <a:t> </a:t>
            </a:r>
            <a:r>
              <a:rPr sz="2000" spc="10" dirty="0">
                <a:solidFill>
                  <a:srgbClr val="37403A"/>
                </a:solidFill>
                <a:latin typeface="Gill Sans MT"/>
                <a:cs typeface="Gill Sans MT"/>
              </a:rPr>
              <a:t>interaction</a:t>
            </a:r>
            <a:r>
              <a:rPr sz="2000" spc="15" dirty="0">
                <a:solidFill>
                  <a:srgbClr val="37403A"/>
                </a:solidFill>
                <a:latin typeface="Gill Sans MT"/>
                <a:cs typeface="Gill Sans MT"/>
              </a:rPr>
              <a:t> </a:t>
            </a:r>
            <a:r>
              <a:rPr sz="2000" spc="-25" dirty="0">
                <a:solidFill>
                  <a:srgbClr val="37403A"/>
                </a:solidFill>
                <a:latin typeface="Gill Sans MT"/>
                <a:cs typeface="Gill Sans MT"/>
              </a:rPr>
              <a:t>to </a:t>
            </a:r>
            <a:r>
              <a:rPr sz="2000" spc="65" dirty="0">
                <a:solidFill>
                  <a:srgbClr val="37403A"/>
                </a:solidFill>
                <a:latin typeface="Gill Sans MT"/>
                <a:cs typeface="Gill Sans MT"/>
              </a:rPr>
              <a:t>test</a:t>
            </a:r>
            <a:r>
              <a:rPr sz="2000" spc="-55" dirty="0">
                <a:solidFill>
                  <a:srgbClr val="37403A"/>
                </a:solidFill>
                <a:latin typeface="Gill Sans MT"/>
                <a:cs typeface="Gill Sans MT"/>
              </a:rPr>
              <a:t> </a:t>
            </a:r>
            <a:r>
              <a:rPr sz="2000" spc="35" dirty="0">
                <a:solidFill>
                  <a:srgbClr val="37403A"/>
                </a:solidFill>
                <a:latin typeface="Gill Sans MT"/>
                <a:cs typeface="Gill Sans MT"/>
              </a:rPr>
              <a:t>set</a:t>
            </a:r>
            <a:endParaRPr sz="2000">
              <a:latin typeface="Gill Sans MT"/>
              <a:cs typeface="Gill Sans MT"/>
            </a:endParaRPr>
          </a:p>
        </p:txBody>
      </p:sp>
      <p:sp>
        <p:nvSpPr>
          <p:cNvPr id="13" name="object 13"/>
          <p:cNvSpPr/>
          <p:nvPr/>
        </p:nvSpPr>
        <p:spPr>
          <a:xfrm>
            <a:off x="11949224" y="5203022"/>
            <a:ext cx="0" cy="2761615"/>
          </a:xfrm>
          <a:custGeom>
            <a:avLst/>
            <a:gdLst/>
            <a:ahLst/>
            <a:cxnLst/>
            <a:rect l="l" t="t" r="r" b="b"/>
            <a:pathLst>
              <a:path h="2761615">
                <a:moveTo>
                  <a:pt x="0" y="2761310"/>
                </a:moveTo>
                <a:lnTo>
                  <a:pt x="0" y="0"/>
                </a:lnTo>
              </a:path>
            </a:pathLst>
          </a:custGeom>
          <a:ln w="28575">
            <a:solidFill>
              <a:srgbClr val="5F8262"/>
            </a:solidFill>
            <a:prstDash val="sysDash"/>
          </a:ln>
        </p:spPr>
        <p:txBody>
          <a:bodyPr wrap="square" lIns="0" tIns="0" rIns="0" bIns="0" rtlCol="0"/>
          <a:lstStyle/>
          <a:p>
            <a:endParaRPr/>
          </a:p>
        </p:txBody>
      </p:sp>
      <p:sp>
        <p:nvSpPr>
          <p:cNvPr id="14" name="object 14"/>
          <p:cNvSpPr/>
          <p:nvPr/>
        </p:nvSpPr>
        <p:spPr>
          <a:xfrm>
            <a:off x="6333120" y="5203022"/>
            <a:ext cx="0" cy="2761615"/>
          </a:xfrm>
          <a:custGeom>
            <a:avLst/>
            <a:gdLst/>
            <a:ahLst/>
            <a:cxnLst/>
            <a:rect l="l" t="t" r="r" b="b"/>
            <a:pathLst>
              <a:path h="2761615">
                <a:moveTo>
                  <a:pt x="0" y="2761310"/>
                </a:moveTo>
                <a:lnTo>
                  <a:pt x="0" y="0"/>
                </a:lnTo>
              </a:path>
            </a:pathLst>
          </a:custGeom>
          <a:ln w="28575">
            <a:solidFill>
              <a:srgbClr val="5F8262"/>
            </a:solidFill>
            <a:prstDash val="sysDash"/>
          </a:ln>
        </p:spPr>
        <p:txBody>
          <a:bodyPr wrap="square" lIns="0" tIns="0" rIns="0" bIns="0" rtlCol="0"/>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465D0-93C6-8D6C-6D20-DF8250AF3C15}"/>
            </a:ext>
          </a:extLst>
        </p:cNvPr>
        <p:cNvGrpSpPr/>
        <p:nvPr/>
      </p:nvGrpSpPr>
      <p:grpSpPr>
        <a:xfrm>
          <a:off x="0" y="0"/>
          <a:ext cx="0" cy="0"/>
          <a:chOff x="0" y="0"/>
          <a:chExt cx="0" cy="0"/>
        </a:xfrm>
      </p:grpSpPr>
      <p:sp>
        <p:nvSpPr>
          <p:cNvPr id="11" name="object 2">
            <a:extLst>
              <a:ext uri="{FF2B5EF4-FFF2-40B4-BE49-F238E27FC236}">
                <a16:creationId xmlns:a16="http://schemas.microsoft.com/office/drawing/2014/main" id="{B328813C-70ED-0B63-2309-EBFA1917DA52}"/>
              </a:ext>
            </a:extLst>
          </p:cNvPr>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dirty="0"/>
          </a:p>
        </p:txBody>
      </p:sp>
      <p:sp>
        <p:nvSpPr>
          <p:cNvPr id="2" name="Text 0">
            <a:extLst>
              <a:ext uri="{FF2B5EF4-FFF2-40B4-BE49-F238E27FC236}">
                <a16:creationId xmlns:a16="http://schemas.microsoft.com/office/drawing/2014/main" id="{38D25433-4F55-D3E5-6E0D-178FF348E831}"/>
              </a:ext>
            </a:extLst>
          </p:cNvPr>
          <p:cNvSpPr/>
          <p:nvPr/>
        </p:nvSpPr>
        <p:spPr>
          <a:xfrm>
            <a:off x="777240" y="800100"/>
            <a:ext cx="5852160" cy="975360"/>
          </a:xfrm>
          <a:prstGeom prst="rect">
            <a:avLst/>
          </a:prstGeom>
          <a:noFill/>
          <a:ln/>
        </p:spPr>
        <p:txBody>
          <a:bodyPr wrap="square" rtlCol="0" anchor="ctr"/>
          <a:lstStyle/>
          <a:p>
            <a:r>
              <a:rPr lang="en-US" sz="4500" b="1" dirty="0">
                <a:solidFill>
                  <a:srgbClr val="0F172A"/>
                </a:solidFill>
                <a:latin typeface="Garamond" panose="02020404030301010803" pitchFamily="18" charset="0"/>
                <a:ea typeface="Calibri" pitchFamily="34" charset="-122"/>
                <a:cs typeface="Calibri" pitchFamily="34" charset="-120"/>
              </a:rPr>
              <a:t>7.2. Final CLI Output:</a:t>
            </a:r>
          </a:p>
          <a:p>
            <a:endParaRPr lang="en-US" sz="4500" dirty="0">
              <a:latin typeface="Garamond" panose="02020404030301010803" pitchFamily="18" charset="0"/>
            </a:endParaRPr>
          </a:p>
        </p:txBody>
      </p:sp>
      <p:pic>
        <p:nvPicPr>
          <p:cNvPr id="3" name="Picture 2">
            <a:extLst>
              <a:ext uri="{FF2B5EF4-FFF2-40B4-BE49-F238E27FC236}">
                <a16:creationId xmlns:a16="http://schemas.microsoft.com/office/drawing/2014/main" id="{F3AE3AF9-B94F-1F1F-5EE8-B968B6DF84A8}"/>
              </a:ext>
            </a:extLst>
          </p:cNvPr>
          <p:cNvPicPr>
            <a:picLocks noChangeAspect="1"/>
          </p:cNvPicPr>
          <p:nvPr/>
        </p:nvPicPr>
        <p:blipFill>
          <a:blip r:embed="rId3"/>
          <a:stretch>
            <a:fillRect/>
          </a:stretch>
        </p:blipFill>
        <p:spPr>
          <a:xfrm>
            <a:off x="7609970" y="477264"/>
            <a:ext cx="10646435" cy="9793938"/>
          </a:xfrm>
          <a:prstGeom prst="rect">
            <a:avLst/>
          </a:prstGeom>
        </p:spPr>
      </p:pic>
      <p:sp>
        <p:nvSpPr>
          <p:cNvPr id="5" name="Text 2">
            <a:extLst>
              <a:ext uri="{FF2B5EF4-FFF2-40B4-BE49-F238E27FC236}">
                <a16:creationId xmlns:a16="http://schemas.microsoft.com/office/drawing/2014/main" id="{1606C321-EB9F-3DA5-3E59-9BEE29503B49}"/>
              </a:ext>
            </a:extLst>
          </p:cNvPr>
          <p:cNvSpPr/>
          <p:nvPr/>
        </p:nvSpPr>
        <p:spPr>
          <a:xfrm>
            <a:off x="751220" y="1766725"/>
            <a:ext cx="6760421" cy="7491033"/>
          </a:xfrm>
          <a:prstGeom prst="rect">
            <a:avLst/>
          </a:prstGeom>
          <a:noFill/>
          <a:ln/>
        </p:spPr>
        <p:txBody>
          <a:bodyPr wrap="square" lIns="0" tIns="0" rIns="0" bIns="0" rtlCol="0" anchor="t"/>
          <a:lstStyle/>
          <a:p>
            <a:r>
              <a:rPr lang="en-US" sz="2800" b="1" dirty="0">
                <a:latin typeface="Garamond" panose="02020404030301010803" pitchFamily="18" charset="0"/>
              </a:rPr>
              <a:t>Inputs used in this run (as shown in the screenshot):</a:t>
            </a:r>
          </a:p>
          <a:p>
            <a:pPr marL="342900" indent="-342900">
              <a:buFont typeface="Arial" panose="020B0604020202020204" pitchFamily="34" charset="0"/>
              <a:buChar char="•"/>
            </a:pPr>
            <a:r>
              <a:rPr lang="en-US" sz="2800" dirty="0">
                <a:latin typeface="Garamond" panose="02020404030301010803" pitchFamily="18" charset="0"/>
              </a:rPr>
              <a:t>At the main menu, an invalid option was entered first: 3 (system responds: “Invalid choice. Type 1 or 2.”)</a:t>
            </a:r>
          </a:p>
          <a:p>
            <a:pPr marL="342900" indent="-342900">
              <a:buFont typeface="Arial" panose="020B0604020202020204" pitchFamily="34" charset="0"/>
              <a:buChar char="•"/>
            </a:pPr>
            <a:r>
              <a:rPr lang="en-US" sz="2800" dirty="0">
                <a:latin typeface="Garamond" panose="02020404030301010803" pitchFamily="18" charset="0"/>
              </a:rPr>
              <a:t>Menu option selected: 1 → Recommend for user</a:t>
            </a:r>
          </a:p>
          <a:p>
            <a:pPr marL="342900" indent="-342900">
              <a:buFont typeface="Arial" panose="020B0604020202020204" pitchFamily="34" charset="0"/>
              <a:buChar char="•"/>
            </a:pPr>
            <a:r>
              <a:rPr lang="en-US" sz="2800" dirty="0">
                <a:latin typeface="Garamond" panose="02020404030301010803" pitchFamily="18" charset="0"/>
              </a:rPr>
              <a:t>Entered user_id: 2313 → triggers Popularity baseline due to no history</a:t>
            </a:r>
          </a:p>
          <a:p>
            <a:pPr marL="342900" indent="-342900">
              <a:buFont typeface="Arial" panose="020B0604020202020204" pitchFamily="34" charset="0"/>
              <a:buChar char="•"/>
            </a:pPr>
            <a:r>
              <a:rPr lang="en-US" sz="2800" dirty="0">
                <a:latin typeface="Garamond" panose="02020404030301010803" pitchFamily="18" charset="0"/>
              </a:rPr>
              <a:t>Menu option selected again: 1 → Recommend for user</a:t>
            </a:r>
          </a:p>
          <a:p>
            <a:pPr marL="342900" indent="-342900">
              <a:buFont typeface="Arial" panose="020B0604020202020204" pitchFamily="34" charset="0"/>
              <a:buChar char="•"/>
            </a:pPr>
            <a:r>
              <a:rPr lang="en-US" sz="2800" dirty="0">
                <a:latin typeface="Garamond" panose="02020404030301010803" pitchFamily="18" charset="0"/>
              </a:rPr>
              <a:t>Entered user_id: → generates Item-Item Similarity Top-10 and TruncatedSVD Top-10</a:t>
            </a:r>
          </a:p>
          <a:p>
            <a:pPr marL="342900" indent="-342900">
              <a:buFont typeface="Arial" panose="020B0604020202020204" pitchFamily="34" charset="0"/>
              <a:buChar char="•"/>
            </a:pPr>
            <a:r>
              <a:rPr lang="en-US" sz="2800" dirty="0">
                <a:latin typeface="Garamond" panose="02020404030301010803" pitchFamily="18" charset="0"/>
              </a:rPr>
              <a:t>Exit input: 2 → Quit</a:t>
            </a:r>
          </a:p>
          <a:p>
            <a:pPr marL="342900" indent="-342900">
              <a:buFont typeface="Arial" panose="020B0604020202020204" pitchFamily="34" charset="0"/>
              <a:buChar char="•"/>
            </a:pPr>
            <a:endParaRPr lang="en-US" sz="2800" dirty="0">
              <a:latin typeface="Garamond" panose="02020404030301010803" pitchFamily="18" charset="0"/>
            </a:endParaRPr>
          </a:p>
          <a:p>
            <a:endParaRPr lang="en-US" sz="2800" dirty="0">
              <a:latin typeface="Garamond" panose="02020404030301010803" pitchFamily="18" charset="0"/>
            </a:endParaRPr>
          </a:p>
        </p:txBody>
      </p:sp>
    </p:spTree>
    <p:extLst>
      <p:ext uri="{BB962C8B-B14F-4D97-AF65-F5344CB8AC3E}">
        <p14:creationId xmlns:p14="http://schemas.microsoft.com/office/powerpoint/2010/main" val="1624020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56298-7D45-81EB-8598-6FA67D612169}"/>
            </a:ext>
          </a:extLst>
        </p:cNvPr>
        <p:cNvGrpSpPr/>
        <p:nvPr/>
      </p:nvGrpSpPr>
      <p:grpSpPr>
        <a:xfrm>
          <a:off x="0" y="0"/>
          <a:ext cx="0" cy="0"/>
          <a:chOff x="0" y="0"/>
          <a:chExt cx="0" cy="0"/>
        </a:xfrm>
      </p:grpSpPr>
      <p:sp>
        <p:nvSpPr>
          <p:cNvPr id="11" name="object 2">
            <a:extLst>
              <a:ext uri="{FF2B5EF4-FFF2-40B4-BE49-F238E27FC236}">
                <a16:creationId xmlns:a16="http://schemas.microsoft.com/office/drawing/2014/main" id="{0B99B846-FC9F-B316-3837-06136A637DA1}"/>
              </a:ext>
            </a:extLst>
          </p:cNvPr>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dirty="0"/>
          </a:p>
        </p:txBody>
      </p:sp>
      <p:sp>
        <p:nvSpPr>
          <p:cNvPr id="2" name="Text 0">
            <a:extLst>
              <a:ext uri="{FF2B5EF4-FFF2-40B4-BE49-F238E27FC236}">
                <a16:creationId xmlns:a16="http://schemas.microsoft.com/office/drawing/2014/main" id="{F6663D27-D7BF-8134-5C4C-8DA5FC703E07}"/>
              </a:ext>
            </a:extLst>
          </p:cNvPr>
          <p:cNvSpPr/>
          <p:nvPr/>
        </p:nvSpPr>
        <p:spPr>
          <a:xfrm>
            <a:off x="862178" y="1160099"/>
            <a:ext cx="5852160" cy="975360"/>
          </a:xfrm>
          <a:prstGeom prst="rect">
            <a:avLst/>
          </a:prstGeom>
          <a:noFill/>
          <a:ln/>
        </p:spPr>
        <p:txBody>
          <a:bodyPr wrap="square" rtlCol="0" anchor="ctr"/>
          <a:lstStyle/>
          <a:p>
            <a:r>
              <a:rPr lang="en-US" sz="4500" b="1" dirty="0">
                <a:solidFill>
                  <a:srgbClr val="0F172A"/>
                </a:solidFill>
                <a:latin typeface="Garamond" panose="02020404030301010803" pitchFamily="18" charset="0"/>
                <a:ea typeface="Calibri" pitchFamily="34" charset="-122"/>
                <a:cs typeface="Calibri" pitchFamily="34" charset="-120"/>
              </a:rPr>
              <a:t>7.2.1. Final CLI Output Summary:</a:t>
            </a:r>
          </a:p>
          <a:p>
            <a:endParaRPr lang="en-US" sz="4500" dirty="0">
              <a:latin typeface="Garamond" panose="02020404030301010803" pitchFamily="18" charset="0"/>
            </a:endParaRPr>
          </a:p>
        </p:txBody>
      </p:sp>
      <p:pic>
        <p:nvPicPr>
          <p:cNvPr id="3" name="Picture 2">
            <a:extLst>
              <a:ext uri="{FF2B5EF4-FFF2-40B4-BE49-F238E27FC236}">
                <a16:creationId xmlns:a16="http://schemas.microsoft.com/office/drawing/2014/main" id="{BFF83009-D0E7-D623-CA6B-C06A8CA03A44}"/>
              </a:ext>
            </a:extLst>
          </p:cNvPr>
          <p:cNvPicPr>
            <a:picLocks noChangeAspect="1"/>
          </p:cNvPicPr>
          <p:nvPr/>
        </p:nvPicPr>
        <p:blipFill>
          <a:blip r:embed="rId3"/>
          <a:stretch>
            <a:fillRect/>
          </a:stretch>
        </p:blipFill>
        <p:spPr>
          <a:xfrm>
            <a:off x="7609970" y="477264"/>
            <a:ext cx="10646435" cy="9793938"/>
          </a:xfrm>
          <a:prstGeom prst="rect">
            <a:avLst/>
          </a:prstGeom>
        </p:spPr>
      </p:pic>
      <p:sp>
        <p:nvSpPr>
          <p:cNvPr id="5" name="Text 2">
            <a:extLst>
              <a:ext uri="{FF2B5EF4-FFF2-40B4-BE49-F238E27FC236}">
                <a16:creationId xmlns:a16="http://schemas.microsoft.com/office/drawing/2014/main" id="{3979DF51-C4DD-4C08-1132-10C782A876DC}"/>
              </a:ext>
            </a:extLst>
          </p:cNvPr>
          <p:cNvSpPr/>
          <p:nvPr/>
        </p:nvSpPr>
        <p:spPr>
          <a:xfrm>
            <a:off x="777240" y="2561621"/>
            <a:ext cx="6204625" cy="6553200"/>
          </a:xfrm>
          <a:prstGeom prst="rect">
            <a:avLst/>
          </a:prstGeom>
          <a:noFill/>
          <a:ln/>
        </p:spPr>
        <p:txBody>
          <a:bodyPr wrap="square" lIns="0" tIns="0" rIns="0" bIns="0" rtlCol="0" anchor="t"/>
          <a:lstStyle/>
          <a:p>
            <a:pPr algn="just"/>
            <a:r>
              <a:rPr lang="en-US" sz="3200" dirty="0">
                <a:latin typeface="Garamond" panose="02020404030301010803" pitchFamily="18" charset="0"/>
              </a:rPr>
              <a:t>Our system was able to take a user_id as input and generate Top-10 product recommendations successfully. When the input user had no interaction history (cold-start), it automatically switched to the popularity baseline and returned the most popular items; when the user had history, it produced personalized recommendations using item–item similarity and TruncatedSVD.</a:t>
            </a:r>
          </a:p>
          <a:p>
            <a:pPr algn="just"/>
            <a:endParaRPr lang="en-US" sz="3200" dirty="0">
              <a:latin typeface="Garamond" panose="02020404030301010803" pitchFamily="18" charset="0"/>
            </a:endParaRPr>
          </a:p>
        </p:txBody>
      </p:sp>
    </p:spTree>
    <p:extLst>
      <p:ext uri="{BB962C8B-B14F-4D97-AF65-F5344CB8AC3E}">
        <p14:creationId xmlns:p14="http://schemas.microsoft.com/office/powerpoint/2010/main" val="17178688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FD6E5-F8B7-7D83-B69C-B35477A665F8}"/>
            </a:ext>
          </a:extLst>
        </p:cNvPr>
        <p:cNvGrpSpPr/>
        <p:nvPr/>
      </p:nvGrpSpPr>
      <p:grpSpPr>
        <a:xfrm>
          <a:off x="0" y="0"/>
          <a:ext cx="0" cy="0"/>
          <a:chOff x="0" y="0"/>
          <a:chExt cx="0" cy="0"/>
        </a:xfrm>
      </p:grpSpPr>
      <p:sp>
        <p:nvSpPr>
          <p:cNvPr id="4" name="object 4" descr="$PPTXTitle">
            <a:extLst>
              <a:ext uri="{FF2B5EF4-FFF2-40B4-BE49-F238E27FC236}">
                <a16:creationId xmlns:a16="http://schemas.microsoft.com/office/drawing/2014/main" id="{A755B032-80E1-D033-C983-619831CEF60E}"/>
              </a:ext>
            </a:extLst>
          </p:cNvPr>
          <p:cNvSpPr txBox="1">
            <a:spLocks noGrp="1"/>
          </p:cNvSpPr>
          <p:nvPr>
            <p:ph type="title"/>
          </p:nvPr>
        </p:nvSpPr>
        <p:spPr>
          <a:xfrm>
            <a:off x="2590800" y="4381500"/>
            <a:ext cx="15697200" cy="1086067"/>
          </a:xfrm>
          <a:prstGeom prst="rect">
            <a:avLst/>
          </a:prstGeom>
        </p:spPr>
        <p:txBody>
          <a:bodyPr vert="horz" wrap="square" lIns="0" tIns="185420" rIns="0" bIns="0" rtlCol="0">
            <a:spAutoFit/>
          </a:bodyPr>
          <a:lstStyle/>
          <a:p>
            <a:pPr marL="2280920" marR="5080" indent="-2268855">
              <a:lnSpc>
                <a:spcPts val="6800"/>
              </a:lnSpc>
              <a:spcBef>
                <a:spcPts val="1460"/>
              </a:spcBef>
            </a:pPr>
            <a:r>
              <a:rPr lang="en-US" spc="-295" dirty="0"/>
              <a:t>Truncated SVD: How the Main Model Works</a:t>
            </a:r>
            <a:endParaRPr spc="400" dirty="0"/>
          </a:p>
        </p:txBody>
      </p:sp>
    </p:spTree>
    <p:extLst>
      <p:ext uri="{BB962C8B-B14F-4D97-AF65-F5344CB8AC3E}">
        <p14:creationId xmlns:p14="http://schemas.microsoft.com/office/powerpoint/2010/main" val="3204269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65DA2B41-BD45-85E6-A661-CA8092940646}"/>
              </a:ext>
            </a:extLst>
          </p:cNvPr>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2" name="Text 0"/>
          <p:cNvSpPr/>
          <p:nvPr/>
        </p:nvSpPr>
        <p:spPr>
          <a:xfrm>
            <a:off x="822960" y="548640"/>
            <a:ext cx="16733520" cy="822960"/>
          </a:xfrm>
          <a:prstGeom prst="rect">
            <a:avLst/>
          </a:prstGeom>
          <a:noFill/>
          <a:ln/>
        </p:spPr>
        <p:txBody>
          <a:bodyPr wrap="square" rtlCol="0" anchor="ctr"/>
          <a:lstStyle/>
          <a:p>
            <a:r>
              <a:rPr lang="en-US" sz="4500" b="1" dirty="0">
                <a:solidFill>
                  <a:srgbClr val="0F172A"/>
                </a:solidFill>
                <a:latin typeface="Garamond" panose="02020404030301010803" pitchFamily="18" charset="0"/>
                <a:ea typeface="Calibri" pitchFamily="34" charset="-122"/>
                <a:cs typeface="Calibri" pitchFamily="34" charset="-120"/>
              </a:rPr>
              <a:t>8. TruncatedSVD: How the Main Model Works</a:t>
            </a:r>
            <a:endParaRPr lang="en-US" sz="4500" dirty="0">
              <a:latin typeface="Garamond" panose="02020404030301010803" pitchFamily="18" charset="0"/>
            </a:endParaRPr>
          </a:p>
        </p:txBody>
      </p:sp>
      <p:sp>
        <p:nvSpPr>
          <p:cNvPr id="3" name="Shape 1"/>
          <p:cNvSpPr/>
          <p:nvPr/>
        </p:nvSpPr>
        <p:spPr>
          <a:xfrm>
            <a:off x="822960" y="1440180"/>
            <a:ext cx="16733520" cy="0"/>
          </a:xfrm>
          <a:prstGeom prst="line">
            <a:avLst/>
          </a:prstGeom>
          <a:noFill/>
          <a:ln w="12700">
            <a:solidFill>
              <a:srgbClr val="CBD5E1"/>
            </a:solidFill>
            <a:prstDash val="solid"/>
          </a:ln>
        </p:spPr>
        <p:txBody>
          <a:bodyPr/>
          <a:lstStyle/>
          <a:p>
            <a:endParaRPr lang="en-US"/>
          </a:p>
        </p:txBody>
      </p:sp>
      <p:sp>
        <p:nvSpPr>
          <p:cNvPr id="4" name="Shape 2"/>
          <p:cNvSpPr/>
          <p:nvPr/>
        </p:nvSpPr>
        <p:spPr>
          <a:xfrm>
            <a:off x="811809" y="1680210"/>
            <a:ext cx="16527780" cy="8023860"/>
          </a:xfrm>
          <a:prstGeom prst="roundRect">
            <a:avLst/>
          </a:prstGeom>
          <a:solidFill>
            <a:srgbClr val="F8FAFC"/>
          </a:solidFill>
          <a:ln w="12700">
            <a:solidFill>
              <a:srgbClr val="E2E8F0"/>
            </a:solidFill>
            <a:prstDash val="solid"/>
          </a:ln>
          <a:effectLst>
            <a:outerShdw blurRad="38100" dist="12700" dir="2700000" algn="bl" rotWithShape="0">
              <a:srgbClr val="000000">
                <a:alpha val="10000"/>
              </a:srgbClr>
            </a:outerShdw>
          </a:effectLst>
        </p:spPr>
        <p:txBody>
          <a:bodyPr/>
          <a:lstStyle/>
          <a:p>
            <a:endParaRPr lang="en-US"/>
          </a:p>
        </p:txBody>
      </p:sp>
      <p:sp>
        <p:nvSpPr>
          <p:cNvPr id="5" name="Text 3"/>
          <p:cNvSpPr/>
          <p:nvPr/>
        </p:nvSpPr>
        <p:spPr>
          <a:xfrm>
            <a:off x="1440180" y="2400300"/>
            <a:ext cx="15979140" cy="3291840"/>
          </a:xfrm>
          <a:prstGeom prst="rect">
            <a:avLst/>
          </a:prstGeom>
          <a:noFill/>
          <a:ln/>
        </p:spPr>
        <p:txBody>
          <a:bodyPr wrap="square" rtlCol="0" anchor="ctr"/>
          <a:lstStyle/>
          <a:p>
            <a:pPr marL="381000" indent="-381000">
              <a:spcAft>
                <a:spcPts val="12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1. Build a sparse user–item matrix (ratings).</a:t>
            </a:r>
            <a:endParaRPr lang="en-US" sz="2800" dirty="0">
              <a:latin typeface="Garamond" panose="02020404030301010803" pitchFamily="18" charset="0"/>
            </a:endParaRPr>
          </a:p>
          <a:p>
            <a:pPr marL="381000" indent="-381000">
              <a:spcAft>
                <a:spcPts val="12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2. Apply TruncatedSVD to learn latent factors.</a:t>
            </a:r>
            <a:endParaRPr lang="en-US" sz="2800" dirty="0">
              <a:latin typeface="Garamond" panose="02020404030301010803" pitchFamily="18" charset="0"/>
            </a:endParaRPr>
          </a:p>
          <a:p>
            <a:pPr marL="381000" indent="-381000">
              <a:spcAft>
                <a:spcPts val="12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3. Reconstruct predicted preference scores.</a:t>
            </a:r>
            <a:endParaRPr lang="en-US" sz="2800" dirty="0">
              <a:latin typeface="Garamond" panose="02020404030301010803" pitchFamily="18" charset="0"/>
            </a:endParaRPr>
          </a:p>
          <a:p>
            <a:pPr marL="381000" indent="-381000">
              <a:spcAft>
                <a:spcPts val="12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4. Filter seen items and rank the remaining items → Top-N.</a:t>
            </a:r>
            <a:endParaRPr lang="en-US" sz="2800" dirty="0">
              <a:latin typeface="Garamond" panose="02020404030301010803" pitchFamily="18" charset="0"/>
            </a:endParaRPr>
          </a:p>
        </p:txBody>
      </p:sp>
      <p:sp>
        <p:nvSpPr>
          <p:cNvPr id="6" name="Text 4"/>
          <p:cNvSpPr/>
          <p:nvPr/>
        </p:nvSpPr>
        <p:spPr>
          <a:xfrm>
            <a:off x="1440180" y="5897880"/>
            <a:ext cx="15979140" cy="685800"/>
          </a:xfrm>
          <a:prstGeom prst="rect">
            <a:avLst/>
          </a:prstGeom>
          <a:noFill/>
          <a:ln/>
        </p:spPr>
        <p:txBody>
          <a:bodyPr wrap="square" rtlCol="0" anchor="ctr"/>
          <a:lstStyle/>
          <a:p>
            <a:r>
              <a:rPr lang="en-US" sz="2400" dirty="0">
                <a:solidFill>
                  <a:srgbClr val="0F172A"/>
                </a:solidFill>
                <a:latin typeface="Garamond" panose="02020404030301010803" pitchFamily="18" charset="0"/>
                <a:ea typeface="Calibri" pitchFamily="34" charset="-122"/>
                <a:cs typeface="Calibri" pitchFamily="34" charset="-120"/>
              </a:rPr>
              <a:t>Output: Top-N list of recommended products with readable titles (via metadata).</a:t>
            </a:r>
            <a:endParaRPr lang="en-US" sz="2400" dirty="0">
              <a:latin typeface="Garamond" panose="02020404030301010803" pitchFamily="18" charset="0"/>
            </a:endParaRPr>
          </a:p>
        </p:txBody>
      </p:sp>
      <p:sp>
        <p:nvSpPr>
          <p:cNvPr id="7" name="Shape 5"/>
          <p:cNvSpPr/>
          <p:nvPr/>
        </p:nvSpPr>
        <p:spPr>
          <a:xfrm>
            <a:off x="1440180" y="7277100"/>
            <a:ext cx="15979140" cy="1569720"/>
          </a:xfrm>
          <a:prstGeom prst="rect">
            <a:avLst/>
          </a:prstGeom>
          <a:solidFill>
            <a:srgbClr val="EEF2FF"/>
          </a:solidFill>
          <a:ln w="12700">
            <a:solidFill>
              <a:srgbClr val="C7D2FE"/>
            </a:solidFill>
            <a:prstDash val="solid"/>
          </a:ln>
        </p:spPr>
        <p:txBody>
          <a:bodyPr/>
          <a:lstStyle/>
          <a:p>
            <a:endParaRPr lang="en-US"/>
          </a:p>
        </p:txBody>
      </p:sp>
      <p:sp>
        <p:nvSpPr>
          <p:cNvPr id="8" name="Text 6"/>
          <p:cNvSpPr/>
          <p:nvPr/>
        </p:nvSpPr>
        <p:spPr>
          <a:xfrm>
            <a:off x="1783080" y="6995160"/>
            <a:ext cx="15293340" cy="2468880"/>
          </a:xfrm>
          <a:prstGeom prst="rect">
            <a:avLst/>
          </a:prstGeom>
          <a:noFill/>
          <a:ln/>
        </p:spPr>
        <p:txBody>
          <a:bodyPr wrap="square" rtlCol="0" anchor="ctr"/>
          <a:lstStyle/>
          <a:p>
            <a:r>
              <a:rPr lang="en-US" sz="2800" dirty="0">
                <a:solidFill>
                  <a:srgbClr val="1E293B"/>
                </a:solidFill>
                <a:latin typeface="Garamond" panose="02020404030301010803" pitchFamily="18" charset="0"/>
                <a:ea typeface="Calibri" pitchFamily="34" charset="-122"/>
                <a:cs typeface="Calibri" pitchFamily="34" charset="-120"/>
              </a:rPr>
              <a:t>How this works: recommendations are generated only from unseen items (items already interacted with are removed before ranking).</a:t>
            </a:r>
            <a:endParaRPr lang="en-US" sz="2800" dirty="0">
              <a:latin typeface="Garamond" panose="02020404030301010803"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896DB-33DA-2BFB-A524-1DF606C8C98A}"/>
            </a:ext>
          </a:extLst>
        </p:cNvPr>
        <p:cNvGrpSpPr/>
        <p:nvPr/>
      </p:nvGrpSpPr>
      <p:grpSpPr>
        <a:xfrm>
          <a:off x="0" y="0"/>
          <a:ext cx="0" cy="0"/>
          <a:chOff x="0" y="0"/>
          <a:chExt cx="0" cy="0"/>
        </a:xfrm>
      </p:grpSpPr>
      <p:sp>
        <p:nvSpPr>
          <p:cNvPr id="4" name="object 4" descr="$PPTXTitle">
            <a:extLst>
              <a:ext uri="{FF2B5EF4-FFF2-40B4-BE49-F238E27FC236}">
                <a16:creationId xmlns:a16="http://schemas.microsoft.com/office/drawing/2014/main" id="{FF11B4B3-7323-52CA-3EA7-0392276BC955}"/>
              </a:ext>
            </a:extLst>
          </p:cNvPr>
          <p:cNvSpPr txBox="1">
            <a:spLocks noGrp="1"/>
          </p:cNvSpPr>
          <p:nvPr>
            <p:ph type="title"/>
          </p:nvPr>
        </p:nvSpPr>
        <p:spPr>
          <a:xfrm>
            <a:off x="3048000" y="4381500"/>
            <a:ext cx="15697200" cy="1086067"/>
          </a:xfrm>
          <a:prstGeom prst="rect">
            <a:avLst/>
          </a:prstGeom>
        </p:spPr>
        <p:txBody>
          <a:bodyPr vert="horz" wrap="square" lIns="0" tIns="185420" rIns="0" bIns="0" rtlCol="0">
            <a:spAutoFit/>
          </a:bodyPr>
          <a:lstStyle/>
          <a:p>
            <a:pPr marL="2280920" marR="5080" indent="-2268855">
              <a:lnSpc>
                <a:spcPts val="6800"/>
              </a:lnSpc>
              <a:spcBef>
                <a:spcPts val="1460"/>
              </a:spcBef>
            </a:pPr>
            <a:r>
              <a:rPr lang="en-US" spc="-295" dirty="0"/>
              <a:t>Synthesis: Pseudocode and Flowchart</a:t>
            </a:r>
            <a:endParaRPr spc="400" dirty="0"/>
          </a:p>
        </p:txBody>
      </p:sp>
    </p:spTree>
    <p:extLst>
      <p:ext uri="{BB962C8B-B14F-4D97-AF65-F5344CB8AC3E}">
        <p14:creationId xmlns:p14="http://schemas.microsoft.com/office/powerpoint/2010/main" val="39524003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3" name="object 3" descr="$PPTXTitle"/>
          <p:cNvSpPr txBox="1">
            <a:spLocks noGrp="1"/>
          </p:cNvSpPr>
          <p:nvPr>
            <p:ph type="title"/>
          </p:nvPr>
        </p:nvSpPr>
        <p:spPr>
          <a:prstGeom prst="rect">
            <a:avLst/>
          </a:prstGeom>
        </p:spPr>
        <p:txBody>
          <a:bodyPr vert="horz" wrap="square" lIns="0" tIns="12700" rIns="0" bIns="0" rtlCol="0">
            <a:spAutoFit/>
          </a:bodyPr>
          <a:lstStyle/>
          <a:p>
            <a:pPr marL="541020">
              <a:lnSpc>
                <a:spcPct val="100000"/>
              </a:lnSpc>
              <a:spcBef>
                <a:spcPts val="100"/>
              </a:spcBef>
            </a:pPr>
            <a:r>
              <a:rPr spc="430" dirty="0">
                <a:solidFill>
                  <a:srgbClr val="37403A"/>
                </a:solidFill>
              </a:rPr>
              <a:t>Pseudocode</a:t>
            </a:r>
            <a:r>
              <a:rPr dirty="0">
                <a:solidFill>
                  <a:srgbClr val="37403A"/>
                </a:solidFill>
              </a:rPr>
              <a:t> </a:t>
            </a:r>
            <a:r>
              <a:rPr lang="en-US" spc="690" dirty="0">
                <a:solidFill>
                  <a:srgbClr val="37403A"/>
                </a:solidFill>
              </a:rPr>
              <a:t>Overview</a:t>
            </a:r>
            <a:endParaRPr spc="345" dirty="0">
              <a:solidFill>
                <a:srgbClr val="37403A"/>
              </a:solidFill>
            </a:endParaRPr>
          </a:p>
        </p:txBody>
      </p:sp>
      <p:sp>
        <p:nvSpPr>
          <p:cNvPr id="5" name="object 5"/>
          <p:cNvSpPr/>
          <p:nvPr/>
        </p:nvSpPr>
        <p:spPr>
          <a:xfrm>
            <a:off x="8993022" y="886993"/>
            <a:ext cx="299720" cy="10160"/>
          </a:xfrm>
          <a:custGeom>
            <a:avLst/>
            <a:gdLst/>
            <a:ahLst/>
            <a:cxnLst/>
            <a:rect l="l" t="t" r="r" b="b"/>
            <a:pathLst>
              <a:path w="299720" h="10159">
                <a:moveTo>
                  <a:pt x="299224" y="0"/>
                </a:moveTo>
                <a:lnTo>
                  <a:pt x="0" y="0"/>
                </a:lnTo>
                <a:lnTo>
                  <a:pt x="0" y="9880"/>
                </a:lnTo>
                <a:lnTo>
                  <a:pt x="299224" y="9880"/>
                </a:lnTo>
                <a:lnTo>
                  <a:pt x="299224" y="0"/>
                </a:lnTo>
                <a:close/>
              </a:path>
            </a:pathLst>
          </a:custGeom>
          <a:solidFill>
            <a:srgbClr val="49524C"/>
          </a:solidFill>
        </p:spPr>
        <p:txBody>
          <a:bodyPr wrap="square" lIns="0" tIns="0" rIns="0" bIns="0" rtlCol="0"/>
          <a:lstStyle/>
          <a:p>
            <a:endParaRPr/>
          </a:p>
        </p:txBody>
      </p:sp>
      <p:sp>
        <p:nvSpPr>
          <p:cNvPr id="7" name="object 7"/>
          <p:cNvSpPr/>
          <p:nvPr/>
        </p:nvSpPr>
        <p:spPr>
          <a:xfrm>
            <a:off x="12603864" y="4867052"/>
            <a:ext cx="614045" cy="632460"/>
          </a:xfrm>
          <a:custGeom>
            <a:avLst/>
            <a:gdLst/>
            <a:ahLst/>
            <a:cxnLst/>
            <a:rect l="l" t="t" r="r" b="b"/>
            <a:pathLst>
              <a:path w="614044" h="632460">
                <a:moveTo>
                  <a:pt x="360972" y="527050"/>
                </a:moveTo>
                <a:lnTo>
                  <a:pt x="221119" y="527050"/>
                </a:lnTo>
                <a:lnTo>
                  <a:pt x="221119" y="566420"/>
                </a:lnTo>
                <a:lnTo>
                  <a:pt x="64604" y="593090"/>
                </a:lnTo>
                <a:lnTo>
                  <a:pt x="61150" y="596900"/>
                </a:lnTo>
                <a:lnTo>
                  <a:pt x="61150" y="628650"/>
                </a:lnTo>
                <a:lnTo>
                  <a:pt x="65608" y="632460"/>
                </a:lnTo>
                <a:lnTo>
                  <a:pt x="519976" y="632460"/>
                </a:lnTo>
                <a:lnTo>
                  <a:pt x="524306" y="628650"/>
                </a:lnTo>
                <a:lnTo>
                  <a:pt x="524306" y="596900"/>
                </a:lnTo>
                <a:lnTo>
                  <a:pt x="520852" y="593090"/>
                </a:lnTo>
                <a:lnTo>
                  <a:pt x="516077" y="593090"/>
                </a:lnTo>
                <a:lnTo>
                  <a:pt x="360972" y="566420"/>
                </a:lnTo>
                <a:lnTo>
                  <a:pt x="360972" y="527050"/>
                </a:lnTo>
                <a:close/>
              </a:path>
              <a:path w="614044" h="632460">
                <a:moveTo>
                  <a:pt x="559244" y="0"/>
                </a:moveTo>
                <a:lnTo>
                  <a:pt x="157962" y="0"/>
                </a:lnTo>
                <a:lnTo>
                  <a:pt x="136967" y="3810"/>
                </a:lnTo>
                <a:lnTo>
                  <a:pt x="119827" y="15240"/>
                </a:lnTo>
                <a:lnTo>
                  <a:pt x="108274" y="33020"/>
                </a:lnTo>
                <a:lnTo>
                  <a:pt x="104038" y="53340"/>
                </a:lnTo>
                <a:lnTo>
                  <a:pt x="104038" y="120650"/>
                </a:lnTo>
                <a:lnTo>
                  <a:pt x="45897" y="120650"/>
                </a:lnTo>
                <a:lnTo>
                  <a:pt x="28037" y="124460"/>
                </a:lnTo>
                <a:lnTo>
                  <a:pt x="13447" y="133350"/>
                </a:lnTo>
                <a:lnTo>
                  <a:pt x="3608" y="148590"/>
                </a:lnTo>
                <a:lnTo>
                  <a:pt x="0" y="166370"/>
                </a:lnTo>
                <a:lnTo>
                  <a:pt x="0" y="481330"/>
                </a:lnTo>
                <a:lnTo>
                  <a:pt x="3608" y="499110"/>
                </a:lnTo>
                <a:lnTo>
                  <a:pt x="13447" y="513080"/>
                </a:lnTo>
                <a:lnTo>
                  <a:pt x="28037" y="523240"/>
                </a:lnTo>
                <a:lnTo>
                  <a:pt x="45897" y="527050"/>
                </a:lnTo>
                <a:lnTo>
                  <a:pt x="536193" y="527050"/>
                </a:lnTo>
                <a:lnTo>
                  <a:pt x="553994" y="523240"/>
                </a:lnTo>
                <a:lnTo>
                  <a:pt x="568563" y="513080"/>
                </a:lnTo>
                <a:lnTo>
                  <a:pt x="578402" y="499110"/>
                </a:lnTo>
                <a:lnTo>
                  <a:pt x="582015" y="481330"/>
                </a:lnTo>
                <a:lnTo>
                  <a:pt x="582015" y="452120"/>
                </a:lnTo>
                <a:lnTo>
                  <a:pt x="56375" y="452120"/>
                </a:lnTo>
                <a:lnTo>
                  <a:pt x="56375" y="176530"/>
                </a:lnTo>
                <a:lnTo>
                  <a:pt x="123875" y="176530"/>
                </a:lnTo>
                <a:lnTo>
                  <a:pt x="123875" y="114300"/>
                </a:lnTo>
                <a:lnTo>
                  <a:pt x="613486" y="114300"/>
                </a:lnTo>
                <a:lnTo>
                  <a:pt x="613486" y="83820"/>
                </a:lnTo>
                <a:lnTo>
                  <a:pt x="172618" y="83820"/>
                </a:lnTo>
                <a:lnTo>
                  <a:pt x="161945" y="82550"/>
                </a:lnTo>
                <a:lnTo>
                  <a:pt x="153225" y="76200"/>
                </a:lnTo>
                <a:lnTo>
                  <a:pt x="147343" y="67310"/>
                </a:lnTo>
                <a:lnTo>
                  <a:pt x="145186" y="57150"/>
                </a:lnTo>
                <a:lnTo>
                  <a:pt x="147343" y="46990"/>
                </a:lnTo>
                <a:lnTo>
                  <a:pt x="153225" y="38100"/>
                </a:lnTo>
                <a:lnTo>
                  <a:pt x="161945" y="31750"/>
                </a:lnTo>
                <a:lnTo>
                  <a:pt x="172618" y="29210"/>
                </a:lnTo>
                <a:lnTo>
                  <a:pt x="606508" y="29210"/>
                </a:lnTo>
                <a:lnTo>
                  <a:pt x="597552" y="16510"/>
                </a:lnTo>
                <a:lnTo>
                  <a:pt x="580315" y="3810"/>
                </a:lnTo>
                <a:lnTo>
                  <a:pt x="559244" y="0"/>
                </a:lnTo>
                <a:close/>
              </a:path>
              <a:path w="614044" h="632460">
                <a:moveTo>
                  <a:pt x="123875" y="176530"/>
                </a:moveTo>
                <a:lnTo>
                  <a:pt x="104076" y="176530"/>
                </a:lnTo>
                <a:lnTo>
                  <a:pt x="104076" y="367030"/>
                </a:lnTo>
                <a:lnTo>
                  <a:pt x="107965" y="386080"/>
                </a:lnTo>
                <a:lnTo>
                  <a:pt x="118570" y="401320"/>
                </a:lnTo>
                <a:lnTo>
                  <a:pt x="134294" y="412750"/>
                </a:lnTo>
                <a:lnTo>
                  <a:pt x="153542" y="416560"/>
                </a:lnTo>
                <a:lnTo>
                  <a:pt x="525640" y="416560"/>
                </a:lnTo>
                <a:lnTo>
                  <a:pt x="525589" y="452120"/>
                </a:lnTo>
                <a:lnTo>
                  <a:pt x="582015" y="452120"/>
                </a:lnTo>
                <a:lnTo>
                  <a:pt x="582015" y="415290"/>
                </a:lnTo>
                <a:lnTo>
                  <a:pt x="581736" y="414020"/>
                </a:lnTo>
                <a:lnTo>
                  <a:pt x="581329" y="412750"/>
                </a:lnTo>
                <a:lnTo>
                  <a:pt x="594283" y="405130"/>
                </a:lnTo>
                <a:lnTo>
                  <a:pt x="603184" y="396240"/>
                </a:lnTo>
                <a:lnTo>
                  <a:pt x="153542" y="396240"/>
                </a:lnTo>
                <a:lnTo>
                  <a:pt x="141979" y="393700"/>
                </a:lnTo>
                <a:lnTo>
                  <a:pt x="132551" y="387350"/>
                </a:lnTo>
                <a:lnTo>
                  <a:pt x="126202" y="378460"/>
                </a:lnTo>
                <a:lnTo>
                  <a:pt x="123875" y="367030"/>
                </a:lnTo>
                <a:lnTo>
                  <a:pt x="123875" y="176530"/>
                </a:lnTo>
                <a:close/>
              </a:path>
              <a:path w="614044" h="632460">
                <a:moveTo>
                  <a:pt x="613486" y="114300"/>
                </a:moveTo>
                <a:lnTo>
                  <a:pt x="593699" y="114300"/>
                </a:lnTo>
                <a:lnTo>
                  <a:pt x="593699" y="367030"/>
                </a:lnTo>
                <a:lnTo>
                  <a:pt x="591371" y="378460"/>
                </a:lnTo>
                <a:lnTo>
                  <a:pt x="585017" y="387350"/>
                </a:lnTo>
                <a:lnTo>
                  <a:pt x="575584" y="393700"/>
                </a:lnTo>
                <a:lnTo>
                  <a:pt x="564019" y="396240"/>
                </a:lnTo>
                <a:lnTo>
                  <a:pt x="603184" y="396240"/>
                </a:lnTo>
                <a:lnTo>
                  <a:pt x="604456" y="394970"/>
                </a:lnTo>
                <a:lnTo>
                  <a:pt x="611104" y="382270"/>
                </a:lnTo>
                <a:lnTo>
                  <a:pt x="613486" y="367030"/>
                </a:lnTo>
                <a:lnTo>
                  <a:pt x="613486" y="114300"/>
                </a:lnTo>
                <a:close/>
              </a:path>
              <a:path w="614044" h="632460">
                <a:moveTo>
                  <a:pt x="213974" y="332740"/>
                </a:moveTo>
                <a:lnTo>
                  <a:pt x="190677" y="332740"/>
                </a:lnTo>
                <a:lnTo>
                  <a:pt x="201510" y="350520"/>
                </a:lnTo>
                <a:lnTo>
                  <a:pt x="214963" y="364490"/>
                </a:lnTo>
                <a:lnTo>
                  <a:pt x="230497" y="373380"/>
                </a:lnTo>
                <a:lnTo>
                  <a:pt x="247573" y="377190"/>
                </a:lnTo>
                <a:lnTo>
                  <a:pt x="264709" y="373380"/>
                </a:lnTo>
                <a:lnTo>
                  <a:pt x="280271" y="364490"/>
                </a:lnTo>
                <a:lnTo>
                  <a:pt x="288836" y="355600"/>
                </a:lnTo>
                <a:lnTo>
                  <a:pt x="237705" y="355600"/>
                </a:lnTo>
                <a:lnTo>
                  <a:pt x="222318" y="345440"/>
                </a:lnTo>
                <a:lnTo>
                  <a:pt x="213974" y="332740"/>
                </a:lnTo>
                <a:close/>
              </a:path>
              <a:path w="614044" h="632460">
                <a:moveTo>
                  <a:pt x="151498" y="218440"/>
                </a:moveTo>
                <a:lnTo>
                  <a:pt x="146634" y="220980"/>
                </a:lnTo>
                <a:lnTo>
                  <a:pt x="141897" y="223520"/>
                </a:lnTo>
                <a:lnTo>
                  <a:pt x="140093" y="229870"/>
                </a:lnTo>
                <a:lnTo>
                  <a:pt x="147040" y="242570"/>
                </a:lnTo>
                <a:lnTo>
                  <a:pt x="153000" y="250190"/>
                </a:lnTo>
                <a:lnTo>
                  <a:pt x="160547" y="257810"/>
                </a:lnTo>
                <a:lnTo>
                  <a:pt x="169350" y="261620"/>
                </a:lnTo>
                <a:lnTo>
                  <a:pt x="179082" y="265430"/>
                </a:lnTo>
                <a:lnTo>
                  <a:pt x="178803" y="267970"/>
                </a:lnTo>
                <a:lnTo>
                  <a:pt x="178600" y="271780"/>
                </a:lnTo>
                <a:lnTo>
                  <a:pt x="178676" y="279400"/>
                </a:lnTo>
                <a:lnTo>
                  <a:pt x="150406" y="279400"/>
                </a:lnTo>
                <a:lnTo>
                  <a:pt x="145948" y="284480"/>
                </a:lnTo>
                <a:lnTo>
                  <a:pt x="145948" y="294640"/>
                </a:lnTo>
                <a:lnTo>
                  <a:pt x="150406" y="299720"/>
                </a:lnTo>
                <a:lnTo>
                  <a:pt x="180568" y="299720"/>
                </a:lnTo>
                <a:lnTo>
                  <a:pt x="181368" y="304800"/>
                </a:lnTo>
                <a:lnTo>
                  <a:pt x="183616" y="313690"/>
                </a:lnTo>
                <a:lnTo>
                  <a:pt x="172484" y="316230"/>
                </a:lnTo>
                <a:lnTo>
                  <a:pt x="162385" y="321310"/>
                </a:lnTo>
                <a:lnTo>
                  <a:pt x="153748" y="327660"/>
                </a:lnTo>
                <a:lnTo>
                  <a:pt x="147002" y="337820"/>
                </a:lnTo>
                <a:lnTo>
                  <a:pt x="140055" y="350520"/>
                </a:lnTo>
                <a:lnTo>
                  <a:pt x="141858" y="355600"/>
                </a:lnTo>
                <a:lnTo>
                  <a:pt x="146596" y="358140"/>
                </a:lnTo>
                <a:lnTo>
                  <a:pt x="148158" y="359410"/>
                </a:lnTo>
                <a:lnTo>
                  <a:pt x="154901" y="359410"/>
                </a:lnTo>
                <a:lnTo>
                  <a:pt x="158280" y="358140"/>
                </a:lnTo>
                <a:lnTo>
                  <a:pt x="160045" y="354330"/>
                </a:lnTo>
                <a:lnTo>
                  <a:pt x="164299" y="346710"/>
                </a:lnTo>
                <a:lnTo>
                  <a:pt x="168598" y="341630"/>
                </a:lnTo>
                <a:lnTo>
                  <a:pt x="174170" y="336550"/>
                </a:lnTo>
                <a:lnTo>
                  <a:pt x="180691" y="334010"/>
                </a:lnTo>
                <a:lnTo>
                  <a:pt x="187832" y="332740"/>
                </a:lnTo>
                <a:lnTo>
                  <a:pt x="213974" y="332740"/>
                </a:lnTo>
                <a:lnTo>
                  <a:pt x="209802" y="326390"/>
                </a:lnTo>
                <a:lnTo>
                  <a:pt x="201388" y="303530"/>
                </a:lnTo>
                <a:lnTo>
                  <a:pt x="198310" y="275590"/>
                </a:lnTo>
                <a:lnTo>
                  <a:pt x="199442" y="261620"/>
                </a:lnTo>
                <a:lnTo>
                  <a:pt x="202309" y="251460"/>
                </a:lnTo>
                <a:lnTo>
                  <a:pt x="206116" y="245110"/>
                </a:lnTo>
                <a:lnTo>
                  <a:pt x="183337" y="245110"/>
                </a:lnTo>
                <a:lnTo>
                  <a:pt x="175425" y="243840"/>
                </a:lnTo>
                <a:lnTo>
                  <a:pt x="168274" y="240030"/>
                </a:lnTo>
                <a:lnTo>
                  <a:pt x="164337" y="232410"/>
                </a:lnTo>
                <a:lnTo>
                  <a:pt x="160083" y="224790"/>
                </a:lnTo>
                <a:lnTo>
                  <a:pt x="157518" y="219710"/>
                </a:lnTo>
                <a:lnTo>
                  <a:pt x="151498" y="218440"/>
                </a:lnTo>
                <a:close/>
              </a:path>
              <a:path w="614044" h="632460">
                <a:moveTo>
                  <a:pt x="344957" y="332740"/>
                </a:moveTo>
                <a:lnTo>
                  <a:pt x="307403" y="332740"/>
                </a:lnTo>
                <a:lnTo>
                  <a:pt x="314549" y="334010"/>
                </a:lnTo>
                <a:lnTo>
                  <a:pt x="321060" y="336550"/>
                </a:lnTo>
                <a:lnTo>
                  <a:pt x="326607" y="341630"/>
                </a:lnTo>
                <a:lnTo>
                  <a:pt x="330860" y="346710"/>
                </a:lnTo>
                <a:lnTo>
                  <a:pt x="335191" y="354330"/>
                </a:lnTo>
                <a:lnTo>
                  <a:pt x="336956" y="358140"/>
                </a:lnTo>
                <a:lnTo>
                  <a:pt x="340334" y="359410"/>
                </a:lnTo>
                <a:lnTo>
                  <a:pt x="347040" y="359410"/>
                </a:lnTo>
                <a:lnTo>
                  <a:pt x="348526" y="358140"/>
                </a:lnTo>
                <a:lnTo>
                  <a:pt x="353377" y="355600"/>
                </a:lnTo>
                <a:lnTo>
                  <a:pt x="355066" y="350520"/>
                </a:lnTo>
                <a:lnTo>
                  <a:pt x="352501" y="345440"/>
                </a:lnTo>
                <a:lnTo>
                  <a:pt x="348322" y="337820"/>
                </a:lnTo>
                <a:lnTo>
                  <a:pt x="344957" y="332740"/>
                </a:lnTo>
                <a:close/>
              </a:path>
              <a:path w="614044" h="632460">
                <a:moveTo>
                  <a:pt x="257492" y="237490"/>
                </a:moveTo>
                <a:lnTo>
                  <a:pt x="237667" y="237490"/>
                </a:lnTo>
                <a:lnTo>
                  <a:pt x="237705" y="355600"/>
                </a:lnTo>
                <a:lnTo>
                  <a:pt x="257492" y="355600"/>
                </a:lnTo>
                <a:lnTo>
                  <a:pt x="257492" y="237490"/>
                </a:lnTo>
                <a:close/>
              </a:path>
              <a:path w="614044" h="632460">
                <a:moveTo>
                  <a:pt x="307932" y="237490"/>
                </a:moveTo>
                <a:lnTo>
                  <a:pt x="265683" y="237490"/>
                </a:lnTo>
                <a:lnTo>
                  <a:pt x="273108" y="238760"/>
                </a:lnTo>
                <a:lnTo>
                  <a:pt x="279622" y="240030"/>
                </a:lnTo>
                <a:lnTo>
                  <a:pt x="296964" y="275590"/>
                </a:lnTo>
                <a:lnTo>
                  <a:pt x="293886" y="303530"/>
                </a:lnTo>
                <a:lnTo>
                  <a:pt x="285467" y="326390"/>
                </a:lnTo>
                <a:lnTo>
                  <a:pt x="272928" y="345440"/>
                </a:lnTo>
                <a:lnTo>
                  <a:pt x="257492" y="355600"/>
                </a:lnTo>
                <a:lnTo>
                  <a:pt x="288836" y="355600"/>
                </a:lnTo>
                <a:lnTo>
                  <a:pt x="293731" y="350520"/>
                </a:lnTo>
                <a:lnTo>
                  <a:pt x="304558" y="332740"/>
                </a:lnTo>
                <a:lnTo>
                  <a:pt x="344957" y="332740"/>
                </a:lnTo>
                <a:lnTo>
                  <a:pt x="341591" y="327660"/>
                </a:lnTo>
                <a:lnTo>
                  <a:pt x="332949" y="321310"/>
                </a:lnTo>
                <a:lnTo>
                  <a:pt x="322841" y="316230"/>
                </a:lnTo>
                <a:lnTo>
                  <a:pt x="311708" y="313690"/>
                </a:lnTo>
                <a:lnTo>
                  <a:pt x="312991" y="308610"/>
                </a:lnTo>
                <a:lnTo>
                  <a:pt x="313994" y="304800"/>
                </a:lnTo>
                <a:lnTo>
                  <a:pt x="314756" y="299720"/>
                </a:lnTo>
                <a:lnTo>
                  <a:pt x="344944" y="299720"/>
                </a:lnTo>
                <a:lnTo>
                  <a:pt x="349364" y="294640"/>
                </a:lnTo>
                <a:lnTo>
                  <a:pt x="349364" y="284480"/>
                </a:lnTo>
                <a:lnTo>
                  <a:pt x="344906" y="279400"/>
                </a:lnTo>
                <a:lnTo>
                  <a:pt x="316636" y="279400"/>
                </a:lnTo>
                <a:lnTo>
                  <a:pt x="316725" y="271780"/>
                </a:lnTo>
                <a:lnTo>
                  <a:pt x="316522" y="267970"/>
                </a:lnTo>
                <a:lnTo>
                  <a:pt x="316242" y="265430"/>
                </a:lnTo>
                <a:lnTo>
                  <a:pt x="325962" y="261620"/>
                </a:lnTo>
                <a:lnTo>
                  <a:pt x="334745" y="257810"/>
                </a:lnTo>
                <a:lnTo>
                  <a:pt x="342287" y="250190"/>
                </a:lnTo>
                <a:lnTo>
                  <a:pt x="346285" y="245110"/>
                </a:lnTo>
                <a:lnTo>
                  <a:pt x="311950" y="245110"/>
                </a:lnTo>
                <a:lnTo>
                  <a:pt x="308890" y="238760"/>
                </a:lnTo>
                <a:lnTo>
                  <a:pt x="307932" y="237490"/>
                </a:lnTo>
                <a:close/>
              </a:path>
              <a:path w="614044" h="632460">
                <a:moveTo>
                  <a:pt x="466166" y="158750"/>
                </a:moveTo>
                <a:lnTo>
                  <a:pt x="366826" y="313690"/>
                </a:lnTo>
                <a:lnTo>
                  <a:pt x="363485" y="327660"/>
                </a:lnTo>
                <a:lnTo>
                  <a:pt x="364628" y="335280"/>
                </a:lnTo>
                <a:lnTo>
                  <a:pt x="367639" y="341630"/>
                </a:lnTo>
                <a:lnTo>
                  <a:pt x="372317" y="347980"/>
                </a:lnTo>
                <a:lnTo>
                  <a:pt x="378164" y="351790"/>
                </a:lnTo>
                <a:lnTo>
                  <a:pt x="384902" y="355600"/>
                </a:lnTo>
                <a:lnTo>
                  <a:pt x="547469" y="355600"/>
                </a:lnTo>
                <a:lnTo>
                  <a:pt x="554232" y="351790"/>
                </a:lnTo>
                <a:lnTo>
                  <a:pt x="560069" y="347980"/>
                </a:lnTo>
                <a:lnTo>
                  <a:pt x="564705" y="341630"/>
                </a:lnTo>
                <a:lnTo>
                  <a:pt x="567099" y="336550"/>
                </a:lnTo>
                <a:lnTo>
                  <a:pt x="387718" y="336550"/>
                </a:lnTo>
                <a:lnTo>
                  <a:pt x="385419" y="332740"/>
                </a:lnTo>
                <a:lnTo>
                  <a:pt x="383819" y="330200"/>
                </a:lnTo>
                <a:lnTo>
                  <a:pt x="382257" y="327660"/>
                </a:lnTo>
                <a:lnTo>
                  <a:pt x="384340" y="322580"/>
                </a:lnTo>
                <a:lnTo>
                  <a:pt x="458254" y="182880"/>
                </a:lnTo>
                <a:lnTo>
                  <a:pt x="460552" y="179070"/>
                </a:lnTo>
                <a:lnTo>
                  <a:pt x="464604" y="177800"/>
                </a:lnTo>
                <a:lnTo>
                  <a:pt x="493606" y="177800"/>
                </a:lnTo>
                <a:lnTo>
                  <a:pt x="491591" y="173990"/>
                </a:lnTo>
                <a:lnTo>
                  <a:pt x="487036" y="167640"/>
                </a:lnTo>
                <a:lnTo>
                  <a:pt x="481031" y="162560"/>
                </a:lnTo>
                <a:lnTo>
                  <a:pt x="473950" y="160020"/>
                </a:lnTo>
                <a:lnTo>
                  <a:pt x="466166" y="158750"/>
                </a:lnTo>
                <a:close/>
              </a:path>
              <a:path w="614044" h="632460">
                <a:moveTo>
                  <a:pt x="493606" y="177800"/>
                </a:moveTo>
                <a:lnTo>
                  <a:pt x="467855" y="177800"/>
                </a:lnTo>
                <a:lnTo>
                  <a:pt x="471792" y="179070"/>
                </a:lnTo>
                <a:lnTo>
                  <a:pt x="474078" y="182880"/>
                </a:lnTo>
                <a:lnTo>
                  <a:pt x="548004" y="322580"/>
                </a:lnTo>
                <a:lnTo>
                  <a:pt x="550163" y="327660"/>
                </a:lnTo>
                <a:lnTo>
                  <a:pt x="546950" y="332740"/>
                </a:lnTo>
                <a:lnTo>
                  <a:pt x="544588" y="336550"/>
                </a:lnTo>
                <a:lnTo>
                  <a:pt x="567099" y="336550"/>
                </a:lnTo>
                <a:lnTo>
                  <a:pt x="567698" y="335280"/>
                </a:lnTo>
                <a:lnTo>
                  <a:pt x="568834" y="327660"/>
                </a:lnTo>
                <a:lnTo>
                  <a:pt x="568096" y="321310"/>
                </a:lnTo>
                <a:lnTo>
                  <a:pt x="565467" y="313690"/>
                </a:lnTo>
                <a:lnTo>
                  <a:pt x="493606" y="177800"/>
                </a:lnTo>
                <a:close/>
              </a:path>
              <a:path w="614044" h="632460">
                <a:moveTo>
                  <a:pt x="471627" y="292100"/>
                </a:moveTo>
                <a:lnTo>
                  <a:pt x="460705" y="292100"/>
                </a:lnTo>
                <a:lnTo>
                  <a:pt x="456298" y="295910"/>
                </a:lnTo>
                <a:lnTo>
                  <a:pt x="456298" y="316230"/>
                </a:lnTo>
                <a:lnTo>
                  <a:pt x="460705" y="320040"/>
                </a:lnTo>
                <a:lnTo>
                  <a:pt x="471627" y="320040"/>
                </a:lnTo>
                <a:lnTo>
                  <a:pt x="476046" y="316230"/>
                </a:lnTo>
                <a:lnTo>
                  <a:pt x="476046" y="295910"/>
                </a:lnTo>
                <a:lnTo>
                  <a:pt x="471627" y="292100"/>
                </a:lnTo>
                <a:close/>
              </a:path>
              <a:path w="614044" h="632460">
                <a:moveTo>
                  <a:pt x="471627" y="201930"/>
                </a:moveTo>
                <a:lnTo>
                  <a:pt x="460705" y="201930"/>
                </a:lnTo>
                <a:lnTo>
                  <a:pt x="456298" y="207010"/>
                </a:lnTo>
                <a:lnTo>
                  <a:pt x="456298" y="279400"/>
                </a:lnTo>
                <a:lnTo>
                  <a:pt x="460705" y="283210"/>
                </a:lnTo>
                <a:lnTo>
                  <a:pt x="471627" y="283210"/>
                </a:lnTo>
                <a:lnTo>
                  <a:pt x="476046" y="279400"/>
                </a:lnTo>
                <a:lnTo>
                  <a:pt x="476046" y="207010"/>
                </a:lnTo>
                <a:lnTo>
                  <a:pt x="471627" y="201930"/>
                </a:lnTo>
                <a:close/>
              </a:path>
              <a:path w="614044" h="632460">
                <a:moveTo>
                  <a:pt x="294512" y="224790"/>
                </a:moveTo>
                <a:lnTo>
                  <a:pt x="200240" y="224790"/>
                </a:lnTo>
                <a:lnTo>
                  <a:pt x="194790" y="228600"/>
                </a:lnTo>
                <a:lnTo>
                  <a:pt x="190174" y="233680"/>
                </a:lnTo>
                <a:lnTo>
                  <a:pt x="186365" y="238760"/>
                </a:lnTo>
                <a:lnTo>
                  <a:pt x="183337" y="245110"/>
                </a:lnTo>
                <a:lnTo>
                  <a:pt x="206116" y="245110"/>
                </a:lnTo>
                <a:lnTo>
                  <a:pt x="210070" y="242570"/>
                </a:lnTo>
                <a:lnTo>
                  <a:pt x="215597" y="240030"/>
                </a:lnTo>
                <a:lnTo>
                  <a:pt x="222135" y="238760"/>
                </a:lnTo>
                <a:lnTo>
                  <a:pt x="229540" y="237490"/>
                </a:lnTo>
                <a:lnTo>
                  <a:pt x="307932" y="237490"/>
                </a:lnTo>
                <a:lnTo>
                  <a:pt x="305058" y="233680"/>
                </a:lnTo>
                <a:lnTo>
                  <a:pt x="300414" y="228600"/>
                </a:lnTo>
                <a:lnTo>
                  <a:pt x="294512" y="224790"/>
                </a:lnTo>
                <a:close/>
              </a:path>
              <a:path w="614044" h="632460">
                <a:moveTo>
                  <a:pt x="343827" y="218440"/>
                </a:moveTo>
                <a:lnTo>
                  <a:pt x="337756" y="219710"/>
                </a:lnTo>
                <a:lnTo>
                  <a:pt x="335191" y="224790"/>
                </a:lnTo>
                <a:lnTo>
                  <a:pt x="330860" y="232410"/>
                </a:lnTo>
                <a:lnTo>
                  <a:pt x="326885" y="240030"/>
                </a:lnTo>
                <a:lnTo>
                  <a:pt x="319849" y="243840"/>
                </a:lnTo>
                <a:lnTo>
                  <a:pt x="311950" y="245110"/>
                </a:lnTo>
                <a:lnTo>
                  <a:pt x="346285" y="245110"/>
                </a:lnTo>
                <a:lnTo>
                  <a:pt x="348284" y="242570"/>
                </a:lnTo>
                <a:lnTo>
                  <a:pt x="352539" y="233680"/>
                </a:lnTo>
                <a:lnTo>
                  <a:pt x="355104" y="229870"/>
                </a:lnTo>
                <a:lnTo>
                  <a:pt x="353415" y="223520"/>
                </a:lnTo>
                <a:lnTo>
                  <a:pt x="348564" y="220980"/>
                </a:lnTo>
                <a:lnTo>
                  <a:pt x="343827" y="218440"/>
                </a:lnTo>
                <a:close/>
              </a:path>
              <a:path w="614044" h="632460">
                <a:moveTo>
                  <a:pt x="226415" y="137160"/>
                </a:moveTo>
                <a:lnTo>
                  <a:pt x="215531" y="137160"/>
                </a:lnTo>
                <a:lnTo>
                  <a:pt x="211124" y="142240"/>
                </a:lnTo>
                <a:lnTo>
                  <a:pt x="211124" y="149860"/>
                </a:lnTo>
                <a:lnTo>
                  <a:pt x="211806" y="156210"/>
                </a:lnTo>
                <a:lnTo>
                  <a:pt x="213748" y="162560"/>
                </a:lnTo>
                <a:lnTo>
                  <a:pt x="216798" y="168910"/>
                </a:lnTo>
                <a:lnTo>
                  <a:pt x="220802" y="173990"/>
                </a:lnTo>
                <a:lnTo>
                  <a:pt x="211893" y="181610"/>
                </a:lnTo>
                <a:lnTo>
                  <a:pt x="205022" y="190500"/>
                </a:lnTo>
                <a:lnTo>
                  <a:pt x="200599" y="201930"/>
                </a:lnTo>
                <a:lnTo>
                  <a:pt x="199034" y="213360"/>
                </a:lnTo>
                <a:lnTo>
                  <a:pt x="199034" y="217170"/>
                </a:lnTo>
                <a:lnTo>
                  <a:pt x="200037" y="220980"/>
                </a:lnTo>
                <a:lnTo>
                  <a:pt x="201726" y="224790"/>
                </a:lnTo>
                <a:lnTo>
                  <a:pt x="293560" y="224790"/>
                </a:lnTo>
                <a:lnTo>
                  <a:pt x="295236" y="220980"/>
                </a:lnTo>
                <a:lnTo>
                  <a:pt x="296240" y="217170"/>
                </a:lnTo>
                <a:lnTo>
                  <a:pt x="296240" y="213360"/>
                </a:lnTo>
                <a:lnTo>
                  <a:pt x="294675" y="201930"/>
                </a:lnTo>
                <a:lnTo>
                  <a:pt x="290253" y="190500"/>
                </a:lnTo>
                <a:lnTo>
                  <a:pt x="283386" y="181610"/>
                </a:lnTo>
                <a:lnTo>
                  <a:pt x="274485" y="173990"/>
                </a:lnTo>
                <a:lnTo>
                  <a:pt x="278504" y="168910"/>
                </a:lnTo>
                <a:lnTo>
                  <a:pt x="279723" y="166370"/>
                </a:lnTo>
                <a:lnTo>
                  <a:pt x="238378" y="166370"/>
                </a:lnTo>
                <a:lnTo>
                  <a:pt x="230873" y="158750"/>
                </a:lnTo>
                <a:lnTo>
                  <a:pt x="230873" y="142240"/>
                </a:lnTo>
                <a:lnTo>
                  <a:pt x="226415" y="137160"/>
                </a:lnTo>
                <a:close/>
              </a:path>
              <a:path w="614044" h="632460">
                <a:moveTo>
                  <a:pt x="279704" y="137160"/>
                </a:moveTo>
                <a:lnTo>
                  <a:pt x="268858" y="137160"/>
                </a:lnTo>
                <a:lnTo>
                  <a:pt x="264401" y="142240"/>
                </a:lnTo>
                <a:lnTo>
                  <a:pt x="264401" y="158750"/>
                </a:lnTo>
                <a:lnTo>
                  <a:pt x="256895" y="166370"/>
                </a:lnTo>
                <a:lnTo>
                  <a:pt x="279723" y="166370"/>
                </a:lnTo>
                <a:lnTo>
                  <a:pt x="281552" y="162560"/>
                </a:lnTo>
                <a:lnTo>
                  <a:pt x="283486" y="156210"/>
                </a:lnTo>
                <a:lnTo>
                  <a:pt x="284162" y="149860"/>
                </a:lnTo>
                <a:lnTo>
                  <a:pt x="284162" y="142240"/>
                </a:lnTo>
                <a:lnTo>
                  <a:pt x="279704" y="137160"/>
                </a:lnTo>
                <a:close/>
              </a:path>
              <a:path w="614044" h="632460">
                <a:moveTo>
                  <a:pt x="241960" y="29210"/>
                </a:moveTo>
                <a:lnTo>
                  <a:pt x="172618" y="29210"/>
                </a:lnTo>
                <a:lnTo>
                  <a:pt x="183217" y="31750"/>
                </a:lnTo>
                <a:lnTo>
                  <a:pt x="191900" y="38100"/>
                </a:lnTo>
                <a:lnTo>
                  <a:pt x="197767" y="46990"/>
                </a:lnTo>
                <a:lnTo>
                  <a:pt x="199923" y="57150"/>
                </a:lnTo>
                <a:lnTo>
                  <a:pt x="197767" y="67310"/>
                </a:lnTo>
                <a:lnTo>
                  <a:pt x="191900" y="76200"/>
                </a:lnTo>
                <a:lnTo>
                  <a:pt x="183217" y="82550"/>
                </a:lnTo>
                <a:lnTo>
                  <a:pt x="172618" y="83820"/>
                </a:lnTo>
                <a:lnTo>
                  <a:pt x="241960" y="83820"/>
                </a:lnTo>
                <a:lnTo>
                  <a:pt x="231287" y="82550"/>
                </a:lnTo>
                <a:lnTo>
                  <a:pt x="222567" y="76200"/>
                </a:lnTo>
                <a:lnTo>
                  <a:pt x="216685" y="67310"/>
                </a:lnTo>
                <a:lnTo>
                  <a:pt x="214528" y="57150"/>
                </a:lnTo>
                <a:lnTo>
                  <a:pt x="216685" y="46990"/>
                </a:lnTo>
                <a:lnTo>
                  <a:pt x="222567" y="38100"/>
                </a:lnTo>
                <a:lnTo>
                  <a:pt x="231287" y="31750"/>
                </a:lnTo>
                <a:lnTo>
                  <a:pt x="241960" y="29210"/>
                </a:lnTo>
                <a:close/>
              </a:path>
              <a:path w="614044" h="632460">
                <a:moveTo>
                  <a:pt x="316877" y="29210"/>
                </a:moveTo>
                <a:lnTo>
                  <a:pt x="241960" y="29210"/>
                </a:lnTo>
                <a:lnTo>
                  <a:pt x="252575" y="31750"/>
                </a:lnTo>
                <a:lnTo>
                  <a:pt x="261256" y="38100"/>
                </a:lnTo>
                <a:lnTo>
                  <a:pt x="267115" y="46990"/>
                </a:lnTo>
                <a:lnTo>
                  <a:pt x="269265" y="57150"/>
                </a:lnTo>
                <a:lnTo>
                  <a:pt x="267109" y="67310"/>
                </a:lnTo>
                <a:lnTo>
                  <a:pt x="261242" y="76200"/>
                </a:lnTo>
                <a:lnTo>
                  <a:pt x="252559" y="82550"/>
                </a:lnTo>
                <a:lnTo>
                  <a:pt x="241960" y="83820"/>
                </a:lnTo>
                <a:lnTo>
                  <a:pt x="316877" y="83820"/>
                </a:lnTo>
                <a:lnTo>
                  <a:pt x="306206" y="82550"/>
                </a:lnTo>
                <a:lnTo>
                  <a:pt x="297491" y="76200"/>
                </a:lnTo>
                <a:lnTo>
                  <a:pt x="291613" y="67310"/>
                </a:lnTo>
                <a:lnTo>
                  <a:pt x="289458" y="57150"/>
                </a:lnTo>
                <a:lnTo>
                  <a:pt x="291613" y="46990"/>
                </a:lnTo>
                <a:lnTo>
                  <a:pt x="297491" y="38100"/>
                </a:lnTo>
                <a:lnTo>
                  <a:pt x="306206" y="31750"/>
                </a:lnTo>
                <a:lnTo>
                  <a:pt x="316877" y="29210"/>
                </a:lnTo>
                <a:close/>
              </a:path>
              <a:path w="614044" h="632460">
                <a:moveTo>
                  <a:pt x="606508" y="29210"/>
                </a:moveTo>
                <a:lnTo>
                  <a:pt x="545033" y="29210"/>
                </a:lnTo>
                <a:lnTo>
                  <a:pt x="555648" y="31750"/>
                </a:lnTo>
                <a:lnTo>
                  <a:pt x="564329" y="38100"/>
                </a:lnTo>
                <a:lnTo>
                  <a:pt x="570188" y="46990"/>
                </a:lnTo>
                <a:lnTo>
                  <a:pt x="572338" y="57150"/>
                </a:lnTo>
                <a:lnTo>
                  <a:pt x="570182" y="67310"/>
                </a:lnTo>
                <a:lnTo>
                  <a:pt x="564314" y="76200"/>
                </a:lnTo>
                <a:lnTo>
                  <a:pt x="555632" y="82550"/>
                </a:lnTo>
                <a:lnTo>
                  <a:pt x="545033" y="83820"/>
                </a:lnTo>
                <a:lnTo>
                  <a:pt x="613486" y="83820"/>
                </a:lnTo>
                <a:lnTo>
                  <a:pt x="613486" y="54610"/>
                </a:lnTo>
                <a:lnTo>
                  <a:pt x="609195" y="33020"/>
                </a:lnTo>
                <a:lnTo>
                  <a:pt x="606508" y="29210"/>
                </a:lnTo>
                <a:close/>
              </a:path>
            </a:pathLst>
          </a:custGeom>
          <a:solidFill>
            <a:srgbClr val="5F8262"/>
          </a:solidFill>
        </p:spPr>
        <p:txBody>
          <a:bodyPr wrap="square" lIns="0" tIns="0" rIns="0" bIns="0" rtlCol="0"/>
          <a:lstStyle/>
          <a:p>
            <a:endParaRPr/>
          </a:p>
        </p:txBody>
      </p:sp>
      <p:sp>
        <p:nvSpPr>
          <p:cNvPr id="8" name="object 8"/>
          <p:cNvSpPr/>
          <p:nvPr/>
        </p:nvSpPr>
        <p:spPr>
          <a:xfrm>
            <a:off x="6987783" y="4866478"/>
            <a:ext cx="506730" cy="633730"/>
          </a:xfrm>
          <a:custGeom>
            <a:avLst/>
            <a:gdLst/>
            <a:ahLst/>
            <a:cxnLst/>
            <a:rect l="l" t="t" r="r" b="b"/>
            <a:pathLst>
              <a:path w="506729" h="633729">
                <a:moveTo>
                  <a:pt x="411619" y="0"/>
                </a:moveTo>
                <a:lnTo>
                  <a:pt x="94983" y="0"/>
                </a:lnTo>
                <a:lnTo>
                  <a:pt x="58051" y="7477"/>
                </a:lnTo>
                <a:lnTo>
                  <a:pt x="27855" y="27855"/>
                </a:lnTo>
                <a:lnTo>
                  <a:pt x="7477" y="58051"/>
                </a:lnTo>
                <a:lnTo>
                  <a:pt x="0" y="94983"/>
                </a:lnTo>
                <a:lnTo>
                  <a:pt x="0" y="538276"/>
                </a:lnTo>
                <a:lnTo>
                  <a:pt x="7477" y="575208"/>
                </a:lnTo>
                <a:lnTo>
                  <a:pt x="27855" y="605404"/>
                </a:lnTo>
                <a:lnTo>
                  <a:pt x="58051" y="625782"/>
                </a:lnTo>
                <a:lnTo>
                  <a:pt x="94983" y="633260"/>
                </a:lnTo>
                <a:lnTo>
                  <a:pt x="411619" y="633260"/>
                </a:lnTo>
                <a:lnTo>
                  <a:pt x="448556" y="625782"/>
                </a:lnTo>
                <a:lnTo>
                  <a:pt x="478751" y="605404"/>
                </a:lnTo>
                <a:lnTo>
                  <a:pt x="499127" y="575208"/>
                </a:lnTo>
                <a:lnTo>
                  <a:pt x="506602" y="538276"/>
                </a:lnTo>
                <a:lnTo>
                  <a:pt x="506602" y="517436"/>
                </a:lnTo>
                <a:lnTo>
                  <a:pt x="330784" y="517436"/>
                </a:lnTo>
                <a:lnTo>
                  <a:pt x="309131" y="506615"/>
                </a:lnTo>
                <a:lnTo>
                  <a:pt x="94983" y="506615"/>
                </a:lnTo>
                <a:lnTo>
                  <a:pt x="94983" y="443293"/>
                </a:lnTo>
                <a:lnTo>
                  <a:pt x="253291" y="443293"/>
                </a:lnTo>
                <a:lnTo>
                  <a:pt x="267461" y="414972"/>
                </a:lnTo>
                <a:lnTo>
                  <a:pt x="311208" y="414972"/>
                </a:lnTo>
                <a:lnTo>
                  <a:pt x="312884" y="411619"/>
                </a:lnTo>
                <a:lnTo>
                  <a:pt x="94983" y="411619"/>
                </a:lnTo>
                <a:lnTo>
                  <a:pt x="94983" y="348297"/>
                </a:lnTo>
                <a:lnTo>
                  <a:pt x="344550" y="348297"/>
                </a:lnTo>
                <a:lnTo>
                  <a:pt x="351612" y="334175"/>
                </a:lnTo>
                <a:lnTo>
                  <a:pt x="506602" y="334175"/>
                </a:lnTo>
                <a:lnTo>
                  <a:pt x="506602" y="284962"/>
                </a:lnTo>
                <a:lnTo>
                  <a:pt x="221640" y="284962"/>
                </a:lnTo>
                <a:lnTo>
                  <a:pt x="221640" y="221640"/>
                </a:lnTo>
                <a:lnTo>
                  <a:pt x="158318" y="221640"/>
                </a:lnTo>
                <a:lnTo>
                  <a:pt x="158318" y="158318"/>
                </a:lnTo>
                <a:lnTo>
                  <a:pt x="221640" y="158318"/>
                </a:lnTo>
                <a:lnTo>
                  <a:pt x="221640" y="94983"/>
                </a:lnTo>
                <a:lnTo>
                  <a:pt x="506602" y="94983"/>
                </a:lnTo>
                <a:lnTo>
                  <a:pt x="499127" y="58051"/>
                </a:lnTo>
                <a:lnTo>
                  <a:pt x="478751" y="27855"/>
                </a:lnTo>
                <a:lnTo>
                  <a:pt x="448556" y="7477"/>
                </a:lnTo>
                <a:lnTo>
                  <a:pt x="411619" y="0"/>
                </a:lnTo>
                <a:close/>
              </a:path>
              <a:path w="506729" h="633729">
                <a:moveTo>
                  <a:pt x="506602" y="334175"/>
                </a:moveTo>
                <a:lnTo>
                  <a:pt x="351612" y="334175"/>
                </a:lnTo>
                <a:lnTo>
                  <a:pt x="408266" y="362508"/>
                </a:lnTo>
                <a:lnTo>
                  <a:pt x="330784" y="517436"/>
                </a:lnTo>
                <a:lnTo>
                  <a:pt x="506602" y="517436"/>
                </a:lnTo>
                <a:lnTo>
                  <a:pt x="506602" y="334175"/>
                </a:lnTo>
                <a:close/>
              </a:path>
              <a:path w="506729" h="633729">
                <a:moveTo>
                  <a:pt x="253291" y="443293"/>
                </a:moveTo>
                <a:lnTo>
                  <a:pt x="221640" y="443293"/>
                </a:lnTo>
                <a:lnTo>
                  <a:pt x="221640" y="506615"/>
                </a:lnTo>
                <a:lnTo>
                  <a:pt x="309131" y="506615"/>
                </a:lnTo>
                <a:lnTo>
                  <a:pt x="239115" y="471627"/>
                </a:lnTo>
                <a:lnTo>
                  <a:pt x="253291" y="443293"/>
                </a:lnTo>
                <a:close/>
              </a:path>
              <a:path w="506729" h="633729">
                <a:moveTo>
                  <a:pt x="311208" y="414972"/>
                </a:moveTo>
                <a:lnTo>
                  <a:pt x="267461" y="414972"/>
                </a:lnTo>
                <a:lnTo>
                  <a:pt x="302450" y="432485"/>
                </a:lnTo>
                <a:lnTo>
                  <a:pt x="311208" y="414972"/>
                </a:lnTo>
                <a:close/>
              </a:path>
              <a:path w="506729" h="633729">
                <a:moveTo>
                  <a:pt x="344550" y="348297"/>
                </a:moveTo>
                <a:lnTo>
                  <a:pt x="221640" y="348297"/>
                </a:lnTo>
                <a:lnTo>
                  <a:pt x="221640" y="411619"/>
                </a:lnTo>
                <a:lnTo>
                  <a:pt x="312884" y="411619"/>
                </a:lnTo>
                <a:lnTo>
                  <a:pt x="344550" y="348297"/>
                </a:lnTo>
                <a:close/>
              </a:path>
              <a:path w="506729" h="633729">
                <a:moveTo>
                  <a:pt x="506602" y="94983"/>
                </a:moveTo>
                <a:lnTo>
                  <a:pt x="284962" y="94983"/>
                </a:lnTo>
                <a:lnTo>
                  <a:pt x="284962" y="158318"/>
                </a:lnTo>
                <a:lnTo>
                  <a:pt x="348297" y="158318"/>
                </a:lnTo>
                <a:lnTo>
                  <a:pt x="348297" y="221640"/>
                </a:lnTo>
                <a:lnTo>
                  <a:pt x="284962" y="221640"/>
                </a:lnTo>
                <a:lnTo>
                  <a:pt x="284962" y="284962"/>
                </a:lnTo>
                <a:lnTo>
                  <a:pt x="506602" y="284962"/>
                </a:lnTo>
                <a:lnTo>
                  <a:pt x="506602" y="94983"/>
                </a:lnTo>
                <a:close/>
              </a:path>
            </a:pathLst>
          </a:custGeom>
          <a:solidFill>
            <a:srgbClr val="5F8262"/>
          </a:solidFill>
        </p:spPr>
        <p:txBody>
          <a:bodyPr wrap="square" lIns="0" tIns="0" rIns="0" bIns="0" rtlCol="0"/>
          <a:lstStyle/>
          <a:p>
            <a:endParaRPr/>
          </a:p>
        </p:txBody>
      </p:sp>
      <p:sp>
        <p:nvSpPr>
          <p:cNvPr id="9" name="object 9"/>
          <p:cNvSpPr/>
          <p:nvPr/>
        </p:nvSpPr>
        <p:spPr>
          <a:xfrm>
            <a:off x="1371629" y="4866475"/>
            <a:ext cx="633730" cy="633730"/>
          </a:xfrm>
          <a:custGeom>
            <a:avLst/>
            <a:gdLst/>
            <a:ahLst/>
            <a:cxnLst/>
            <a:rect l="l" t="t" r="r" b="b"/>
            <a:pathLst>
              <a:path w="633730" h="633729">
                <a:moveTo>
                  <a:pt x="527342" y="388632"/>
                </a:moveTo>
                <a:lnTo>
                  <a:pt x="103606" y="388632"/>
                </a:lnTo>
                <a:lnTo>
                  <a:pt x="88707" y="391646"/>
                </a:lnTo>
                <a:lnTo>
                  <a:pt x="76507" y="399869"/>
                </a:lnTo>
                <a:lnTo>
                  <a:pt x="68266" y="412067"/>
                </a:lnTo>
                <a:lnTo>
                  <a:pt x="65239" y="427012"/>
                </a:lnTo>
                <a:lnTo>
                  <a:pt x="65239" y="484187"/>
                </a:lnTo>
                <a:lnTo>
                  <a:pt x="41865" y="491657"/>
                </a:lnTo>
                <a:lnTo>
                  <a:pt x="5308" y="530885"/>
                </a:lnTo>
                <a:lnTo>
                  <a:pt x="0" y="558342"/>
                </a:lnTo>
                <a:lnTo>
                  <a:pt x="5876" y="587450"/>
                </a:lnTo>
                <a:lnTo>
                  <a:pt x="21907" y="611270"/>
                </a:lnTo>
                <a:lnTo>
                  <a:pt x="45691" y="627354"/>
                </a:lnTo>
                <a:lnTo>
                  <a:pt x="74828" y="633260"/>
                </a:lnTo>
                <a:lnTo>
                  <a:pt x="103938" y="627354"/>
                </a:lnTo>
                <a:lnTo>
                  <a:pt x="127762" y="611270"/>
                </a:lnTo>
                <a:lnTo>
                  <a:pt x="143851" y="587450"/>
                </a:lnTo>
                <a:lnTo>
                  <a:pt x="149758" y="558342"/>
                </a:lnTo>
                <a:lnTo>
                  <a:pt x="144799" y="531849"/>
                </a:lnTo>
                <a:lnTo>
                  <a:pt x="144715" y="531398"/>
                </a:lnTo>
                <a:lnTo>
                  <a:pt x="130865" y="508811"/>
                </a:lnTo>
                <a:lnTo>
                  <a:pt x="110126" y="492450"/>
                </a:lnTo>
                <a:lnTo>
                  <a:pt x="84416" y="484187"/>
                </a:lnTo>
                <a:lnTo>
                  <a:pt x="84416" y="427012"/>
                </a:lnTo>
                <a:lnTo>
                  <a:pt x="85931" y="419561"/>
                </a:lnTo>
                <a:lnTo>
                  <a:pt x="90054" y="413459"/>
                </a:lnTo>
                <a:lnTo>
                  <a:pt x="96155" y="409336"/>
                </a:lnTo>
                <a:lnTo>
                  <a:pt x="103606" y="407822"/>
                </a:lnTo>
                <a:lnTo>
                  <a:pt x="559823" y="407822"/>
                </a:lnTo>
                <a:lnTo>
                  <a:pt x="554447" y="399869"/>
                </a:lnTo>
                <a:lnTo>
                  <a:pt x="542243" y="391646"/>
                </a:lnTo>
                <a:lnTo>
                  <a:pt x="527342" y="388632"/>
                </a:lnTo>
                <a:close/>
              </a:path>
              <a:path w="633730" h="633729">
                <a:moveTo>
                  <a:pt x="325018" y="407822"/>
                </a:moveTo>
                <a:lnTo>
                  <a:pt x="305841" y="407822"/>
                </a:lnTo>
                <a:lnTo>
                  <a:pt x="305841" y="484187"/>
                </a:lnTo>
                <a:lnTo>
                  <a:pt x="280094" y="492450"/>
                </a:lnTo>
                <a:lnTo>
                  <a:pt x="260436" y="507988"/>
                </a:lnTo>
                <a:lnTo>
                  <a:pt x="259418" y="508811"/>
                </a:lnTo>
                <a:lnTo>
                  <a:pt x="245624" y="531398"/>
                </a:lnTo>
                <a:lnTo>
                  <a:pt x="240601" y="558342"/>
                </a:lnTo>
                <a:lnTo>
                  <a:pt x="246494" y="587450"/>
                </a:lnTo>
                <a:lnTo>
                  <a:pt x="262559" y="611270"/>
                </a:lnTo>
                <a:lnTo>
                  <a:pt x="286378" y="627354"/>
                </a:lnTo>
                <a:lnTo>
                  <a:pt x="315531" y="633260"/>
                </a:lnTo>
                <a:lnTo>
                  <a:pt x="344623" y="627354"/>
                </a:lnTo>
                <a:lnTo>
                  <a:pt x="368407" y="611270"/>
                </a:lnTo>
                <a:lnTo>
                  <a:pt x="384457" y="587450"/>
                </a:lnTo>
                <a:lnTo>
                  <a:pt x="390347" y="558342"/>
                </a:lnTo>
                <a:lnTo>
                  <a:pt x="385392" y="531849"/>
                </a:lnTo>
                <a:lnTo>
                  <a:pt x="350773" y="492450"/>
                </a:lnTo>
                <a:lnTo>
                  <a:pt x="325018" y="484187"/>
                </a:lnTo>
                <a:lnTo>
                  <a:pt x="325018" y="407822"/>
                </a:lnTo>
                <a:close/>
              </a:path>
              <a:path w="633730" h="633729">
                <a:moveTo>
                  <a:pt x="559823" y="407822"/>
                </a:moveTo>
                <a:lnTo>
                  <a:pt x="527342" y="407822"/>
                </a:lnTo>
                <a:lnTo>
                  <a:pt x="534792" y="409336"/>
                </a:lnTo>
                <a:lnTo>
                  <a:pt x="540894" y="413459"/>
                </a:lnTo>
                <a:lnTo>
                  <a:pt x="545017" y="419561"/>
                </a:lnTo>
                <a:lnTo>
                  <a:pt x="546531" y="427012"/>
                </a:lnTo>
                <a:lnTo>
                  <a:pt x="546531" y="484466"/>
                </a:lnTo>
                <a:lnTo>
                  <a:pt x="521576" y="493150"/>
                </a:lnTo>
                <a:lnTo>
                  <a:pt x="501556" y="509531"/>
                </a:lnTo>
                <a:lnTo>
                  <a:pt x="488244" y="531849"/>
                </a:lnTo>
                <a:lnTo>
                  <a:pt x="483412" y="558342"/>
                </a:lnTo>
                <a:lnTo>
                  <a:pt x="489289" y="587450"/>
                </a:lnTo>
                <a:lnTo>
                  <a:pt x="505320" y="611270"/>
                </a:lnTo>
                <a:lnTo>
                  <a:pt x="529104" y="627354"/>
                </a:lnTo>
                <a:lnTo>
                  <a:pt x="558241" y="633260"/>
                </a:lnTo>
                <a:lnTo>
                  <a:pt x="587349" y="627354"/>
                </a:lnTo>
                <a:lnTo>
                  <a:pt x="611168" y="611270"/>
                </a:lnTo>
                <a:lnTo>
                  <a:pt x="627253" y="587450"/>
                </a:lnTo>
                <a:lnTo>
                  <a:pt x="633158" y="558342"/>
                </a:lnTo>
                <a:lnTo>
                  <a:pt x="628119" y="531849"/>
                </a:lnTo>
                <a:lnTo>
                  <a:pt x="592203" y="491657"/>
                </a:lnTo>
                <a:lnTo>
                  <a:pt x="565721" y="483895"/>
                </a:lnTo>
                <a:lnTo>
                  <a:pt x="565721" y="427012"/>
                </a:lnTo>
                <a:lnTo>
                  <a:pt x="562692" y="412067"/>
                </a:lnTo>
                <a:lnTo>
                  <a:pt x="559823" y="407822"/>
                </a:lnTo>
                <a:close/>
              </a:path>
              <a:path w="633730" h="633729">
                <a:moveTo>
                  <a:pt x="316484" y="0"/>
                </a:moveTo>
                <a:lnTo>
                  <a:pt x="247726" y="10288"/>
                </a:lnTo>
                <a:lnTo>
                  <a:pt x="186061" y="36132"/>
                </a:lnTo>
                <a:lnTo>
                  <a:pt x="133707" y="69997"/>
                </a:lnTo>
                <a:lnTo>
                  <a:pt x="92881" y="104350"/>
                </a:lnTo>
                <a:lnTo>
                  <a:pt x="65801" y="131658"/>
                </a:lnTo>
                <a:lnTo>
                  <a:pt x="51803" y="147929"/>
                </a:lnTo>
                <a:lnTo>
                  <a:pt x="51803" y="153022"/>
                </a:lnTo>
                <a:lnTo>
                  <a:pt x="91143" y="194940"/>
                </a:lnTo>
                <a:lnTo>
                  <a:pt x="130181" y="228233"/>
                </a:lnTo>
                <a:lnTo>
                  <a:pt x="180348" y="261590"/>
                </a:lnTo>
                <a:lnTo>
                  <a:pt x="239587" y="288030"/>
                </a:lnTo>
                <a:lnTo>
                  <a:pt x="306311" y="300659"/>
                </a:lnTo>
                <a:lnTo>
                  <a:pt x="305841" y="300659"/>
                </a:lnTo>
                <a:lnTo>
                  <a:pt x="305841" y="388632"/>
                </a:lnTo>
                <a:lnTo>
                  <a:pt x="325018" y="388632"/>
                </a:lnTo>
                <a:lnTo>
                  <a:pt x="325018" y="300659"/>
                </a:lnTo>
                <a:lnTo>
                  <a:pt x="391794" y="288519"/>
                </a:lnTo>
                <a:lnTo>
                  <a:pt x="451530" y="262189"/>
                </a:lnTo>
                <a:lnTo>
                  <a:pt x="466036" y="252602"/>
                </a:lnTo>
                <a:lnTo>
                  <a:pt x="316484" y="252602"/>
                </a:lnTo>
                <a:lnTo>
                  <a:pt x="276779" y="244571"/>
                </a:lnTo>
                <a:lnTo>
                  <a:pt x="244332" y="222678"/>
                </a:lnTo>
                <a:lnTo>
                  <a:pt x="222443" y="190227"/>
                </a:lnTo>
                <a:lnTo>
                  <a:pt x="214414" y="150520"/>
                </a:lnTo>
                <a:lnTo>
                  <a:pt x="222443" y="110799"/>
                </a:lnTo>
                <a:lnTo>
                  <a:pt x="244332" y="78317"/>
                </a:lnTo>
                <a:lnTo>
                  <a:pt x="276779" y="56394"/>
                </a:lnTo>
                <a:lnTo>
                  <a:pt x="316484" y="48348"/>
                </a:lnTo>
                <a:lnTo>
                  <a:pt x="465866" y="48348"/>
                </a:lnTo>
                <a:lnTo>
                  <a:pt x="446975" y="36132"/>
                </a:lnTo>
                <a:lnTo>
                  <a:pt x="385283" y="10288"/>
                </a:lnTo>
                <a:lnTo>
                  <a:pt x="316484" y="0"/>
                </a:lnTo>
                <a:close/>
              </a:path>
              <a:path w="633730" h="633729">
                <a:moveTo>
                  <a:pt x="465866" y="48348"/>
                </a:moveTo>
                <a:lnTo>
                  <a:pt x="316484" y="48348"/>
                </a:lnTo>
                <a:lnTo>
                  <a:pt x="356204" y="56394"/>
                </a:lnTo>
                <a:lnTo>
                  <a:pt x="388686" y="78317"/>
                </a:lnTo>
                <a:lnTo>
                  <a:pt x="410610" y="110799"/>
                </a:lnTo>
                <a:lnTo>
                  <a:pt x="418655" y="150520"/>
                </a:lnTo>
                <a:lnTo>
                  <a:pt x="410610" y="190227"/>
                </a:lnTo>
                <a:lnTo>
                  <a:pt x="388686" y="222678"/>
                </a:lnTo>
                <a:lnTo>
                  <a:pt x="356204" y="244571"/>
                </a:lnTo>
                <a:lnTo>
                  <a:pt x="316484" y="252602"/>
                </a:lnTo>
                <a:lnTo>
                  <a:pt x="466036" y="252602"/>
                </a:lnTo>
                <a:lnTo>
                  <a:pt x="502140" y="228744"/>
                </a:lnTo>
                <a:lnTo>
                  <a:pt x="541542" y="195260"/>
                </a:lnTo>
                <a:lnTo>
                  <a:pt x="578383" y="156476"/>
                </a:lnTo>
                <a:lnTo>
                  <a:pt x="581266" y="153022"/>
                </a:lnTo>
                <a:lnTo>
                  <a:pt x="581266" y="147929"/>
                </a:lnTo>
                <a:lnTo>
                  <a:pt x="578383" y="144386"/>
                </a:lnTo>
                <a:lnTo>
                  <a:pt x="567263" y="131658"/>
                </a:lnTo>
                <a:lnTo>
                  <a:pt x="540178" y="104350"/>
                </a:lnTo>
                <a:lnTo>
                  <a:pt x="499344" y="69997"/>
                </a:lnTo>
                <a:lnTo>
                  <a:pt x="465866" y="48348"/>
                </a:lnTo>
                <a:close/>
              </a:path>
              <a:path w="633730" h="633729">
                <a:moveTo>
                  <a:pt x="316484" y="96126"/>
                </a:moveTo>
                <a:lnTo>
                  <a:pt x="278112" y="112053"/>
                </a:lnTo>
                <a:lnTo>
                  <a:pt x="262697" y="147929"/>
                </a:lnTo>
                <a:lnTo>
                  <a:pt x="262209" y="150520"/>
                </a:lnTo>
                <a:lnTo>
                  <a:pt x="266465" y="171580"/>
                </a:lnTo>
                <a:lnTo>
                  <a:pt x="278112" y="188836"/>
                </a:lnTo>
                <a:lnTo>
                  <a:pt x="295372" y="200462"/>
                </a:lnTo>
                <a:lnTo>
                  <a:pt x="316484" y="204723"/>
                </a:lnTo>
                <a:lnTo>
                  <a:pt x="337638" y="200462"/>
                </a:lnTo>
                <a:lnTo>
                  <a:pt x="354893" y="188836"/>
                </a:lnTo>
                <a:lnTo>
                  <a:pt x="366517" y="171580"/>
                </a:lnTo>
                <a:lnTo>
                  <a:pt x="370758" y="150520"/>
                </a:lnTo>
                <a:lnTo>
                  <a:pt x="370776" y="147167"/>
                </a:lnTo>
                <a:lnTo>
                  <a:pt x="370538" y="144386"/>
                </a:lnTo>
                <a:lnTo>
                  <a:pt x="370497" y="143903"/>
                </a:lnTo>
                <a:lnTo>
                  <a:pt x="370371" y="143141"/>
                </a:lnTo>
                <a:lnTo>
                  <a:pt x="338543" y="143141"/>
                </a:lnTo>
                <a:lnTo>
                  <a:pt x="334429" y="139103"/>
                </a:lnTo>
                <a:lnTo>
                  <a:pt x="334429" y="129031"/>
                </a:lnTo>
                <a:lnTo>
                  <a:pt x="338543" y="124904"/>
                </a:lnTo>
                <a:lnTo>
                  <a:pt x="348145" y="124904"/>
                </a:lnTo>
                <a:lnTo>
                  <a:pt x="351790" y="122415"/>
                </a:lnTo>
                <a:lnTo>
                  <a:pt x="353136" y="118478"/>
                </a:lnTo>
                <a:lnTo>
                  <a:pt x="354482" y="114642"/>
                </a:lnTo>
                <a:lnTo>
                  <a:pt x="353336" y="110799"/>
                </a:lnTo>
                <a:lnTo>
                  <a:pt x="325532" y="96903"/>
                </a:lnTo>
                <a:lnTo>
                  <a:pt x="316484" y="96126"/>
                </a:lnTo>
                <a:close/>
              </a:path>
              <a:path w="633730" h="633729">
                <a:moveTo>
                  <a:pt x="357543" y="132105"/>
                </a:moveTo>
                <a:lnTo>
                  <a:pt x="353517" y="134315"/>
                </a:lnTo>
                <a:lnTo>
                  <a:pt x="351790" y="138048"/>
                </a:lnTo>
                <a:lnTo>
                  <a:pt x="350253" y="141223"/>
                </a:lnTo>
                <a:lnTo>
                  <a:pt x="347179" y="143141"/>
                </a:lnTo>
                <a:lnTo>
                  <a:pt x="370371" y="143141"/>
                </a:lnTo>
                <a:lnTo>
                  <a:pt x="369925" y="140449"/>
                </a:lnTo>
                <a:lnTo>
                  <a:pt x="369150" y="136321"/>
                </a:lnTo>
                <a:lnTo>
                  <a:pt x="365887" y="133159"/>
                </a:lnTo>
                <a:lnTo>
                  <a:pt x="361759" y="132587"/>
                </a:lnTo>
                <a:lnTo>
                  <a:pt x="357543" y="132105"/>
                </a:lnTo>
                <a:close/>
              </a:path>
            </a:pathLst>
          </a:custGeom>
          <a:solidFill>
            <a:srgbClr val="5F8262"/>
          </a:solidFill>
        </p:spPr>
        <p:txBody>
          <a:bodyPr wrap="square" lIns="0" tIns="0" rIns="0" bIns="0" rtlCol="0"/>
          <a:lstStyle/>
          <a:p>
            <a:endParaRPr/>
          </a:p>
        </p:txBody>
      </p:sp>
      <p:sp>
        <p:nvSpPr>
          <p:cNvPr id="10" name="object 10"/>
          <p:cNvSpPr txBox="1"/>
          <p:nvPr/>
        </p:nvSpPr>
        <p:spPr>
          <a:xfrm>
            <a:off x="12591181" y="5824384"/>
            <a:ext cx="3776345" cy="1778000"/>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37403A"/>
                </a:solidFill>
                <a:latin typeface="Gill Sans MT"/>
                <a:cs typeface="Gill Sans MT"/>
              </a:rPr>
              <a:t>TruncatedSVD</a:t>
            </a:r>
            <a:r>
              <a:rPr sz="3000" spc="250" dirty="0">
                <a:solidFill>
                  <a:srgbClr val="37403A"/>
                </a:solidFill>
                <a:latin typeface="Gill Sans MT"/>
                <a:cs typeface="Gill Sans MT"/>
              </a:rPr>
              <a:t> </a:t>
            </a:r>
            <a:r>
              <a:rPr sz="3000" spc="100" dirty="0">
                <a:solidFill>
                  <a:srgbClr val="37403A"/>
                </a:solidFill>
                <a:latin typeface="Gill Sans MT"/>
                <a:cs typeface="Gill Sans MT"/>
              </a:rPr>
              <a:t>Model</a:t>
            </a:r>
            <a:endParaRPr sz="3000">
              <a:latin typeface="Gill Sans MT"/>
              <a:cs typeface="Gill Sans MT"/>
            </a:endParaRPr>
          </a:p>
          <a:p>
            <a:pPr marL="12700">
              <a:lnSpc>
                <a:spcPct val="100000"/>
              </a:lnSpc>
            </a:pPr>
            <a:r>
              <a:rPr sz="3000" spc="130" dirty="0">
                <a:solidFill>
                  <a:srgbClr val="37403A"/>
                </a:solidFill>
                <a:latin typeface="Gill Sans MT"/>
                <a:cs typeface="Gill Sans MT"/>
              </a:rPr>
              <a:t>Steps</a:t>
            </a:r>
            <a:endParaRPr sz="3000">
              <a:latin typeface="Gill Sans MT"/>
              <a:cs typeface="Gill Sans MT"/>
            </a:endParaRPr>
          </a:p>
          <a:p>
            <a:pPr marL="228600" marR="5080" indent="-215900">
              <a:lnSpc>
                <a:spcPct val="100000"/>
              </a:lnSpc>
              <a:spcBef>
                <a:spcPts val="1800"/>
              </a:spcBef>
              <a:buFont typeface="Garamond"/>
              <a:buChar char="•"/>
              <a:tabLst>
                <a:tab pos="228600" algn="l"/>
              </a:tabLst>
            </a:pPr>
            <a:r>
              <a:rPr sz="2000" dirty="0">
                <a:solidFill>
                  <a:srgbClr val="37403A"/>
                </a:solidFill>
                <a:latin typeface="Gill Sans MT"/>
                <a:cs typeface="Gill Sans MT"/>
              </a:rPr>
              <a:t>Fit</a:t>
            </a:r>
            <a:r>
              <a:rPr sz="2000" spc="65" dirty="0">
                <a:solidFill>
                  <a:srgbClr val="37403A"/>
                </a:solidFill>
                <a:latin typeface="Gill Sans MT"/>
                <a:cs typeface="Gill Sans MT"/>
              </a:rPr>
              <a:t> </a:t>
            </a:r>
            <a:r>
              <a:rPr sz="2000" dirty="0">
                <a:solidFill>
                  <a:srgbClr val="37403A"/>
                </a:solidFill>
                <a:latin typeface="Gill Sans MT"/>
                <a:cs typeface="Gill Sans MT"/>
              </a:rPr>
              <a:t>SVD,</a:t>
            </a:r>
            <a:r>
              <a:rPr sz="2000" spc="65" dirty="0">
                <a:solidFill>
                  <a:srgbClr val="37403A"/>
                </a:solidFill>
                <a:latin typeface="Gill Sans MT"/>
                <a:cs typeface="Gill Sans MT"/>
              </a:rPr>
              <a:t> </a:t>
            </a:r>
            <a:r>
              <a:rPr sz="2000" dirty="0">
                <a:solidFill>
                  <a:srgbClr val="37403A"/>
                </a:solidFill>
                <a:latin typeface="Gill Sans MT"/>
                <a:cs typeface="Gill Sans MT"/>
              </a:rPr>
              <a:t>reconstruct</a:t>
            </a:r>
            <a:r>
              <a:rPr sz="2000" spc="65" dirty="0">
                <a:solidFill>
                  <a:srgbClr val="37403A"/>
                </a:solidFill>
                <a:latin typeface="Gill Sans MT"/>
                <a:cs typeface="Gill Sans MT"/>
              </a:rPr>
              <a:t> </a:t>
            </a:r>
            <a:r>
              <a:rPr sz="2000" dirty="0">
                <a:solidFill>
                  <a:srgbClr val="37403A"/>
                </a:solidFill>
                <a:latin typeface="Gill Sans MT"/>
                <a:cs typeface="Gill Sans MT"/>
              </a:rPr>
              <a:t>scores,</a:t>
            </a:r>
            <a:r>
              <a:rPr sz="2000" spc="65" dirty="0">
                <a:solidFill>
                  <a:srgbClr val="37403A"/>
                </a:solidFill>
                <a:latin typeface="Gill Sans MT"/>
                <a:cs typeface="Gill Sans MT"/>
              </a:rPr>
              <a:t> </a:t>
            </a:r>
            <a:r>
              <a:rPr sz="2000" spc="-10" dirty="0">
                <a:solidFill>
                  <a:srgbClr val="37403A"/>
                </a:solidFill>
                <a:latin typeface="Gill Sans MT"/>
                <a:cs typeface="Gill Sans MT"/>
              </a:rPr>
              <a:t>filter </a:t>
            </a:r>
            <a:r>
              <a:rPr sz="2000" spc="55" dirty="0">
                <a:solidFill>
                  <a:srgbClr val="37403A"/>
                </a:solidFill>
                <a:latin typeface="Gill Sans MT"/>
                <a:cs typeface="Gill Sans MT"/>
              </a:rPr>
              <a:t>seen,</a:t>
            </a:r>
            <a:r>
              <a:rPr sz="2000" spc="-45" dirty="0">
                <a:solidFill>
                  <a:srgbClr val="37403A"/>
                </a:solidFill>
                <a:latin typeface="Gill Sans MT"/>
                <a:cs typeface="Gill Sans MT"/>
              </a:rPr>
              <a:t> </a:t>
            </a:r>
            <a:r>
              <a:rPr sz="2000" spc="70" dirty="0">
                <a:solidFill>
                  <a:srgbClr val="37403A"/>
                </a:solidFill>
                <a:latin typeface="Gill Sans MT"/>
                <a:cs typeface="Gill Sans MT"/>
              </a:rPr>
              <a:t>output</a:t>
            </a:r>
            <a:r>
              <a:rPr sz="2000" spc="-45" dirty="0">
                <a:solidFill>
                  <a:srgbClr val="37403A"/>
                </a:solidFill>
                <a:latin typeface="Gill Sans MT"/>
                <a:cs typeface="Gill Sans MT"/>
              </a:rPr>
              <a:t> </a:t>
            </a:r>
            <a:r>
              <a:rPr sz="2000" spc="-55" dirty="0">
                <a:solidFill>
                  <a:srgbClr val="37403A"/>
                </a:solidFill>
                <a:latin typeface="Gill Sans MT"/>
                <a:cs typeface="Gill Sans MT"/>
              </a:rPr>
              <a:t>Top-</a:t>
            </a:r>
            <a:r>
              <a:rPr sz="2000" spc="-50" dirty="0">
                <a:solidFill>
                  <a:srgbClr val="37403A"/>
                </a:solidFill>
                <a:latin typeface="Gill Sans MT"/>
                <a:cs typeface="Gill Sans MT"/>
              </a:rPr>
              <a:t>N</a:t>
            </a:r>
            <a:endParaRPr sz="2000">
              <a:latin typeface="Gill Sans MT"/>
              <a:cs typeface="Gill Sans MT"/>
            </a:endParaRPr>
          </a:p>
        </p:txBody>
      </p:sp>
      <p:sp>
        <p:nvSpPr>
          <p:cNvPr id="11" name="object 11"/>
          <p:cNvSpPr txBox="1"/>
          <p:nvPr/>
        </p:nvSpPr>
        <p:spPr>
          <a:xfrm>
            <a:off x="6975040" y="5824384"/>
            <a:ext cx="4018279" cy="1689100"/>
          </a:xfrm>
          <a:prstGeom prst="rect">
            <a:avLst/>
          </a:prstGeom>
        </p:spPr>
        <p:txBody>
          <a:bodyPr vert="horz" wrap="square" lIns="0" tIns="12700" rIns="0" bIns="0" rtlCol="0">
            <a:spAutoFit/>
          </a:bodyPr>
          <a:lstStyle/>
          <a:p>
            <a:pPr marL="12700">
              <a:lnSpc>
                <a:spcPct val="100000"/>
              </a:lnSpc>
              <a:spcBef>
                <a:spcPts val="100"/>
              </a:spcBef>
            </a:pPr>
            <a:r>
              <a:rPr sz="3000" spc="90" dirty="0">
                <a:solidFill>
                  <a:srgbClr val="37403A"/>
                </a:solidFill>
                <a:latin typeface="Gill Sans MT"/>
                <a:cs typeface="Gill Sans MT"/>
              </a:rPr>
              <a:t>Recommendation</a:t>
            </a:r>
            <a:r>
              <a:rPr sz="3000" spc="-85" dirty="0">
                <a:solidFill>
                  <a:srgbClr val="37403A"/>
                </a:solidFill>
                <a:latin typeface="Gill Sans MT"/>
                <a:cs typeface="Gill Sans MT"/>
              </a:rPr>
              <a:t> </a:t>
            </a:r>
            <a:r>
              <a:rPr sz="3000" spc="75" dirty="0">
                <a:solidFill>
                  <a:srgbClr val="37403A"/>
                </a:solidFill>
                <a:latin typeface="Gill Sans MT"/>
                <a:cs typeface="Gill Sans MT"/>
              </a:rPr>
              <a:t>Logic</a:t>
            </a:r>
            <a:endParaRPr sz="3000">
              <a:latin typeface="Gill Sans MT"/>
              <a:cs typeface="Gill Sans MT"/>
            </a:endParaRPr>
          </a:p>
          <a:p>
            <a:pPr marL="227965" indent="-215265">
              <a:lnSpc>
                <a:spcPct val="100000"/>
              </a:lnSpc>
              <a:spcBef>
                <a:spcPts val="1800"/>
              </a:spcBef>
              <a:buFont typeface="Garamond"/>
              <a:buChar char="•"/>
              <a:tabLst>
                <a:tab pos="227965" algn="l"/>
              </a:tabLst>
            </a:pPr>
            <a:r>
              <a:rPr sz="2000" spc="-30" dirty="0">
                <a:solidFill>
                  <a:srgbClr val="37403A"/>
                </a:solidFill>
                <a:latin typeface="Gill Sans MT"/>
                <a:cs typeface="Gill Sans MT"/>
              </a:rPr>
              <a:t>Train</a:t>
            </a:r>
            <a:r>
              <a:rPr sz="2000" spc="45" dirty="0">
                <a:solidFill>
                  <a:srgbClr val="37403A"/>
                </a:solidFill>
                <a:latin typeface="Gill Sans MT"/>
                <a:cs typeface="Gill Sans MT"/>
              </a:rPr>
              <a:t> </a:t>
            </a:r>
            <a:r>
              <a:rPr sz="2000" spc="55" dirty="0">
                <a:solidFill>
                  <a:srgbClr val="37403A"/>
                </a:solidFill>
                <a:latin typeface="Gill Sans MT"/>
                <a:cs typeface="Gill Sans MT"/>
              </a:rPr>
              <a:t>models</a:t>
            </a:r>
            <a:r>
              <a:rPr sz="2000" spc="50" dirty="0">
                <a:solidFill>
                  <a:srgbClr val="37403A"/>
                </a:solidFill>
                <a:latin typeface="Gill Sans MT"/>
                <a:cs typeface="Gill Sans MT"/>
              </a:rPr>
              <a:t> </a:t>
            </a:r>
            <a:r>
              <a:rPr sz="2000" dirty="0">
                <a:solidFill>
                  <a:srgbClr val="37403A"/>
                </a:solidFill>
                <a:latin typeface="Gill Sans MT"/>
                <a:cs typeface="Gill Sans MT"/>
              </a:rPr>
              <a:t>on</a:t>
            </a:r>
            <a:r>
              <a:rPr sz="2000" spc="45" dirty="0">
                <a:solidFill>
                  <a:srgbClr val="37403A"/>
                </a:solidFill>
                <a:latin typeface="Gill Sans MT"/>
                <a:cs typeface="Gill Sans MT"/>
              </a:rPr>
              <a:t> </a:t>
            </a:r>
            <a:r>
              <a:rPr sz="2000" dirty="0">
                <a:solidFill>
                  <a:srgbClr val="37403A"/>
                </a:solidFill>
                <a:latin typeface="Gill Sans MT"/>
                <a:cs typeface="Gill Sans MT"/>
              </a:rPr>
              <a:t>user-item</a:t>
            </a:r>
            <a:r>
              <a:rPr sz="2000" spc="50" dirty="0">
                <a:solidFill>
                  <a:srgbClr val="37403A"/>
                </a:solidFill>
                <a:latin typeface="Gill Sans MT"/>
                <a:cs typeface="Gill Sans MT"/>
              </a:rPr>
              <a:t> </a:t>
            </a:r>
            <a:r>
              <a:rPr sz="2000" spc="-10" dirty="0">
                <a:solidFill>
                  <a:srgbClr val="37403A"/>
                </a:solidFill>
                <a:latin typeface="Gill Sans MT"/>
                <a:cs typeface="Gill Sans MT"/>
              </a:rPr>
              <a:t>matrix</a:t>
            </a:r>
            <a:endParaRPr sz="2000">
              <a:latin typeface="Gill Sans MT"/>
              <a:cs typeface="Gill Sans MT"/>
            </a:endParaRPr>
          </a:p>
          <a:p>
            <a:pPr marL="228600" marR="5080" indent="-215900">
              <a:lnSpc>
                <a:spcPct val="100000"/>
              </a:lnSpc>
              <a:spcBef>
                <a:spcPts val="500"/>
              </a:spcBef>
              <a:buFont typeface="Garamond"/>
              <a:buChar char="•"/>
              <a:tabLst>
                <a:tab pos="228600" algn="l"/>
              </a:tabLst>
            </a:pPr>
            <a:r>
              <a:rPr sz="2000" dirty="0">
                <a:solidFill>
                  <a:srgbClr val="37403A"/>
                </a:solidFill>
                <a:latin typeface="Gill Sans MT"/>
                <a:cs typeface="Gill Sans MT"/>
              </a:rPr>
              <a:t>Generate </a:t>
            </a:r>
            <a:r>
              <a:rPr sz="2000" spc="-55" dirty="0">
                <a:solidFill>
                  <a:srgbClr val="37403A"/>
                </a:solidFill>
                <a:latin typeface="Gill Sans MT"/>
                <a:cs typeface="Gill Sans MT"/>
              </a:rPr>
              <a:t>Top-</a:t>
            </a:r>
            <a:r>
              <a:rPr sz="2000" spc="-80" dirty="0">
                <a:solidFill>
                  <a:srgbClr val="37403A"/>
                </a:solidFill>
                <a:latin typeface="Gill Sans MT"/>
                <a:cs typeface="Gill Sans MT"/>
              </a:rPr>
              <a:t>N</a:t>
            </a:r>
            <a:r>
              <a:rPr sz="2000" dirty="0">
                <a:solidFill>
                  <a:srgbClr val="37403A"/>
                </a:solidFill>
                <a:latin typeface="Gill Sans MT"/>
                <a:cs typeface="Gill Sans MT"/>
              </a:rPr>
              <a:t> </a:t>
            </a:r>
            <a:r>
              <a:rPr sz="2000" spc="120" dirty="0">
                <a:solidFill>
                  <a:srgbClr val="37403A"/>
                </a:solidFill>
                <a:latin typeface="Gill Sans MT"/>
                <a:cs typeface="Gill Sans MT"/>
              </a:rPr>
              <a:t>by</a:t>
            </a:r>
            <a:r>
              <a:rPr sz="2000" dirty="0">
                <a:solidFill>
                  <a:srgbClr val="37403A"/>
                </a:solidFill>
                <a:latin typeface="Gill Sans MT"/>
                <a:cs typeface="Gill Sans MT"/>
              </a:rPr>
              <a:t> </a:t>
            </a:r>
            <a:r>
              <a:rPr sz="2000" spc="55" dirty="0">
                <a:solidFill>
                  <a:srgbClr val="37403A"/>
                </a:solidFill>
                <a:latin typeface="Gill Sans MT"/>
                <a:cs typeface="Gill Sans MT"/>
              </a:rPr>
              <a:t>ranking</a:t>
            </a:r>
            <a:r>
              <a:rPr sz="2000" dirty="0">
                <a:solidFill>
                  <a:srgbClr val="37403A"/>
                </a:solidFill>
                <a:latin typeface="Gill Sans MT"/>
                <a:cs typeface="Gill Sans MT"/>
              </a:rPr>
              <a:t> </a:t>
            </a:r>
            <a:r>
              <a:rPr sz="2000" spc="55" dirty="0">
                <a:solidFill>
                  <a:srgbClr val="37403A"/>
                </a:solidFill>
                <a:latin typeface="Gill Sans MT"/>
                <a:cs typeface="Gill Sans MT"/>
              </a:rPr>
              <a:t>unseen </a:t>
            </a:r>
            <a:r>
              <a:rPr sz="2000" spc="50" dirty="0">
                <a:solidFill>
                  <a:srgbClr val="37403A"/>
                </a:solidFill>
                <a:latin typeface="Gill Sans MT"/>
                <a:cs typeface="Gill Sans MT"/>
              </a:rPr>
              <a:t>items</a:t>
            </a:r>
            <a:endParaRPr sz="2000">
              <a:latin typeface="Gill Sans MT"/>
              <a:cs typeface="Gill Sans MT"/>
            </a:endParaRPr>
          </a:p>
        </p:txBody>
      </p:sp>
      <p:sp>
        <p:nvSpPr>
          <p:cNvPr id="12" name="object 12"/>
          <p:cNvSpPr txBox="1"/>
          <p:nvPr/>
        </p:nvSpPr>
        <p:spPr>
          <a:xfrm>
            <a:off x="1358900" y="5824384"/>
            <a:ext cx="3956050" cy="2451100"/>
          </a:xfrm>
          <a:prstGeom prst="rect">
            <a:avLst/>
          </a:prstGeom>
        </p:spPr>
        <p:txBody>
          <a:bodyPr vert="horz" wrap="square" lIns="0" tIns="12700" rIns="0" bIns="0" rtlCol="0">
            <a:spAutoFit/>
          </a:bodyPr>
          <a:lstStyle/>
          <a:p>
            <a:pPr marL="12700">
              <a:lnSpc>
                <a:spcPct val="100000"/>
              </a:lnSpc>
              <a:spcBef>
                <a:spcPts val="100"/>
              </a:spcBef>
            </a:pPr>
            <a:r>
              <a:rPr sz="3000" spc="80" dirty="0">
                <a:solidFill>
                  <a:srgbClr val="37403A"/>
                </a:solidFill>
                <a:latin typeface="Gill Sans MT"/>
                <a:cs typeface="Gill Sans MT"/>
              </a:rPr>
              <a:t>End-</a:t>
            </a:r>
            <a:r>
              <a:rPr sz="3000" spc="70" dirty="0">
                <a:solidFill>
                  <a:srgbClr val="37403A"/>
                </a:solidFill>
                <a:latin typeface="Gill Sans MT"/>
                <a:cs typeface="Gill Sans MT"/>
              </a:rPr>
              <a:t>to-</a:t>
            </a:r>
            <a:r>
              <a:rPr sz="3000" spc="90" dirty="0">
                <a:solidFill>
                  <a:srgbClr val="37403A"/>
                </a:solidFill>
                <a:latin typeface="Gill Sans MT"/>
                <a:cs typeface="Gill Sans MT"/>
              </a:rPr>
              <a:t>End</a:t>
            </a:r>
            <a:r>
              <a:rPr sz="3000" spc="-90" dirty="0">
                <a:solidFill>
                  <a:srgbClr val="37403A"/>
                </a:solidFill>
                <a:latin typeface="Gill Sans MT"/>
                <a:cs typeface="Gill Sans MT"/>
              </a:rPr>
              <a:t> </a:t>
            </a:r>
            <a:r>
              <a:rPr sz="3000" spc="80" dirty="0">
                <a:solidFill>
                  <a:srgbClr val="37403A"/>
                </a:solidFill>
                <a:latin typeface="Gill Sans MT"/>
                <a:cs typeface="Gill Sans MT"/>
              </a:rPr>
              <a:t>Pipeline</a:t>
            </a:r>
            <a:endParaRPr sz="3000">
              <a:latin typeface="Gill Sans MT"/>
              <a:cs typeface="Gill Sans MT"/>
            </a:endParaRPr>
          </a:p>
          <a:p>
            <a:pPr marL="12700">
              <a:lnSpc>
                <a:spcPct val="100000"/>
              </a:lnSpc>
            </a:pPr>
            <a:r>
              <a:rPr sz="3000" spc="-10" dirty="0">
                <a:solidFill>
                  <a:srgbClr val="37403A"/>
                </a:solidFill>
                <a:latin typeface="Gill Sans MT"/>
                <a:cs typeface="Gill Sans MT"/>
              </a:rPr>
              <a:t>Overview</a:t>
            </a:r>
            <a:endParaRPr sz="3000">
              <a:latin typeface="Gill Sans MT"/>
              <a:cs typeface="Gill Sans MT"/>
            </a:endParaRPr>
          </a:p>
          <a:p>
            <a:pPr marL="228600" marR="5080" indent="-215900">
              <a:lnSpc>
                <a:spcPct val="100000"/>
              </a:lnSpc>
              <a:spcBef>
                <a:spcPts val="1800"/>
              </a:spcBef>
              <a:buFont typeface="Garamond"/>
              <a:buChar char="•"/>
              <a:tabLst>
                <a:tab pos="228600" algn="l"/>
              </a:tabLst>
            </a:pPr>
            <a:r>
              <a:rPr sz="2000" dirty="0">
                <a:solidFill>
                  <a:srgbClr val="37403A"/>
                </a:solidFill>
                <a:latin typeface="Gill Sans MT"/>
                <a:cs typeface="Gill Sans MT"/>
              </a:rPr>
              <a:t>Preprocess</a:t>
            </a:r>
            <a:r>
              <a:rPr sz="2000" spc="25" dirty="0">
                <a:solidFill>
                  <a:srgbClr val="37403A"/>
                </a:solidFill>
                <a:latin typeface="Gill Sans MT"/>
                <a:cs typeface="Gill Sans MT"/>
              </a:rPr>
              <a:t> </a:t>
            </a:r>
            <a:r>
              <a:rPr sz="2000" spc="90" dirty="0">
                <a:solidFill>
                  <a:srgbClr val="37403A"/>
                </a:solidFill>
                <a:latin typeface="Gill Sans MT"/>
                <a:cs typeface="Gill Sans MT"/>
              </a:rPr>
              <a:t>data,</a:t>
            </a:r>
            <a:r>
              <a:rPr sz="2000" spc="25" dirty="0">
                <a:solidFill>
                  <a:srgbClr val="37403A"/>
                </a:solidFill>
                <a:latin typeface="Gill Sans MT"/>
                <a:cs typeface="Gill Sans MT"/>
              </a:rPr>
              <a:t> </a:t>
            </a:r>
            <a:r>
              <a:rPr sz="2000" spc="70" dirty="0">
                <a:solidFill>
                  <a:srgbClr val="37403A"/>
                </a:solidFill>
                <a:latin typeface="Gill Sans MT"/>
                <a:cs typeface="Gill Sans MT"/>
              </a:rPr>
              <a:t>merge</a:t>
            </a:r>
            <a:r>
              <a:rPr sz="2000" spc="25" dirty="0">
                <a:solidFill>
                  <a:srgbClr val="37403A"/>
                </a:solidFill>
                <a:latin typeface="Gill Sans MT"/>
                <a:cs typeface="Gill Sans MT"/>
              </a:rPr>
              <a:t> </a:t>
            </a:r>
            <a:r>
              <a:rPr sz="2000" spc="75" dirty="0">
                <a:solidFill>
                  <a:srgbClr val="37403A"/>
                </a:solidFill>
                <a:latin typeface="Gill Sans MT"/>
                <a:cs typeface="Gill Sans MT"/>
              </a:rPr>
              <a:t>metadata, </a:t>
            </a:r>
            <a:r>
              <a:rPr sz="2000" spc="70" dirty="0">
                <a:solidFill>
                  <a:srgbClr val="37403A"/>
                </a:solidFill>
                <a:latin typeface="Gill Sans MT"/>
                <a:cs typeface="Gill Sans MT"/>
              </a:rPr>
              <a:t>clean</a:t>
            </a:r>
            <a:r>
              <a:rPr sz="2000" spc="-60" dirty="0">
                <a:solidFill>
                  <a:srgbClr val="37403A"/>
                </a:solidFill>
                <a:latin typeface="Gill Sans MT"/>
                <a:cs typeface="Gill Sans MT"/>
              </a:rPr>
              <a:t> </a:t>
            </a:r>
            <a:r>
              <a:rPr sz="2000" spc="150" dirty="0">
                <a:solidFill>
                  <a:srgbClr val="37403A"/>
                </a:solidFill>
                <a:latin typeface="Gill Sans MT"/>
                <a:cs typeface="Gill Sans MT"/>
              </a:rPr>
              <a:t>&amp;</a:t>
            </a:r>
            <a:r>
              <a:rPr sz="2000" spc="-60" dirty="0">
                <a:solidFill>
                  <a:srgbClr val="37403A"/>
                </a:solidFill>
                <a:latin typeface="Gill Sans MT"/>
                <a:cs typeface="Gill Sans MT"/>
              </a:rPr>
              <a:t> </a:t>
            </a:r>
            <a:r>
              <a:rPr sz="2000" spc="-10" dirty="0">
                <a:solidFill>
                  <a:srgbClr val="37403A"/>
                </a:solidFill>
                <a:latin typeface="Gill Sans MT"/>
                <a:cs typeface="Gill Sans MT"/>
              </a:rPr>
              <a:t>filter</a:t>
            </a:r>
            <a:endParaRPr sz="2000">
              <a:latin typeface="Gill Sans MT"/>
              <a:cs typeface="Gill Sans MT"/>
            </a:endParaRPr>
          </a:p>
          <a:p>
            <a:pPr marL="228600" marR="93980" indent="-215900">
              <a:lnSpc>
                <a:spcPct val="100000"/>
              </a:lnSpc>
              <a:spcBef>
                <a:spcPts val="500"/>
              </a:spcBef>
              <a:buFont typeface="Garamond"/>
              <a:buChar char="•"/>
              <a:tabLst>
                <a:tab pos="228600" algn="l"/>
              </a:tabLst>
            </a:pPr>
            <a:r>
              <a:rPr sz="2000" dirty="0">
                <a:solidFill>
                  <a:srgbClr val="37403A"/>
                </a:solidFill>
                <a:latin typeface="Gill Sans MT"/>
                <a:cs typeface="Gill Sans MT"/>
              </a:rPr>
              <a:t>Time-aware</a:t>
            </a:r>
            <a:r>
              <a:rPr sz="2000" spc="60" dirty="0">
                <a:solidFill>
                  <a:srgbClr val="37403A"/>
                </a:solidFill>
                <a:latin typeface="Gill Sans MT"/>
                <a:cs typeface="Gill Sans MT"/>
              </a:rPr>
              <a:t> </a:t>
            </a:r>
            <a:r>
              <a:rPr sz="2000" spc="55" dirty="0">
                <a:solidFill>
                  <a:srgbClr val="37403A"/>
                </a:solidFill>
                <a:latin typeface="Gill Sans MT"/>
                <a:cs typeface="Gill Sans MT"/>
              </a:rPr>
              <a:t>split:</a:t>
            </a:r>
            <a:r>
              <a:rPr sz="2000" spc="65" dirty="0">
                <a:solidFill>
                  <a:srgbClr val="37403A"/>
                </a:solidFill>
                <a:latin typeface="Gill Sans MT"/>
                <a:cs typeface="Gill Sans MT"/>
              </a:rPr>
              <a:t> </a:t>
            </a:r>
            <a:r>
              <a:rPr sz="2000" dirty="0">
                <a:solidFill>
                  <a:srgbClr val="37403A"/>
                </a:solidFill>
                <a:latin typeface="Gill Sans MT"/>
                <a:cs typeface="Gill Sans MT"/>
              </a:rPr>
              <a:t>train</a:t>
            </a:r>
            <a:r>
              <a:rPr sz="2000" spc="60" dirty="0">
                <a:solidFill>
                  <a:srgbClr val="37403A"/>
                </a:solidFill>
                <a:latin typeface="Gill Sans MT"/>
                <a:cs typeface="Gill Sans MT"/>
              </a:rPr>
              <a:t> </a:t>
            </a:r>
            <a:r>
              <a:rPr sz="2000" dirty="0">
                <a:solidFill>
                  <a:srgbClr val="37403A"/>
                </a:solidFill>
                <a:latin typeface="Gill Sans MT"/>
                <a:cs typeface="Gill Sans MT"/>
              </a:rPr>
              <a:t>on</a:t>
            </a:r>
            <a:r>
              <a:rPr sz="2000" spc="65" dirty="0">
                <a:solidFill>
                  <a:srgbClr val="37403A"/>
                </a:solidFill>
                <a:latin typeface="Gill Sans MT"/>
                <a:cs typeface="Gill Sans MT"/>
              </a:rPr>
              <a:t> </a:t>
            </a:r>
            <a:r>
              <a:rPr sz="2000" spc="-10" dirty="0">
                <a:solidFill>
                  <a:srgbClr val="37403A"/>
                </a:solidFill>
                <a:latin typeface="Gill Sans MT"/>
                <a:cs typeface="Gill Sans MT"/>
              </a:rPr>
              <a:t>history, </a:t>
            </a:r>
            <a:r>
              <a:rPr sz="2000" spc="65" dirty="0">
                <a:solidFill>
                  <a:srgbClr val="37403A"/>
                </a:solidFill>
                <a:latin typeface="Gill Sans MT"/>
                <a:cs typeface="Gill Sans MT"/>
              </a:rPr>
              <a:t>test</a:t>
            </a:r>
            <a:r>
              <a:rPr sz="2000" spc="-25" dirty="0">
                <a:solidFill>
                  <a:srgbClr val="37403A"/>
                </a:solidFill>
                <a:latin typeface="Gill Sans MT"/>
                <a:cs typeface="Gill Sans MT"/>
              </a:rPr>
              <a:t> </a:t>
            </a:r>
            <a:r>
              <a:rPr sz="2000" dirty="0">
                <a:solidFill>
                  <a:srgbClr val="37403A"/>
                </a:solidFill>
                <a:latin typeface="Gill Sans MT"/>
                <a:cs typeface="Gill Sans MT"/>
              </a:rPr>
              <a:t>on</a:t>
            </a:r>
            <a:r>
              <a:rPr sz="2000" spc="-20" dirty="0">
                <a:solidFill>
                  <a:srgbClr val="37403A"/>
                </a:solidFill>
                <a:latin typeface="Gill Sans MT"/>
                <a:cs typeface="Gill Sans MT"/>
              </a:rPr>
              <a:t> </a:t>
            </a:r>
            <a:r>
              <a:rPr sz="2000" spc="60" dirty="0">
                <a:solidFill>
                  <a:srgbClr val="37403A"/>
                </a:solidFill>
                <a:latin typeface="Gill Sans MT"/>
                <a:cs typeface="Gill Sans MT"/>
              </a:rPr>
              <a:t>latest</a:t>
            </a:r>
            <a:endParaRPr sz="2000">
              <a:latin typeface="Gill Sans MT"/>
              <a:cs typeface="Gill Sans MT"/>
            </a:endParaRPr>
          </a:p>
        </p:txBody>
      </p:sp>
      <p:sp>
        <p:nvSpPr>
          <p:cNvPr id="13" name="object 13"/>
          <p:cNvSpPr/>
          <p:nvPr/>
        </p:nvSpPr>
        <p:spPr>
          <a:xfrm>
            <a:off x="11949224" y="4866483"/>
            <a:ext cx="0" cy="3434715"/>
          </a:xfrm>
          <a:custGeom>
            <a:avLst/>
            <a:gdLst/>
            <a:ahLst/>
            <a:cxnLst/>
            <a:rect l="l" t="t" r="r" b="b"/>
            <a:pathLst>
              <a:path h="3434715">
                <a:moveTo>
                  <a:pt x="0" y="3434397"/>
                </a:moveTo>
                <a:lnTo>
                  <a:pt x="0" y="0"/>
                </a:lnTo>
              </a:path>
            </a:pathLst>
          </a:custGeom>
          <a:ln w="28575">
            <a:solidFill>
              <a:srgbClr val="5F8262"/>
            </a:solidFill>
            <a:prstDash val="sysDash"/>
          </a:ln>
        </p:spPr>
        <p:txBody>
          <a:bodyPr wrap="square" lIns="0" tIns="0" rIns="0" bIns="0" rtlCol="0"/>
          <a:lstStyle/>
          <a:p>
            <a:endParaRPr/>
          </a:p>
        </p:txBody>
      </p:sp>
      <p:sp>
        <p:nvSpPr>
          <p:cNvPr id="14" name="object 14"/>
          <p:cNvSpPr/>
          <p:nvPr/>
        </p:nvSpPr>
        <p:spPr>
          <a:xfrm>
            <a:off x="6333120" y="4866483"/>
            <a:ext cx="0" cy="3434715"/>
          </a:xfrm>
          <a:custGeom>
            <a:avLst/>
            <a:gdLst/>
            <a:ahLst/>
            <a:cxnLst/>
            <a:rect l="l" t="t" r="r" b="b"/>
            <a:pathLst>
              <a:path h="3434715">
                <a:moveTo>
                  <a:pt x="0" y="3434397"/>
                </a:moveTo>
                <a:lnTo>
                  <a:pt x="0" y="0"/>
                </a:lnTo>
              </a:path>
            </a:pathLst>
          </a:custGeom>
          <a:ln w="28575">
            <a:solidFill>
              <a:srgbClr val="5F8262"/>
            </a:solidFill>
            <a:prstDash val="sysDash"/>
          </a:ln>
        </p:spPr>
        <p:txBody>
          <a:bodyPr wrap="square" lIns="0" tIns="0" rIns="0" bIns="0" rtlCol="0"/>
          <a:lstStyle/>
          <a:p>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2AC16-CD14-3046-A083-38BB03AE3B89}"/>
            </a:ext>
          </a:extLst>
        </p:cNvPr>
        <p:cNvGrpSpPr/>
        <p:nvPr/>
      </p:nvGrpSpPr>
      <p:grpSpPr>
        <a:xfrm>
          <a:off x="0" y="0"/>
          <a:ext cx="0" cy="0"/>
          <a:chOff x="0" y="0"/>
          <a:chExt cx="0" cy="0"/>
        </a:xfrm>
      </p:grpSpPr>
      <p:sp>
        <p:nvSpPr>
          <p:cNvPr id="11" name="object 2">
            <a:extLst>
              <a:ext uri="{FF2B5EF4-FFF2-40B4-BE49-F238E27FC236}">
                <a16:creationId xmlns:a16="http://schemas.microsoft.com/office/drawing/2014/main" id="{57649BCE-3D16-3EFA-8BCA-F50CA5673879}"/>
              </a:ext>
            </a:extLst>
          </p:cNvPr>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2" name="Text 0">
            <a:extLst>
              <a:ext uri="{FF2B5EF4-FFF2-40B4-BE49-F238E27FC236}">
                <a16:creationId xmlns:a16="http://schemas.microsoft.com/office/drawing/2014/main" id="{E7FBF6F7-5E7C-A7AF-9DEF-09249918077D}"/>
              </a:ext>
            </a:extLst>
          </p:cNvPr>
          <p:cNvSpPr/>
          <p:nvPr/>
        </p:nvSpPr>
        <p:spPr>
          <a:xfrm>
            <a:off x="822960" y="548640"/>
            <a:ext cx="16733520" cy="822960"/>
          </a:xfrm>
          <a:prstGeom prst="rect">
            <a:avLst/>
          </a:prstGeom>
          <a:noFill/>
          <a:ln/>
        </p:spPr>
        <p:txBody>
          <a:bodyPr wrap="square" rtlCol="0" anchor="ctr"/>
          <a:lstStyle/>
          <a:p>
            <a:r>
              <a:rPr lang="en-US" sz="4500" b="1" dirty="0">
                <a:solidFill>
                  <a:srgbClr val="0F172A"/>
                </a:solidFill>
                <a:latin typeface="Garamond" panose="02020404030301010803" pitchFamily="18" charset="0"/>
                <a:ea typeface="Calibri" pitchFamily="34" charset="-122"/>
                <a:cs typeface="Calibri" pitchFamily="34" charset="-120"/>
              </a:rPr>
              <a:t>9. Synthesis: Pseudocode</a:t>
            </a:r>
            <a:endParaRPr lang="en-US" sz="4500" dirty="0">
              <a:latin typeface="Garamond" panose="02020404030301010803" pitchFamily="18" charset="0"/>
            </a:endParaRPr>
          </a:p>
        </p:txBody>
      </p:sp>
      <p:sp>
        <p:nvSpPr>
          <p:cNvPr id="3" name="Shape 1">
            <a:extLst>
              <a:ext uri="{FF2B5EF4-FFF2-40B4-BE49-F238E27FC236}">
                <a16:creationId xmlns:a16="http://schemas.microsoft.com/office/drawing/2014/main" id="{5F8DBDD6-E17A-AD5B-251A-F0194C581153}"/>
              </a:ext>
            </a:extLst>
          </p:cNvPr>
          <p:cNvSpPr/>
          <p:nvPr/>
        </p:nvSpPr>
        <p:spPr>
          <a:xfrm>
            <a:off x="822960" y="1440180"/>
            <a:ext cx="16733520" cy="0"/>
          </a:xfrm>
          <a:prstGeom prst="line">
            <a:avLst/>
          </a:prstGeom>
          <a:noFill/>
          <a:ln w="12700">
            <a:solidFill>
              <a:srgbClr val="CBD5E1"/>
            </a:solidFill>
            <a:prstDash val="solid"/>
          </a:ln>
        </p:spPr>
        <p:txBody>
          <a:bodyPr/>
          <a:lstStyle/>
          <a:p>
            <a:endParaRPr lang="en-US"/>
          </a:p>
        </p:txBody>
      </p:sp>
      <p:sp>
        <p:nvSpPr>
          <p:cNvPr id="4" name="Shape 2">
            <a:extLst>
              <a:ext uri="{FF2B5EF4-FFF2-40B4-BE49-F238E27FC236}">
                <a16:creationId xmlns:a16="http://schemas.microsoft.com/office/drawing/2014/main" id="{E83D7134-6A45-7085-9FA0-6AE03228FE95}"/>
              </a:ext>
            </a:extLst>
          </p:cNvPr>
          <p:cNvSpPr/>
          <p:nvPr/>
        </p:nvSpPr>
        <p:spPr>
          <a:xfrm>
            <a:off x="891540" y="1714500"/>
            <a:ext cx="16527780" cy="8023860"/>
          </a:xfrm>
          <a:prstGeom prst="roundRect">
            <a:avLst/>
          </a:prstGeom>
          <a:solidFill>
            <a:srgbClr val="F8FAFC"/>
          </a:solidFill>
          <a:ln w="12700">
            <a:solidFill>
              <a:srgbClr val="E2E8F0"/>
            </a:solidFill>
            <a:prstDash val="solid"/>
          </a:ln>
          <a:effectLst>
            <a:outerShdw blurRad="38100" dist="12700" dir="2700000" algn="bl" rotWithShape="0">
              <a:srgbClr val="000000">
                <a:alpha val="10000"/>
              </a:srgbClr>
            </a:outerShdw>
          </a:effectLst>
        </p:spPr>
        <p:txBody>
          <a:bodyPr/>
          <a:lstStyle/>
          <a:p>
            <a:endParaRPr lang="en-US"/>
          </a:p>
        </p:txBody>
      </p:sp>
      <p:sp>
        <p:nvSpPr>
          <p:cNvPr id="5" name="Text 3">
            <a:extLst>
              <a:ext uri="{FF2B5EF4-FFF2-40B4-BE49-F238E27FC236}">
                <a16:creationId xmlns:a16="http://schemas.microsoft.com/office/drawing/2014/main" id="{78E75AFA-2C36-9E1A-9F6C-57E07C5601A6}"/>
              </a:ext>
            </a:extLst>
          </p:cNvPr>
          <p:cNvSpPr/>
          <p:nvPr/>
        </p:nvSpPr>
        <p:spPr>
          <a:xfrm>
            <a:off x="1371600" y="2125980"/>
            <a:ext cx="7886700" cy="480060"/>
          </a:xfrm>
          <a:prstGeom prst="rect">
            <a:avLst/>
          </a:prstGeom>
          <a:noFill/>
          <a:ln/>
        </p:spPr>
        <p:txBody>
          <a:bodyPr wrap="square" rtlCol="0" anchor="ctr"/>
          <a:lstStyle/>
          <a:p>
            <a:r>
              <a:rPr lang="en-US" sz="2400" b="1" dirty="0">
                <a:solidFill>
                  <a:srgbClr val="0F172A"/>
                </a:solidFill>
                <a:latin typeface="Garamond" panose="02020404030301010803" pitchFamily="18" charset="0"/>
                <a:ea typeface="Calibri" pitchFamily="34" charset="-122"/>
                <a:cs typeface="Calibri" pitchFamily="34" charset="-120"/>
              </a:rPr>
              <a:t>Item –Item Cosine Similarity</a:t>
            </a:r>
            <a:endParaRPr lang="en-US" sz="2400" dirty="0">
              <a:latin typeface="Garamond" panose="02020404030301010803" pitchFamily="18" charset="0"/>
            </a:endParaRPr>
          </a:p>
        </p:txBody>
      </p:sp>
      <p:sp>
        <p:nvSpPr>
          <p:cNvPr id="6" name="Shape 4">
            <a:extLst>
              <a:ext uri="{FF2B5EF4-FFF2-40B4-BE49-F238E27FC236}">
                <a16:creationId xmlns:a16="http://schemas.microsoft.com/office/drawing/2014/main" id="{F72BCD61-CF00-7F7A-D73F-F22CE5561CDA}"/>
              </a:ext>
            </a:extLst>
          </p:cNvPr>
          <p:cNvSpPr/>
          <p:nvPr/>
        </p:nvSpPr>
        <p:spPr>
          <a:xfrm>
            <a:off x="1371600" y="2674621"/>
            <a:ext cx="7338060" cy="6605303"/>
          </a:xfrm>
          <a:prstGeom prst="rect">
            <a:avLst/>
          </a:prstGeom>
          <a:solidFill>
            <a:srgbClr val="0B1220"/>
          </a:solidFill>
          <a:ln w="12700">
            <a:solidFill>
              <a:srgbClr val="1F2937"/>
            </a:solidFill>
            <a:prstDash val="solid"/>
          </a:ln>
        </p:spPr>
        <p:txBody>
          <a:bodyPr/>
          <a:lstStyle/>
          <a:p>
            <a:endParaRPr lang="en-US"/>
          </a:p>
        </p:txBody>
      </p:sp>
      <p:sp>
        <p:nvSpPr>
          <p:cNvPr id="7" name="Text 5">
            <a:extLst>
              <a:ext uri="{FF2B5EF4-FFF2-40B4-BE49-F238E27FC236}">
                <a16:creationId xmlns:a16="http://schemas.microsoft.com/office/drawing/2014/main" id="{0A02DC59-AFBD-BC19-59F2-916DCAF988D8}"/>
              </a:ext>
            </a:extLst>
          </p:cNvPr>
          <p:cNvSpPr/>
          <p:nvPr/>
        </p:nvSpPr>
        <p:spPr>
          <a:xfrm>
            <a:off x="1543050" y="3017519"/>
            <a:ext cx="7555230" cy="5862045"/>
          </a:xfrm>
          <a:prstGeom prst="rect">
            <a:avLst/>
          </a:prstGeom>
          <a:noFill/>
          <a:ln/>
        </p:spPr>
        <p:txBody>
          <a:bodyPr wrap="square" rtlCol="0" anchor="ctr"/>
          <a:lstStyle/>
          <a:p>
            <a:r>
              <a:rPr lang="en-GB" sz="2000" b="1" dirty="0">
                <a:solidFill>
                  <a:schemeClr val="bg1"/>
                </a:solidFill>
                <a:latin typeface="Arial" panose="020B0604020202020204" pitchFamily="34" charset="0"/>
                <a:cs typeface="Arial" panose="020B0604020202020204" pitchFamily="34" charset="0"/>
              </a:rPr>
              <a:t>START</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LOAD</a:t>
            </a:r>
            <a:r>
              <a:rPr lang="en-GB" sz="2000" dirty="0">
                <a:solidFill>
                  <a:schemeClr val="bg1"/>
                </a:solidFill>
                <a:latin typeface="Arial" panose="020B0604020202020204" pitchFamily="34" charset="0"/>
                <a:cs typeface="Arial" panose="020B0604020202020204" pitchFamily="34" charset="0"/>
              </a:rPr>
              <a:t> TRAIN interactions</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BUILD</a:t>
            </a:r>
            <a:r>
              <a:rPr lang="en-GB" sz="2000" dirty="0">
                <a:solidFill>
                  <a:schemeClr val="bg1"/>
                </a:solidFill>
                <a:latin typeface="Arial" panose="020B0604020202020204" pitchFamily="34" charset="0"/>
                <a:cs typeface="Arial" panose="020B0604020202020204" pitchFamily="34" charset="0"/>
              </a:rPr>
              <a:t> user-item matrix R</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COMPUTE</a:t>
            </a:r>
            <a:r>
              <a:rPr lang="en-GB" sz="2000" dirty="0">
                <a:solidFill>
                  <a:schemeClr val="bg1"/>
                </a:solidFill>
                <a:latin typeface="Arial" panose="020B0604020202020204" pitchFamily="34" charset="0"/>
                <a:cs typeface="Arial" panose="020B0604020202020204" pitchFamily="34" charset="0"/>
              </a:rPr>
              <a:t> cosine similarity matrix SIM between items</a:t>
            </a:r>
            <a:endParaRPr lang="en-US" sz="2000" dirty="0">
              <a:solidFill>
                <a:schemeClr val="bg1"/>
              </a:solidFill>
              <a:latin typeface="Arial" panose="020B0604020202020204" pitchFamily="34" charset="0"/>
              <a:cs typeface="Arial" panose="020B0604020202020204" pitchFamily="34" charset="0"/>
            </a:endParaRPr>
          </a:p>
          <a:p>
            <a:r>
              <a:rPr lang="en-GB" sz="2000" dirty="0">
                <a:solidFill>
                  <a:schemeClr val="bg1"/>
                </a:solidFill>
                <a:latin typeface="Arial" panose="020B0604020202020204" pitchFamily="34" charset="0"/>
                <a:cs typeface="Arial" panose="020B0604020202020204" pitchFamily="34" charset="0"/>
              </a:rPr>
              <a:t> </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INPUT</a:t>
            </a:r>
            <a:r>
              <a:rPr lang="en-GB" sz="2000" dirty="0">
                <a:solidFill>
                  <a:schemeClr val="bg1"/>
                </a:solidFill>
                <a:latin typeface="Arial" panose="020B0604020202020204" pitchFamily="34" charset="0"/>
                <a:cs typeface="Arial" panose="020B0604020202020204" pitchFamily="34" charset="0"/>
              </a:rPr>
              <a:t> user_id</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GET</a:t>
            </a:r>
            <a:r>
              <a:rPr lang="en-GB" sz="2000" dirty="0">
                <a:solidFill>
                  <a:schemeClr val="bg1"/>
                </a:solidFill>
                <a:latin typeface="Arial" panose="020B0604020202020204" pitchFamily="34" charset="0"/>
                <a:cs typeface="Arial" panose="020B0604020202020204" pitchFamily="34" charset="0"/>
              </a:rPr>
              <a:t> user history from TRAIN</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COMPUTE</a:t>
            </a:r>
            <a:r>
              <a:rPr lang="en-GB" sz="2000" dirty="0">
                <a:solidFill>
                  <a:schemeClr val="bg1"/>
                </a:solidFill>
                <a:latin typeface="Arial" panose="020B0604020202020204" pitchFamily="34" charset="0"/>
                <a:cs typeface="Arial" panose="020B0604020202020204" pitchFamily="34" charset="0"/>
              </a:rPr>
              <a:t> candidate scores using similarity-weighted sum (SIM + user history)</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REMOVE</a:t>
            </a:r>
            <a:r>
              <a:rPr lang="en-GB" sz="2000" dirty="0">
                <a:solidFill>
                  <a:schemeClr val="bg1"/>
                </a:solidFill>
                <a:latin typeface="Arial" panose="020B0604020202020204" pitchFamily="34" charset="0"/>
                <a:cs typeface="Arial" panose="020B0604020202020204" pitchFamily="34" charset="0"/>
              </a:rPr>
              <a:t> items already in user history</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SORT</a:t>
            </a:r>
            <a:r>
              <a:rPr lang="en-GB" sz="2000" dirty="0">
                <a:solidFill>
                  <a:schemeClr val="bg1"/>
                </a:solidFill>
                <a:latin typeface="Arial" panose="020B0604020202020204" pitchFamily="34" charset="0"/>
                <a:cs typeface="Arial" panose="020B0604020202020204" pitchFamily="34" charset="0"/>
              </a:rPr>
              <a:t> candidates by score descending</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SELECT</a:t>
            </a:r>
            <a:r>
              <a:rPr lang="en-GB" sz="2000" dirty="0">
                <a:solidFill>
                  <a:schemeClr val="bg1"/>
                </a:solidFill>
                <a:latin typeface="Arial" panose="020B0604020202020204" pitchFamily="34" charset="0"/>
                <a:cs typeface="Arial" panose="020B0604020202020204" pitchFamily="34" charset="0"/>
              </a:rPr>
              <a:t> Top-N items</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OUTPUT</a:t>
            </a:r>
            <a:r>
              <a:rPr lang="en-GB" sz="2000" dirty="0">
                <a:solidFill>
                  <a:schemeClr val="bg1"/>
                </a:solidFill>
                <a:latin typeface="Arial" panose="020B0604020202020204" pitchFamily="34" charset="0"/>
                <a:cs typeface="Arial" panose="020B0604020202020204" pitchFamily="34" charset="0"/>
              </a:rPr>
              <a:t> Top-N recommended items</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END</a:t>
            </a:r>
            <a:endParaRPr lang="en-US" sz="2000" dirty="0">
              <a:solidFill>
                <a:schemeClr val="bg1"/>
              </a:solidFill>
              <a:latin typeface="Arial" panose="020B0604020202020204" pitchFamily="34" charset="0"/>
              <a:cs typeface="Arial" panose="020B0604020202020204" pitchFamily="34" charset="0"/>
            </a:endParaRPr>
          </a:p>
        </p:txBody>
      </p:sp>
      <p:sp>
        <p:nvSpPr>
          <p:cNvPr id="8" name="Text 6">
            <a:extLst>
              <a:ext uri="{FF2B5EF4-FFF2-40B4-BE49-F238E27FC236}">
                <a16:creationId xmlns:a16="http://schemas.microsoft.com/office/drawing/2014/main" id="{B0B3D6CD-C703-0B7B-32A1-4097930C0CBD}"/>
              </a:ext>
            </a:extLst>
          </p:cNvPr>
          <p:cNvSpPr/>
          <p:nvPr/>
        </p:nvSpPr>
        <p:spPr>
          <a:xfrm>
            <a:off x="9601200" y="2125980"/>
            <a:ext cx="7749540" cy="480060"/>
          </a:xfrm>
          <a:prstGeom prst="rect">
            <a:avLst/>
          </a:prstGeom>
          <a:noFill/>
          <a:ln/>
        </p:spPr>
        <p:txBody>
          <a:bodyPr wrap="square" rtlCol="0" anchor="ctr"/>
          <a:lstStyle/>
          <a:p>
            <a:r>
              <a:rPr lang="en-US" sz="2400" b="1" dirty="0">
                <a:solidFill>
                  <a:srgbClr val="0F172A"/>
                </a:solidFill>
                <a:latin typeface="Garamond" panose="02020404030301010803" pitchFamily="18" charset="0"/>
                <a:ea typeface="Calibri" pitchFamily="34" charset="-122"/>
                <a:cs typeface="Calibri" pitchFamily="34" charset="-120"/>
              </a:rPr>
              <a:t>Popularity Baseline</a:t>
            </a:r>
            <a:endParaRPr lang="en-US" sz="2400" dirty="0">
              <a:latin typeface="Garamond" panose="02020404030301010803" pitchFamily="18" charset="0"/>
            </a:endParaRPr>
          </a:p>
        </p:txBody>
      </p:sp>
      <p:sp>
        <p:nvSpPr>
          <p:cNvPr id="9" name="Shape 7">
            <a:extLst>
              <a:ext uri="{FF2B5EF4-FFF2-40B4-BE49-F238E27FC236}">
                <a16:creationId xmlns:a16="http://schemas.microsoft.com/office/drawing/2014/main" id="{83BB3084-2322-D1C7-A509-06365AD141EE}"/>
              </a:ext>
            </a:extLst>
          </p:cNvPr>
          <p:cNvSpPr/>
          <p:nvPr/>
        </p:nvSpPr>
        <p:spPr>
          <a:xfrm>
            <a:off x="9601200" y="2674620"/>
            <a:ext cx="7315200" cy="6605304"/>
          </a:xfrm>
          <a:prstGeom prst="rect">
            <a:avLst/>
          </a:prstGeom>
          <a:solidFill>
            <a:srgbClr val="0B1220"/>
          </a:solidFill>
          <a:ln w="12700">
            <a:solidFill>
              <a:srgbClr val="1F2937"/>
            </a:solidFill>
            <a:prstDash val="solid"/>
          </a:ln>
        </p:spPr>
        <p:txBody>
          <a:bodyPr/>
          <a:lstStyle/>
          <a:p>
            <a:endParaRPr lang="en-US"/>
          </a:p>
        </p:txBody>
      </p:sp>
      <p:sp>
        <p:nvSpPr>
          <p:cNvPr id="10" name="Text 8">
            <a:extLst>
              <a:ext uri="{FF2B5EF4-FFF2-40B4-BE49-F238E27FC236}">
                <a16:creationId xmlns:a16="http://schemas.microsoft.com/office/drawing/2014/main" id="{723043CB-C090-457F-9B39-D0A7F46FD781}"/>
              </a:ext>
            </a:extLst>
          </p:cNvPr>
          <p:cNvSpPr/>
          <p:nvPr/>
        </p:nvSpPr>
        <p:spPr>
          <a:xfrm>
            <a:off x="10401300" y="2606040"/>
            <a:ext cx="7200900" cy="6240780"/>
          </a:xfrm>
          <a:prstGeom prst="rect">
            <a:avLst/>
          </a:prstGeom>
          <a:noFill/>
          <a:ln/>
        </p:spPr>
        <p:txBody>
          <a:bodyPr wrap="square" rtlCol="0" anchor="ctr"/>
          <a:lstStyle/>
          <a:p>
            <a:r>
              <a:rPr lang="en-GB" sz="2000" b="1" dirty="0">
                <a:solidFill>
                  <a:schemeClr val="bg1"/>
                </a:solidFill>
                <a:latin typeface="Arial" panose="020B0604020202020204" pitchFamily="34" charset="0"/>
                <a:cs typeface="Arial" panose="020B0604020202020204" pitchFamily="34" charset="0"/>
              </a:rPr>
              <a:t>START</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LOAD</a:t>
            </a:r>
            <a:r>
              <a:rPr lang="en-GB" sz="2000" dirty="0">
                <a:solidFill>
                  <a:schemeClr val="bg1"/>
                </a:solidFill>
                <a:latin typeface="Arial" panose="020B0604020202020204" pitchFamily="34" charset="0"/>
                <a:cs typeface="Arial" panose="020B0604020202020204" pitchFamily="34" charset="0"/>
              </a:rPr>
              <a:t> TRAIN interactions</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COUNT</a:t>
            </a:r>
            <a:r>
              <a:rPr lang="en-GB" sz="2000" dirty="0">
                <a:solidFill>
                  <a:schemeClr val="bg1"/>
                </a:solidFill>
                <a:latin typeface="Arial" panose="020B0604020202020204" pitchFamily="34" charset="0"/>
                <a:cs typeface="Arial" panose="020B0604020202020204" pitchFamily="34" charset="0"/>
              </a:rPr>
              <a:t> interactions per item</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SORT</a:t>
            </a:r>
            <a:r>
              <a:rPr lang="en-GB" sz="2000" dirty="0">
                <a:solidFill>
                  <a:schemeClr val="bg1"/>
                </a:solidFill>
                <a:latin typeface="Arial" panose="020B0604020202020204" pitchFamily="34" charset="0"/>
                <a:cs typeface="Arial" panose="020B0604020202020204" pitchFamily="34" charset="0"/>
              </a:rPr>
              <a:t> items by count descending</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STORE</a:t>
            </a:r>
            <a:r>
              <a:rPr lang="en-GB" sz="2000" dirty="0">
                <a:solidFill>
                  <a:schemeClr val="bg1"/>
                </a:solidFill>
                <a:latin typeface="Arial" panose="020B0604020202020204" pitchFamily="34" charset="0"/>
                <a:cs typeface="Arial" panose="020B0604020202020204" pitchFamily="34" charset="0"/>
              </a:rPr>
              <a:t> result AS Popular_Items list</a:t>
            </a:r>
            <a:endParaRPr lang="en-US" sz="2000" dirty="0">
              <a:solidFill>
                <a:schemeClr val="bg1"/>
              </a:solidFill>
              <a:latin typeface="Arial" panose="020B0604020202020204" pitchFamily="34" charset="0"/>
              <a:cs typeface="Arial" panose="020B0604020202020204" pitchFamily="34" charset="0"/>
            </a:endParaRPr>
          </a:p>
          <a:p>
            <a:r>
              <a:rPr lang="en-GB" sz="2000" dirty="0">
                <a:solidFill>
                  <a:schemeClr val="bg1"/>
                </a:solidFill>
                <a:latin typeface="Arial" panose="020B0604020202020204" pitchFamily="34" charset="0"/>
                <a:cs typeface="Arial" panose="020B0604020202020204" pitchFamily="34" charset="0"/>
              </a:rPr>
              <a:t> </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INPUT</a:t>
            </a:r>
            <a:r>
              <a:rPr lang="en-GB" sz="2000" dirty="0">
                <a:solidFill>
                  <a:schemeClr val="bg1"/>
                </a:solidFill>
                <a:latin typeface="Arial" panose="020B0604020202020204" pitchFamily="34" charset="0"/>
                <a:cs typeface="Arial" panose="020B0604020202020204" pitchFamily="34" charset="0"/>
              </a:rPr>
              <a:t> user_id</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GET</a:t>
            </a:r>
            <a:r>
              <a:rPr lang="en-GB" sz="2000" dirty="0">
                <a:solidFill>
                  <a:schemeClr val="bg1"/>
                </a:solidFill>
                <a:latin typeface="Arial" panose="020B0604020202020204" pitchFamily="34" charset="0"/>
                <a:cs typeface="Arial" panose="020B0604020202020204" pitchFamily="34" charset="0"/>
              </a:rPr>
              <a:t> items seen by user in TRAIN</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FILTER</a:t>
            </a:r>
            <a:r>
              <a:rPr lang="en-GB" sz="2000" dirty="0">
                <a:solidFill>
                  <a:schemeClr val="bg1"/>
                </a:solidFill>
                <a:latin typeface="Arial" panose="020B0604020202020204" pitchFamily="34" charset="0"/>
                <a:cs typeface="Arial" panose="020B0604020202020204" pitchFamily="34" charset="0"/>
              </a:rPr>
              <a:t> Popular_Items to remove seen items</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SELECT</a:t>
            </a:r>
            <a:r>
              <a:rPr lang="en-GB" sz="2000" dirty="0">
                <a:solidFill>
                  <a:schemeClr val="bg1"/>
                </a:solidFill>
                <a:latin typeface="Arial" panose="020B0604020202020204" pitchFamily="34" charset="0"/>
                <a:cs typeface="Arial" panose="020B0604020202020204" pitchFamily="34" charset="0"/>
              </a:rPr>
              <a:t> Top-N items from remaining list</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    OUTPUT</a:t>
            </a:r>
            <a:r>
              <a:rPr lang="en-GB" sz="2000" dirty="0">
                <a:solidFill>
                  <a:schemeClr val="bg1"/>
                </a:solidFill>
                <a:latin typeface="Arial" panose="020B0604020202020204" pitchFamily="34" charset="0"/>
                <a:cs typeface="Arial" panose="020B0604020202020204" pitchFamily="34" charset="0"/>
              </a:rPr>
              <a:t> Top-N recommended items</a:t>
            </a:r>
            <a:endParaRPr lang="en-US" sz="2000" dirty="0">
              <a:solidFill>
                <a:schemeClr val="bg1"/>
              </a:solidFill>
              <a:latin typeface="Arial" panose="020B0604020202020204" pitchFamily="34" charset="0"/>
              <a:cs typeface="Arial" panose="020B0604020202020204" pitchFamily="34" charset="0"/>
            </a:endParaRPr>
          </a:p>
          <a:p>
            <a:r>
              <a:rPr lang="en-GB" sz="2000" b="1" dirty="0">
                <a:solidFill>
                  <a:schemeClr val="bg1"/>
                </a:solidFill>
                <a:latin typeface="Arial" panose="020B0604020202020204" pitchFamily="34" charset="0"/>
                <a:cs typeface="Arial" panose="020B0604020202020204" pitchFamily="34" charset="0"/>
              </a:rPr>
              <a:t>END</a:t>
            </a:r>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14561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7CBF8D55-231C-E206-7E8F-FD4684E2D1C4}"/>
              </a:ext>
            </a:extLst>
          </p:cNvPr>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2" name="Text 0"/>
          <p:cNvSpPr/>
          <p:nvPr/>
        </p:nvSpPr>
        <p:spPr>
          <a:xfrm>
            <a:off x="822960" y="548640"/>
            <a:ext cx="16733520" cy="822960"/>
          </a:xfrm>
          <a:prstGeom prst="rect">
            <a:avLst/>
          </a:prstGeom>
          <a:noFill/>
          <a:ln/>
        </p:spPr>
        <p:txBody>
          <a:bodyPr wrap="square" rtlCol="0" anchor="ctr"/>
          <a:lstStyle/>
          <a:p>
            <a:r>
              <a:rPr lang="en-US" sz="4500" b="1" dirty="0">
                <a:solidFill>
                  <a:srgbClr val="0F172A"/>
                </a:solidFill>
                <a:latin typeface="Garamond" panose="02020404030301010803" pitchFamily="18" charset="0"/>
                <a:ea typeface="Calibri" pitchFamily="34" charset="-122"/>
                <a:cs typeface="Calibri" pitchFamily="34" charset="-120"/>
              </a:rPr>
              <a:t>9.1. Synthesis: Pseudocode</a:t>
            </a:r>
            <a:endParaRPr lang="en-US" sz="4500" dirty="0">
              <a:latin typeface="Garamond" panose="02020404030301010803" pitchFamily="18" charset="0"/>
            </a:endParaRPr>
          </a:p>
        </p:txBody>
      </p:sp>
      <p:sp>
        <p:nvSpPr>
          <p:cNvPr id="3" name="Shape 1"/>
          <p:cNvSpPr/>
          <p:nvPr/>
        </p:nvSpPr>
        <p:spPr>
          <a:xfrm>
            <a:off x="822960" y="1440180"/>
            <a:ext cx="16733520" cy="0"/>
          </a:xfrm>
          <a:prstGeom prst="line">
            <a:avLst/>
          </a:prstGeom>
          <a:noFill/>
          <a:ln w="12700">
            <a:solidFill>
              <a:srgbClr val="CBD5E1"/>
            </a:solidFill>
            <a:prstDash val="solid"/>
          </a:ln>
        </p:spPr>
        <p:txBody>
          <a:bodyPr/>
          <a:lstStyle/>
          <a:p>
            <a:endParaRPr lang="en-US"/>
          </a:p>
        </p:txBody>
      </p:sp>
      <p:sp>
        <p:nvSpPr>
          <p:cNvPr id="4" name="Shape 2"/>
          <p:cNvSpPr/>
          <p:nvPr/>
        </p:nvSpPr>
        <p:spPr>
          <a:xfrm>
            <a:off x="891540" y="1714500"/>
            <a:ext cx="16527780" cy="8023860"/>
          </a:xfrm>
          <a:prstGeom prst="roundRect">
            <a:avLst/>
          </a:prstGeom>
          <a:solidFill>
            <a:srgbClr val="F8FAFC"/>
          </a:solidFill>
          <a:ln w="12700">
            <a:solidFill>
              <a:srgbClr val="E2E8F0"/>
            </a:solidFill>
            <a:prstDash val="solid"/>
          </a:ln>
          <a:effectLst>
            <a:outerShdw blurRad="38100" dist="12700" dir="2700000" algn="bl" rotWithShape="0">
              <a:srgbClr val="000000">
                <a:alpha val="10000"/>
              </a:srgbClr>
            </a:outerShdw>
          </a:effectLst>
        </p:spPr>
        <p:txBody>
          <a:bodyPr/>
          <a:lstStyle/>
          <a:p>
            <a:endParaRPr lang="en-US"/>
          </a:p>
        </p:txBody>
      </p:sp>
      <p:sp>
        <p:nvSpPr>
          <p:cNvPr id="5" name="Text 3"/>
          <p:cNvSpPr/>
          <p:nvPr/>
        </p:nvSpPr>
        <p:spPr>
          <a:xfrm>
            <a:off x="1371600" y="2125980"/>
            <a:ext cx="7886700" cy="480060"/>
          </a:xfrm>
          <a:prstGeom prst="rect">
            <a:avLst/>
          </a:prstGeom>
          <a:noFill/>
          <a:ln/>
        </p:spPr>
        <p:txBody>
          <a:bodyPr wrap="square" rtlCol="0" anchor="ctr"/>
          <a:lstStyle/>
          <a:p>
            <a:r>
              <a:rPr lang="en-US" sz="2400" b="1" dirty="0">
                <a:solidFill>
                  <a:srgbClr val="0F172A"/>
                </a:solidFill>
                <a:latin typeface="Garamond" panose="02020404030301010803" pitchFamily="18" charset="0"/>
                <a:ea typeface="Calibri" pitchFamily="34" charset="-122"/>
                <a:cs typeface="Calibri" pitchFamily="34" charset="-120"/>
              </a:rPr>
              <a:t>Overall pipeline</a:t>
            </a:r>
            <a:endParaRPr lang="en-US" sz="2400" dirty="0">
              <a:latin typeface="Garamond" panose="02020404030301010803" pitchFamily="18" charset="0"/>
            </a:endParaRPr>
          </a:p>
        </p:txBody>
      </p:sp>
      <p:sp>
        <p:nvSpPr>
          <p:cNvPr id="6" name="Shape 4"/>
          <p:cNvSpPr/>
          <p:nvPr/>
        </p:nvSpPr>
        <p:spPr>
          <a:xfrm>
            <a:off x="1371600" y="2674621"/>
            <a:ext cx="7338060" cy="6605303"/>
          </a:xfrm>
          <a:prstGeom prst="rect">
            <a:avLst/>
          </a:prstGeom>
          <a:solidFill>
            <a:srgbClr val="0B1220"/>
          </a:solidFill>
          <a:ln w="12700">
            <a:solidFill>
              <a:srgbClr val="1F2937"/>
            </a:solidFill>
            <a:prstDash val="solid"/>
          </a:ln>
        </p:spPr>
        <p:txBody>
          <a:bodyPr/>
          <a:lstStyle/>
          <a:p>
            <a:endParaRPr lang="en-US"/>
          </a:p>
        </p:txBody>
      </p:sp>
      <p:sp>
        <p:nvSpPr>
          <p:cNvPr id="7" name="Text 5"/>
          <p:cNvSpPr/>
          <p:nvPr/>
        </p:nvSpPr>
        <p:spPr>
          <a:xfrm>
            <a:off x="1543050" y="3017519"/>
            <a:ext cx="7555230" cy="5862045"/>
          </a:xfrm>
          <a:prstGeom prst="rect">
            <a:avLst/>
          </a:prstGeom>
          <a:noFill/>
          <a:ln/>
        </p:spPr>
        <p:txBody>
          <a:bodyPr wrap="square" rtlCol="0" anchor="ctr"/>
          <a:lstStyle/>
          <a:p>
            <a:r>
              <a:rPr lang="en-GB" sz="1400" b="1" dirty="0">
                <a:solidFill>
                  <a:schemeClr val="bg1"/>
                </a:solidFill>
                <a:latin typeface="Arial" panose="020B0604020202020204" pitchFamily="34" charset="0"/>
                <a:cs typeface="Arial" panose="020B0604020202020204" pitchFamily="34" charset="0"/>
              </a:rPr>
              <a:t>Input</a:t>
            </a:r>
            <a:r>
              <a:rPr lang="en-GB" sz="1400" dirty="0">
                <a:solidFill>
                  <a:schemeClr val="bg1"/>
                </a:solidFill>
                <a:latin typeface="Arial" panose="020B0604020202020204" pitchFamily="34" charset="0"/>
                <a:cs typeface="Arial" panose="020B0604020202020204" pitchFamily="34" charset="0"/>
              </a:rPr>
              <a:t>: reviews.jsonl, metadata.jsonl</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Output</a:t>
            </a:r>
            <a:r>
              <a:rPr lang="en-GB" sz="1400" dirty="0">
                <a:solidFill>
                  <a:schemeClr val="bg1"/>
                </a:solidFill>
                <a:latin typeface="Arial" panose="020B0604020202020204" pitchFamily="34" charset="0"/>
                <a:cs typeface="Arial" panose="020B0604020202020204" pitchFamily="34" charset="0"/>
              </a:rPr>
              <a:t>: cleaned.csv, recommendation results</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START</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LOAD</a:t>
            </a:r>
            <a:r>
              <a:rPr lang="en-GB" sz="1400" dirty="0">
                <a:solidFill>
                  <a:schemeClr val="bg1"/>
                </a:solidFill>
                <a:latin typeface="Arial" panose="020B0604020202020204" pitchFamily="34" charset="0"/>
                <a:cs typeface="Arial" panose="020B0604020202020204" pitchFamily="34" charset="0"/>
              </a:rPr>
              <a:t> Electronics reviews dataset</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LOAD</a:t>
            </a:r>
            <a:r>
              <a:rPr lang="en-GB" sz="1400" dirty="0">
                <a:solidFill>
                  <a:schemeClr val="bg1"/>
                </a:solidFill>
                <a:latin typeface="Arial" panose="020B0604020202020204" pitchFamily="34" charset="0"/>
                <a:cs typeface="Arial" panose="020B0604020202020204" pitchFamily="34" charset="0"/>
              </a:rPr>
              <a:t> Electronics metadata dataset</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MERGE</a:t>
            </a:r>
            <a:r>
              <a:rPr lang="en-GB" sz="1400" dirty="0">
                <a:solidFill>
                  <a:schemeClr val="bg1"/>
                </a:solidFill>
                <a:latin typeface="Arial" panose="020B0604020202020204" pitchFamily="34" charset="0"/>
                <a:cs typeface="Arial" panose="020B0604020202020204" pitchFamily="34" charset="0"/>
              </a:rPr>
              <a:t> reviews and metadata ON parent_asin</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CLEAN</a:t>
            </a:r>
            <a:r>
              <a:rPr lang="en-GB" sz="1400" dirty="0">
                <a:solidFill>
                  <a:schemeClr val="bg1"/>
                </a:solidFill>
                <a:latin typeface="Arial" panose="020B0604020202020204" pitchFamily="34" charset="0"/>
                <a:cs typeface="Arial" panose="020B0604020202020204" pitchFamily="34" charset="0"/>
              </a:rPr>
              <a:t> dataset (drop missing values, drop duplicates, filter minimum interactions)</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EXPORT</a:t>
            </a:r>
            <a:r>
              <a:rPr lang="en-GB" sz="1400" dirty="0">
                <a:solidFill>
                  <a:schemeClr val="bg1"/>
                </a:solidFill>
                <a:latin typeface="Arial" panose="020B0604020202020204" pitchFamily="34" charset="0"/>
                <a:cs typeface="Arial" panose="020B0604020202020204" pitchFamily="34" charset="0"/>
              </a:rPr>
              <a:t> cleaned dataset AS CSV</a:t>
            </a:r>
            <a:endParaRPr lang="en-US" sz="1400" dirty="0">
              <a:solidFill>
                <a:schemeClr val="bg1"/>
              </a:solidFill>
              <a:latin typeface="Arial" panose="020B0604020202020204" pitchFamily="34" charset="0"/>
              <a:cs typeface="Arial" panose="020B0604020202020204" pitchFamily="34" charset="0"/>
            </a:endParaRPr>
          </a:p>
          <a:p>
            <a:r>
              <a:rPr lang="en-GB" sz="1400" dirty="0">
                <a:solidFill>
                  <a:schemeClr val="bg1"/>
                </a:solidFill>
                <a:latin typeface="Arial" panose="020B0604020202020204" pitchFamily="34" charset="0"/>
                <a:cs typeface="Arial" panose="020B0604020202020204" pitchFamily="34" charset="0"/>
              </a:rPr>
              <a:t>	</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LOAD</a:t>
            </a:r>
            <a:r>
              <a:rPr lang="en-GB" sz="1400" dirty="0">
                <a:solidFill>
                  <a:schemeClr val="bg1"/>
                </a:solidFill>
                <a:latin typeface="Arial" panose="020B0604020202020204" pitchFamily="34" charset="0"/>
                <a:cs typeface="Arial" panose="020B0604020202020204" pitchFamily="34" charset="0"/>
              </a:rPr>
              <a:t> cleaned CSV (Notebook 2)</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RUN EDA</a:t>
            </a:r>
            <a:r>
              <a:rPr lang="en-GB" sz="1400" dirty="0">
                <a:solidFill>
                  <a:schemeClr val="bg1"/>
                </a:solidFill>
                <a:latin typeface="Arial" panose="020B0604020202020204" pitchFamily="34" charset="0"/>
                <a:cs typeface="Arial" panose="020B0604020202020204" pitchFamily="34" charset="0"/>
              </a:rPr>
              <a:t> plots and summaries</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APPLY</a:t>
            </a:r>
            <a:r>
              <a:rPr lang="en-GB" sz="1400" dirty="0">
                <a:solidFill>
                  <a:schemeClr val="bg1"/>
                </a:solidFill>
                <a:latin typeface="Arial" panose="020B0604020202020204" pitchFamily="34" charset="0"/>
                <a:cs typeface="Arial" panose="020B0604020202020204" pitchFamily="34" charset="0"/>
              </a:rPr>
              <a:t> time-aware split INTO TRAIN and TEST</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BUILD</a:t>
            </a:r>
            <a:r>
              <a:rPr lang="en-GB" sz="1400" dirty="0">
                <a:solidFill>
                  <a:schemeClr val="bg1"/>
                </a:solidFill>
                <a:latin typeface="Arial" panose="020B0604020202020204" pitchFamily="34" charset="0"/>
                <a:cs typeface="Arial" panose="020B0604020202020204" pitchFamily="34" charset="0"/>
              </a:rPr>
              <a:t> user-item matrix R FROM TRAIN</a:t>
            </a:r>
            <a:endParaRPr lang="en-US" sz="1400" dirty="0">
              <a:solidFill>
                <a:schemeClr val="bg1"/>
              </a:solidFill>
              <a:latin typeface="Arial" panose="020B0604020202020204" pitchFamily="34" charset="0"/>
              <a:cs typeface="Arial" panose="020B0604020202020204" pitchFamily="34" charset="0"/>
            </a:endParaRPr>
          </a:p>
          <a:p>
            <a:r>
              <a:rPr lang="en-GB" sz="1400" dirty="0">
                <a:solidFill>
                  <a:schemeClr val="bg1"/>
                </a:solidFill>
                <a:latin typeface="Arial" panose="020B0604020202020204" pitchFamily="34" charset="0"/>
                <a:cs typeface="Arial" panose="020B0604020202020204" pitchFamily="34" charset="0"/>
              </a:rPr>
              <a:t> </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TRAIN</a:t>
            </a:r>
            <a:r>
              <a:rPr lang="en-GB" sz="1400" dirty="0">
                <a:solidFill>
                  <a:schemeClr val="bg1"/>
                </a:solidFill>
                <a:latin typeface="Arial" panose="020B0604020202020204" pitchFamily="34" charset="0"/>
                <a:cs typeface="Arial" panose="020B0604020202020204" pitchFamily="34" charset="0"/>
              </a:rPr>
              <a:t> popularity baseline USING TRAIN</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TRAIN</a:t>
            </a:r>
            <a:r>
              <a:rPr lang="en-GB" sz="1400" dirty="0">
                <a:solidFill>
                  <a:schemeClr val="bg1"/>
                </a:solidFill>
                <a:latin typeface="Arial" panose="020B0604020202020204" pitchFamily="34" charset="0"/>
                <a:cs typeface="Arial" panose="020B0604020202020204" pitchFamily="34" charset="0"/>
              </a:rPr>
              <a:t> item-item cosine similarity model USING R</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TRAIN</a:t>
            </a:r>
            <a:r>
              <a:rPr lang="en-GB" sz="1400" dirty="0">
                <a:solidFill>
                  <a:schemeClr val="bg1"/>
                </a:solidFill>
                <a:latin typeface="Arial" panose="020B0604020202020204" pitchFamily="34" charset="0"/>
                <a:cs typeface="Arial" panose="020B0604020202020204" pitchFamily="34" charset="0"/>
              </a:rPr>
              <a:t> TruncatedSVD model USING R and reconstruct predicted scores</a:t>
            </a:r>
            <a:endParaRPr lang="en-US" sz="1400" dirty="0">
              <a:solidFill>
                <a:schemeClr val="bg1"/>
              </a:solidFill>
              <a:latin typeface="Arial" panose="020B0604020202020204" pitchFamily="34" charset="0"/>
              <a:cs typeface="Arial" panose="020B0604020202020204" pitchFamily="34" charset="0"/>
            </a:endParaRPr>
          </a:p>
          <a:p>
            <a:r>
              <a:rPr lang="en-GB" sz="1400" dirty="0">
                <a:solidFill>
                  <a:schemeClr val="bg1"/>
                </a:solidFill>
                <a:latin typeface="Arial" panose="020B0604020202020204" pitchFamily="34" charset="0"/>
                <a:cs typeface="Arial" panose="020B0604020202020204" pitchFamily="34" charset="0"/>
              </a:rPr>
              <a:t> </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EVALUATE</a:t>
            </a:r>
            <a:r>
              <a:rPr lang="en-GB" sz="1400" dirty="0">
                <a:solidFill>
                  <a:schemeClr val="bg1"/>
                </a:solidFill>
                <a:latin typeface="Arial" panose="020B0604020202020204" pitchFamily="34" charset="0"/>
                <a:cs typeface="Arial" panose="020B0604020202020204" pitchFamily="34" charset="0"/>
              </a:rPr>
              <a:t> each model USING Precision@K, Recall@K, NDCG@K</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OUTPUT</a:t>
            </a:r>
            <a:r>
              <a:rPr lang="en-GB" sz="1400" dirty="0">
                <a:solidFill>
                  <a:schemeClr val="bg1"/>
                </a:solidFill>
                <a:latin typeface="Arial" panose="020B0604020202020204" pitchFamily="34" charset="0"/>
                <a:cs typeface="Arial" panose="020B0604020202020204" pitchFamily="34" charset="0"/>
              </a:rPr>
              <a:t> metrics table and comparison bar chart</a:t>
            </a:r>
            <a:endParaRPr lang="en-US" sz="1400" dirty="0">
              <a:solidFill>
                <a:schemeClr val="bg1"/>
              </a:solidFill>
              <a:latin typeface="Arial" panose="020B0604020202020204" pitchFamily="34" charset="0"/>
              <a:cs typeface="Arial" panose="020B0604020202020204" pitchFamily="34" charset="0"/>
            </a:endParaRPr>
          </a:p>
          <a:p>
            <a:r>
              <a:rPr lang="en-GB" sz="1400" dirty="0">
                <a:solidFill>
                  <a:schemeClr val="bg1"/>
                </a:solidFill>
                <a:latin typeface="Arial" panose="020B0604020202020204" pitchFamily="34" charset="0"/>
                <a:cs typeface="Arial" panose="020B0604020202020204" pitchFamily="34" charset="0"/>
              </a:rPr>
              <a:t> </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ASK</a:t>
            </a:r>
            <a:r>
              <a:rPr lang="en-GB" sz="1400" dirty="0">
                <a:solidFill>
                  <a:schemeClr val="bg1"/>
                </a:solidFill>
                <a:latin typeface="Arial" panose="020B0604020202020204" pitchFamily="34" charset="0"/>
                <a:cs typeface="Arial" panose="020B0604020202020204" pitchFamily="34" charset="0"/>
              </a:rPr>
              <a:t> user: "User wants recommendations?"</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IF</a:t>
            </a:r>
            <a:r>
              <a:rPr lang="en-GB" sz="1400" dirty="0">
                <a:solidFill>
                  <a:schemeClr val="bg1"/>
                </a:solidFill>
                <a:latin typeface="Arial" panose="020B0604020202020204" pitchFamily="34" charset="0"/>
                <a:cs typeface="Arial" panose="020B0604020202020204" pitchFamily="34" charset="0"/>
              </a:rPr>
              <a:t> user says </a:t>
            </a:r>
            <a:r>
              <a:rPr lang="en-GB" sz="1400" b="1" dirty="0">
                <a:solidFill>
                  <a:schemeClr val="bg1"/>
                </a:solidFill>
                <a:latin typeface="Arial" panose="020B0604020202020204" pitchFamily="34" charset="0"/>
                <a:cs typeface="Arial" panose="020B0604020202020204" pitchFamily="34" charset="0"/>
              </a:rPr>
              <a:t>NO</a:t>
            </a:r>
            <a:r>
              <a:rPr lang="en-GB" sz="1400" dirty="0">
                <a:solidFill>
                  <a:schemeClr val="bg1"/>
                </a:solidFill>
                <a:latin typeface="Arial" panose="020B0604020202020204" pitchFamily="34" charset="0"/>
                <a:cs typeface="Arial" panose="020B0604020202020204" pitchFamily="34" charset="0"/>
              </a:rPr>
              <a:t> </a:t>
            </a:r>
            <a:r>
              <a:rPr lang="en-GB" sz="1400" b="1" dirty="0">
                <a:solidFill>
                  <a:schemeClr val="bg1"/>
                </a:solidFill>
                <a:latin typeface="Arial" panose="020B0604020202020204" pitchFamily="34" charset="0"/>
                <a:cs typeface="Arial" panose="020B0604020202020204" pitchFamily="34" charset="0"/>
              </a:rPr>
              <a:t>THEN</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END</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ELSE</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INPUT</a:t>
            </a:r>
            <a:r>
              <a:rPr lang="en-GB" sz="1400" dirty="0">
                <a:solidFill>
                  <a:schemeClr val="bg1"/>
                </a:solidFill>
                <a:latin typeface="Arial" panose="020B0604020202020204" pitchFamily="34" charset="0"/>
                <a:cs typeface="Arial" panose="020B0604020202020204" pitchFamily="34" charset="0"/>
              </a:rPr>
              <a:t> method choice and user_id</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GENERATE</a:t>
            </a:r>
            <a:r>
              <a:rPr lang="en-GB" sz="1400" dirty="0">
                <a:solidFill>
                  <a:schemeClr val="bg1"/>
                </a:solidFill>
                <a:latin typeface="Arial" panose="020B0604020202020204" pitchFamily="34" charset="0"/>
                <a:cs typeface="Arial" panose="020B0604020202020204" pitchFamily="34" charset="0"/>
              </a:rPr>
              <a:t> Top-N recommendations using chosen method</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OUTPUT</a:t>
            </a:r>
            <a:r>
              <a:rPr lang="en-GB" sz="1400" dirty="0">
                <a:solidFill>
                  <a:schemeClr val="bg1"/>
                </a:solidFill>
                <a:latin typeface="Arial" panose="020B0604020202020204" pitchFamily="34" charset="0"/>
                <a:cs typeface="Arial" panose="020B0604020202020204" pitchFamily="34" charset="0"/>
              </a:rPr>
              <a:t> results by mapping ASIN to title and printing recommendations</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GO BACK</a:t>
            </a:r>
            <a:r>
              <a:rPr lang="en-GB" sz="1400" dirty="0">
                <a:solidFill>
                  <a:schemeClr val="bg1"/>
                </a:solidFill>
                <a:latin typeface="Arial" panose="020B0604020202020204" pitchFamily="34" charset="0"/>
                <a:cs typeface="Arial" panose="020B0604020202020204" pitchFamily="34" charset="0"/>
              </a:rPr>
              <a:t> to "User wants recommendations?"</a:t>
            </a:r>
            <a:endParaRPr lang="en-US" sz="1400" dirty="0">
              <a:solidFill>
                <a:schemeClr val="bg1"/>
              </a:solidFill>
              <a:latin typeface="Arial" panose="020B0604020202020204" pitchFamily="34" charset="0"/>
              <a:cs typeface="Arial" panose="020B0604020202020204" pitchFamily="34" charset="0"/>
            </a:endParaRPr>
          </a:p>
          <a:p>
            <a:r>
              <a:rPr lang="en-GB" sz="1400" b="1" dirty="0">
                <a:solidFill>
                  <a:schemeClr val="bg1"/>
                </a:solidFill>
                <a:latin typeface="Arial" panose="020B0604020202020204" pitchFamily="34" charset="0"/>
                <a:cs typeface="Arial" panose="020B0604020202020204" pitchFamily="34" charset="0"/>
              </a:rPr>
              <a:t>       ENDIF</a:t>
            </a:r>
            <a:endParaRPr lang="en-US" sz="1400" dirty="0">
              <a:solidFill>
                <a:schemeClr val="bg1"/>
              </a:solidFill>
              <a:latin typeface="Arial" panose="020B0604020202020204" pitchFamily="34" charset="0"/>
              <a:cs typeface="Arial" panose="020B0604020202020204" pitchFamily="34" charset="0"/>
            </a:endParaRPr>
          </a:p>
        </p:txBody>
      </p:sp>
      <p:sp>
        <p:nvSpPr>
          <p:cNvPr id="8" name="Text 6"/>
          <p:cNvSpPr/>
          <p:nvPr/>
        </p:nvSpPr>
        <p:spPr>
          <a:xfrm>
            <a:off x="9601200" y="2125980"/>
            <a:ext cx="7749540" cy="480060"/>
          </a:xfrm>
          <a:prstGeom prst="rect">
            <a:avLst/>
          </a:prstGeom>
          <a:noFill/>
          <a:ln/>
        </p:spPr>
        <p:txBody>
          <a:bodyPr wrap="square" rtlCol="0" anchor="ctr"/>
          <a:lstStyle/>
          <a:p>
            <a:r>
              <a:rPr lang="en-US" sz="2400" b="1" dirty="0">
                <a:solidFill>
                  <a:srgbClr val="0F172A"/>
                </a:solidFill>
                <a:latin typeface="Garamond" panose="02020404030301010803" pitchFamily="18" charset="0"/>
                <a:ea typeface="Calibri" pitchFamily="34" charset="-122"/>
                <a:cs typeface="Calibri" pitchFamily="34" charset="-120"/>
              </a:rPr>
              <a:t>TruncatedSVD recommendation</a:t>
            </a:r>
            <a:endParaRPr lang="en-US" sz="2400" dirty="0">
              <a:latin typeface="Garamond" panose="02020404030301010803" pitchFamily="18" charset="0"/>
            </a:endParaRPr>
          </a:p>
        </p:txBody>
      </p:sp>
      <p:sp>
        <p:nvSpPr>
          <p:cNvPr id="9" name="Shape 7"/>
          <p:cNvSpPr/>
          <p:nvPr/>
        </p:nvSpPr>
        <p:spPr>
          <a:xfrm>
            <a:off x="9601200" y="2674620"/>
            <a:ext cx="7315200" cy="6605304"/>
          </a:xfrm>
          <a:prstGeom prst="rect">
            <a:avLst/>
          </a:prstGeom>
          <a:solidFill>
            <a:srgbClr val="0B1220"/>
          </a:solidFill>
          <a:ln w="12700">
            <a:solidFill>
              <a:srgbClr val="1F2937"/>
            </a:solidFill>
            <a:prstDash val="solid"/>
          </a:ln>
        </p:spPr>
        <p:txBody>
          <a:bodyPr/>
          <a:lstStyle/>
          <a:p>
            <a:endParaRPr lang="en-US"/>
          </a:p>
        </p:txBody>
      </p:sp>
      <p:sp>
        <p:nvSpPr>
          <p:cNvPr id="10" name="Text 8"/>
          <p:cNvSpPr/>
          <p:nvPr/>
        </p:nvSpPr>
        <p:spPr>
          <a:xfrm>
            <a:off x="10401300" y="2606040"/>
            <a:ext cx="7200900" cy="6240780"/>
          </a:xfrm>
          <a:prstGeom prst="rect">
            <a:avLst/>
          </a:prstGeom>
          <a:noFill/>
          <a:ln/>
        </p:spPr>
        <p:txBody>
          <a:bodyPr wrap="square" rtlCol="0" anchor="ctr"/>
          <a:lstStyle/>
          <a:p>
            <a:r>
              <a:rPr lang="en-GB" sz="1800" b="1" dirty="0">
                <a:solidFill>
                  <a:schemeClr val="bg1"/>
                </a:solidFill>
                <a:latin typeface="Arial" panose="020B0604020202020204" pitchFamily="34" charset="0"/>
                <a:cs typeface="Arial" panose="020B0604020202020204" pitchFamily="34" charset="0"/>
              </a:rPr>
              <a:t>START</a:t>
            </a:r>
            <a:endParaRPr lang="en-US" sz="1800" dirty="0">
              <a:solidFill>
                <a:schemeClr val="bg1"/>
              </a:solidFill>
              <a:latin typeface="Arial" panose="020B0604020202020204" pitchFamily="34" charset="0"/>
              <a:cs typeface="Arial" panose="020B0604020202020204" pitchFamily="34" charset="0"/>
            </a:endParaRPr>
          </a:p>
          <a:p>
            <a:r>
              <a:rPr lang="en-GB" sz="1800" b="1" dirty="0">
                <a:solidFill>
                  <a:schemeClr val="bg1"/>
                </a:solidFill>
                <a:latin typeface="Arial" panose="020B0604020202020204" pitchFamily="34" charset="0"/>
                <a:cs typeface="Arial" panose="020B0604020202020204" pitchFamily="34" charset="0"/>
              </a:rPr>
              <a:t>    LOAD</a:t>
            </a:r>
            <a:r>
              <a:rPr lang="en-GB" sz="1800" dirty="0">
                <a:solidFill>
                  <a:schemeClr val="bg1"/>
                </a:solidFill>
                <a:latin typeface="Arial" panose="020B0604020202020204" pitchFamily="34" charset="0"/>
                <a:cs typeface="Arial" panose="020B0604020202020204" pitchFamily="34" charset="0"/>
              </a:rPr>
              <a:t> TRAIN user-item matrix R</a:t>
            </a:r>
            <a:endParaRPr lang="en-US" sz="1800" dirty="0">
              <a:solidFill>
                <a:schemeClr val="bg1"/>
              </a:solidFill>
              <a:latin typeface="Arial" panose="020B0604020202020204" pitchFamily="34" charset="0"/>
              <a:cs typeface="Arial" panose="020B0604020202020204" pitchFamily="34" charset="0"/>
            </a:endParaRPr>
          </a:p>
          <a:p>
            <a:r>
              <a:rPr lang="en-GB" sz="1800" b="1" dirty="0">
                <a:solidFill>
                  <a:schemeClr val="bg1"/>
                </a:solidFill>
                <a:latin typeface="Arial" panose="020B0604020202020204" pitchFamily="34" charset="0"/>
                <a:cs typeface="Arial" panose="020B0604020202020204" pitchFamily="34" charset="0"/>
              </a:rPr>
              <a:t>    FIT</a:t>
            </a:r>
            <a:r>
              <a:rPr lang="en-GB" sz="1800" dirty="0">
                <a:solidFill>
                  <a:schemeClr val="bg1"/>
                </a:solidFill>
                <a:latin typeface="Arial" panose="020B0604020202020204" pitchFamily="34" charset="0"/>
                <a:cs typeface="Arial" panose="020B0604020202020204" pitchFamily="34" charset="0"/>
              </a:rPr>
              <a:t> TruncatedSVD on R</a:t>
            </a:r>
            <a:endParaRPr lang="en-US" sz="1800" dirty="0">
              <a:solidFill>
                <a:schemeClr val="bg1"/>
              </a:solidFill>
              <a:latin typeface="Arial" panose="020B0604020202020204" pitchFamily="34" charset="0"/>
              <a:cs typeface="Arial" panose="020B0604020202020204" pitchFamily="34" charset="0"/>
            </a:endParaRPr>
          </a:p>
          <a:p>
            <a:r>
              <a:rPr lang="en-GB" sz="1800" b="1" dirty="0">
                <a:solidFill>
                  <a:schemeClr val="bg1"/>
                </a:solidFill>
                <a:latin typeface="Arial" panose="020B0604020202020204" pitchFamily="34" charset="0"/>
                <a:cs typeface="Arial" panose="020B0604020202020204" pitchFamily="34" charset="0"/>
              </a:rPr>
              <a:t>    COMPUTE</a:t>
            </a:r>
            <a:r>
              <a:rPr lang="en-GB" sz="1800" dirty="0">
                <a:solidFill>
                  <a:schemeClr val="bg1"/>
                </a:solidFill>
                <a:latin typeface="Arial" panose="020B0604020202020204" pitchFamily="34" charset="0"/>
                <a:cs typeface="Arial" panose="020B0604020202020204" pitchFamily="34" charset="0"/>
              </a:rPr>
              <a:t> latent user factors and item components</a:t>
            </a:r>
            <a:endParaRPr lang="en-US" sz="1800" dirty="0">
              <a:solidFill>
                <a:schemeClr val="bg1"/>
              </a:solidFill>
              <a:latin typeface="Arial" panose="020B0604020202020204" pitchFamily="34" charset="0"/>
              <a:cs typeface="Arial" panose="020B0604020202020204" pitchFamily="34" charset="0"/>
            </a:endParaRPr>
          </a:p>
          <a:p>
            <a:r>
              <a:rPr lang="en-GB" sz="1800" b="1" dirty="0">
                <a:solidFill>
                  <a:schemeClr val="bg1"/>
                </a:solidFill>
                <a:latin typeface="Arial" panose="020B0604020202020204" pitchFamily="34" charset="0"/>
                <a:cs typeface="Arial" panose="020B0604020202020204" pitchFamily="34" charset="0"/>
              </a:rPr>
              <a:t>    RECONSTRUCT</a:t>
            </a:r>
            <a:r>
              <a:rPr lang="en-GB" sz="1800" dirty="0">
                <a:solidFill>
                  <a:schemeClr val="bg1"/>
                </a:solidFill>
                <a:latin typeface="Arial" panose="020B0604020202020204" pitchFamily="34" charset="0"/>
                <a:cs typeface="Arial" panose="020B0604020202020204" pitchFamily="34" charset="0"/>
              </a:rPr>
              <a:t> predicted score matrix</a:t>
            </a:r>
            <a:endParaRPr lang="en-US" sz="1800" dirty="0">
              <a:solidFill>
                <a:schemeClr val="bg1"/>
              </a:solidFill>
              <a:latin typeface="Arial" panose="020B0604020202020204" pitchFamily="34" charset="0"/>
              <a:cs typeface="Arial" panose="020B0604020202020204" pitchFamily="34" charset="0"/>
            </a:endParaRPr>
          </a:p>
          <a:p>
            <a:r>
              <a:rPr lang="en-GB" sz="1800" dirty="0">
                <a:solidFill>
                  <a:schemeClr val="bg1"/>
                </a:solidFill>
                <a:latin typeface="Arial" panose="020B0604020202020204" pitchFamily="34" charset="0"/>
                <a:cs typeface="Arial" panose="020B0604020202020204" pitchFamily="34" charset="0"/>
              </a:rPr>
              <a:t> </a:t>
            </a:r>
            <a:endParaRPr lang="en-US" sz="1800" dirty="0">
              <a:solidFill>
                <a:schemeClr val="bg1"/>
              </a:solidFill>
              <a:latin typeface="Arial" panose="020B0604020202020204" pitchFamily="34" charset="0"/>
              <a:cs typeface="Arial" panose="020B0604020202020204" pitchFamily="34" charset="0"/>
            </a:endParaRPr>
          </a:p>
          <a:p>
            <a:r>
              <a:rPr lang="en-GB" sz="1800" b="1" dirty="0">
                <a:solidFill>
                  <a:schemeClr val="bg1"/>
                </a:solidFill>
                <a:latin typeface="Arial" panose="020B0604020202020204" pitchFamily="34" charset="0"/>
                <a:cs typeface="Arial" panose="020B0604020202020204" pitchFamily="34" charset="0"/>
              </a:rPr>
              <a:t>    INPUT</a:t>
            </a:r>
            <a:r>
              <a:rPr lang="en-GB" sz="1800" dirty="0">
                <a:solidFill>
                  <a:schemeClr val="bg1"/>
                </a:solidFill>
                <a:latin typeface="Arial" panose="020B0604020202020204" pitchFamily="34" charset="0"/>
                <a:cs typeface="Arial" panose="020B0604020202020204" pitchFamily="34" charset="0"/>
              </a:rPr>
              <a:t> user_id</a:t>
            </a:r>
            <a:endParaRPr lang="en-US" sz="1800" dirty="0">
              <a:solidFill>
                <a:schemeClr val="bg1"/>
              </a:solidFill>
              <a:latin typeface="Arial" panose="020B0604020202020204" pitchFamily="34" charset="0"/>
              <a:cs typeface="Arial" panose="020B0604020202020204" pitchFamily="34" charset="0"/>
            </a:endParaRPr>
          </a:p>
          <a:p>
            <a:r>
              <a:rPr lang="en-GB" sz="1800" b="1" dirty="0">
                <a:solidFill>
                  <a:schemeClr val="bg1"/>
                </a:solidFill>
                <a:latin typeface="Arial" panose="020B0604020202020204" pitchFamily="34" charset="0"/>
                <a:cs typeface="Arial" panose="020B0604020202020204" pitchFamily="34" charset="0"/>
              </a:rPr>
              <a:t>    GET</a:t>
            </a:r>
            <a:r>
              <a:rPr lang="en-GB" sz="1800" dirty="0">
                <a:solidFill>
                  <a:schemeClr val="bg1"/>
                </a:solidFill>
                <a:latin typeface="Arial" panose="020B0604020202020204" pitchFamily="34" charset="0"/>
                <a:cs typeface="Arial" panose="020B0604020202020204" pitchFamily="34" charset="0"/>
              </a:rPr>
              <a:t> predicted scores for user across all items</a:t>
            </a:r>
            <a:endParaRPr lang="en-US" sz="1800" dirty="0">
              <a:solidFill>
                <a:schemeClr val="bg1"/>
              </a:solidFill>
              <a:latin typeface="Arial" panose="020B0604020202020204" pitchFamily="34" charset="0"/>
              <a:cs typeface="Arial" panose="020B0604020202020204" pitchFamily="34" charset="0"/>
            </a:endParaRPr>
          </a:p>
          <a:p>
            <a:r>
              <a:rPr lang="en-GB" sz="1800" b="1" dirty="0">
                <a:solidFill>
                  <a:schemeClr val="bg1"/>
                </a:solidFill>
                <a:latin typeface="Arial" panose="020B0604020202020204" pitchFamily="34" charset="0"/>
                <a:cs typeface="Arial" panose="020B0604020202020204" pitchFamily="34" charset="0"/>
              </a:rPr>
              <a:t>    REMOVE</a:t>
            </a:r>
            <a:r>
              <a:rPr lang="en-GB" sz="1800" dirty="0">
                <a:solidFill>
                  <a:schemeClr val="bg1"/>
                </a:solidFill>
                <a:latin typeface="Arial" panose="020B0604020202020204" pitchFamily="34" charset="0"/>
                <a:cs typeface="Arial" panose="020B0604020202020204" pitchFamily="34" charset="0"/>
              </a:rPr>
              <a:t> items already seen in TRAIN</a:t>
            </a:r>
            <a:endParaRPr lang="en-US" sz="1800" dirty="0">
              <a:solidFill>
                <a:schemeClr val="bg1"/>
              </a:solidFill>
              <a:latin typeface="Arial" panose="020B0604020202020204" pitchFamily="34" charset="0"/>
              <a:cs typeface="Arial" panose="020B0604020202020204" pitchFamily="34" charset="0"/>
            </a:endParaRPr>
          </a:p>
          <a:p>
            <a:r>
              <a:rPr lang="en-GB" sz="1800" b="1" dirty="0">
                <a:solidFill>
                  <a:schemeClr val="bg1"/>
                </a:solidFill>
                <a:latin typeface="Arial" panose="020B0604020202020204" pitchFamily="34" charset="0"/>
                <a:cs typeface="Arial" panose="020B0604020202020204" pitchFamily="34" charset="0"/>
              </a:rPr>
              <a:t>    SORT</a:t>
            </a:r>
            <a:r>
              <a:rPr lang="en-GB" sz="1800" dirty="0">
                <a:solidFill>
                  <a:schemeClr val="bg1"/>
                </a:solidFill>
                <a:latin typeface="Arial" panose="020B0604020202020204" pitchFamily="34" charset="0"/>
                <a:cs typeface="Arial" panose="020B0604020202020204" pitchFamily="34" charset="0"/>
              </a:rPr>
              <a:t> remaining items by score descending</a:t>
            </a:r>
            <a:endParaRPr lang="en-US" sz="1800" dirty="0">
              <a:solidFill>
                <a:schemeClr val="bg1"/>
              </a:solidFill>
              <a:latin typeface="Arial" panose="020B0604020202020204" pitchFamily="34" charset="0"/>
              <a:cs typeface="Arial" panose="020B0604020202020204" pitchFamily="34" charset="0"/>
            </a:endParaRPr>
          </a:p>
          <a:p>
            <a:r>
              <a:rPr lang="en-GB" sz="1800" b="1" dirty="0">
                <a:solidFill>
                  <a:schemeClr val="bg1"/>
                </a:solidFill>
                <a:latin typeface="Arial" panose="020B0604020202020204" pitchFamily="34" charset="0"/>
                <a:cs typeface="Arial" panose="020B0604020202020204" pitchFamily="34" charset="0"/>
              </a:rPr>
              <a:t>    SELECT</a:t>
            </a:r>
            <a:r>
              <a:rPr lang="en-GB" sz="1800" dirty="0">
                <a:solidFill>
                  <a:schemeClr val="bg1"/>
                </a:solidFill>
                <a:latin typeface="Arial" panose="020B0604020202020204" pitchFamily="34" charset="0"/>
                <a:cs typeface="Arial" panose="020B0604020202020204" pitchFamily="34" charset="0"/>
              </a:rPr>
              <a:t> Top-N items</a:t>
            </a:r>
            <a:endParaRPr lang="en-US" sz="1800" dirty="0">
              <a:solidFill>
                <a:schemeClr val="bg1"/>
              </a:solidFill>
              <a:latin typeface="Arial" panose="020B0604020202020204" pitchFamily="34" charset="0"/>
              <a:cs typeface="Arial" panose="020B0604020202020204" pitchFamily="34" charset="0"/>
            </a:endParaRPr>
          </a:p>
          <a:p>
            <a:r>
              <a:rPr lang="en-GB" sz="1800" b="1" dirty="0">
                <a:solidFill>
                  <a:schemeClr val="bg1"/>
                </a:solidFill>
                <a:latin typeface="Arial" panose="020B0604020202020204" pitchFamily="34" charset="0"/>
                <a:cs typeface="Arial" panose="020B0604020202020204" pitchFamily="34" charset="0"/>
              </a:rPr>
              <a:t>    OUTPUT</a:t>
            </a:r>
            <a:r>
              <a:rPr lang="en-GB" sz="1800" dirty="0">
                <a:solidFill>
                  <a:schemeClr val="bg1"/>
                </a:solidFill>
                <a:latin typeface="Arial" panose="020B0604020202020204" pitchFamily="34" charset="0"/>
                <a:cs typeface="Arial" panose="020B0604020202020204" pitchFamily="34" charset="0"/>
              </a:rPr>
              <a:t> Top-N recommended items</a:t>
            </a:r>
            <a:endParaRPr lang="en-US" sz="1800" dirty="0">
              <a:solidFill>
                <a:schemeClr val="bg1"/>
              </a:solidFill>
              <a:latin typeface="Arial" panose="020B0604020202020204" pitchFamily="34" charset="0"/>
              <a:cs typeface="Arial" panose="020B0604020202020204" pitchFamily="34" charset="0"/>
            </a:endParaRPr>
          </a:p>
          <a:p>
            <a:r>
              <a:rPr lang="en-GB" sz="1800" b="1" dirty="0">
                <a:solidFill>
                  <a:schemeClr val="bg1"/>
                </a:solidFill>
                <a:latin typeface="Arial" panose="020B0604020202020204" pitchFamily="34" charset="0"/>
                <a:cs typeface="Arial" panose="020B0604020202020204" pitchFamily="34" charset="0"/>
              </a:rPr>
              <a:t>END</a:t>
            </a:r>
            <a:endParaRPr lang="en-US" sz="180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1C88-999E-7737-74C5-A8431C860578}"/>
            </a:ext>
          </a:extLst>
        </p:cNvPr>
        <p:cNvGrpSpPr/>
        <p:nvPr/>
      </p:nvGrpSpPr>
      <p:grpSpPr>
        <a:xfrm>
          <a:off x="0" y="0"/>
          <a:ext cx="0" cy="0"/>
          <a:chOff x="0" y="0"/>
          <a:chExt cx="0" cy="0"/>
        </a:xfrm>
      </p:grpSpPr>
      <p:sp>
        <p:nvSpPr>
          <p:cNvPr id="11" name="object 2">
            <a:extLst>
              <a:ext uri="{FF2B5EF4-FFF2-40B4-BE49-F238E27FC236}">
                <a16:creationId xmlns:a16="http://schemas.microsoft.com/office/drawing/2014/main" id="{D5250D2D-3771-A7C2-8976-6834E5B42165}"/>
              </a:ext>
            </a:extLst>
          </p:cNvPr>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2" name="Text 0">
            <a:extLst>
              <a:ext uri="{FF2B5EF4-FFF2-40B4-BE49-F238E27FC236}">
                <a16:creationId xmlns:a16="http://schemas.microsoft.com/office/drawing/2014/main" id="{DD426A6D-0C4F-4FD7-7E1E-D2249C04C112}"/>
              </a:ext>
            </a:extLst>
          </p:cNvPr>
          <p:cNvSpPr/>
          <p:nvPr/>
        </p:nvSpPr>
        <p:spPr>
          <a:xfrm>
            <a:off x="822960" y="548640"/>
            <a:ext cx="16733520" cy="822960"/>
          </a:xfrm>
          <a:prstGeom prst="rect">
            <a:avLst/>
          </a:prstGeom>
          <a:noFill/>
          <a:ln/>
        </p:spPr>
        <p:txBody>
          <a:bodyPr wrap="square" rtlCol="0" anchor="ctr"/>
          <a:lstStyle/>
          <a:p>
            <a:r>
              <a:rPr lang="en-US" sz="4500" b="1" dirty="0">
                <a:solidFill>
                  <a:srgbClr val="0F172A"/>
                </a:solidFill>
                <a:latin typeface="Garamond" panose="02020404030301010803" pitchFamily="18" charset="0"/>
                <a:ea typeface="Calibri" pitchFamily="34" charset="-122"/>
                <a:cs typeface="Calibri" pitchFamily="34" charset="-120"/>
              </a:rPr>
              <a:t>9.2. Synthesis: Flowchart</a:t>
            </a:r>
            <a:endParaRPr lang="en-US" sz="4500" dirty="0">
              <a:latin typeface="Garamond" panose="02020404030301010803" pitchFamily="18" charset="0"/>
            </a:endParaRPr>
          </a:p>
        </p:txBody>
      </p:sp>
      <p:pic>
        <p:nvPicPr>
          <p:cNvPr id="12" name="Picture 11">
            <a:extLst>
              <a:ext uri="{FF2B5EF4-FFF2-40B4-BE49-F238E27FC236}">
                <a16:creationId xmlns:a16="http://schemas.microsoft.com/office/drawing/2014/main" id="{078266CB-0D2D-354F-8AB0-FB24A7CB496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647437"/>
            <a:ext cx="2819400" cy="8476478"/>
          </a:xfrm>
          <a:prstGeom prst="rect">
            <a:avLst/>
          </a:prstGeom>
          <a:noFill/>
          <a:ln>
            <a:noFill/>
          </a:ln>
        </p:spPr>
      </p:pic>
      <p:pic>
        <p:nvPicPr>
          <p:cNvPr id="13" name="Picture 12">
            <a:extLst>
              <a:ext uri="{FF2B5EF4-FFF2-40B4-BE49-F238E27FC236}">
                <a16:creationId xmlns:a16="http://schemas.microsoft.com/office/drawing/2014/main" id="{4D8A4746-F327-F1AE-CF34-B57B4A0265F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1647437"/>
            <a:ext cx="3124200" cy="8476478"/>
          </a:xfrm>
          <a:prstGeom prst="rect">
            <a:avLst/>
          </a:prstGeom>
          <a:noFill/>
          <a:ln>
            <a:noFill/>
          </a:ln>
        </p:spPr>
      </p:pic>
      <p:pic>
        <p:nvPicPr>
          <p:cNvPr id="14" name="Picture 13">
            <a:extLst>
              <a:ext uri="{FF2B5EF4-FFF2-40B4-BE49-F238E27FC236}">
                <a16:creationId xmlns:a16="http://schemas.microsoft.com/office/drawing/2014/main" id="{12A209C8-C879-257B-437D-E64B33B3EA2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686371" y="1671907"/>
            <a:ext cx="3124200" cy="8476478"/>
          </a:xfrm>
          <a:prstGeom prst="rect">
            <a:avLst/>
          </a:prstGeom>
          <a:noFill/>
          <a:ln>
            <a:noFill/>
          </a:ln>
        </p:spPr>
      </p:pic>
    </p:spTree>
    <p:extLst>
      <p:ext uri="{BB962C8B-B14F-4D97-AF65-F5344CB8AC3E}">
        <p14:creationId xmlns:p14="http://schemas.microsoft.com/office/powerpoint/2010/main" val="473691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85CEE-DECD-283A-4590-3B96054E743C}"/>
            </a:ext>
          </a:extLst>
        </p:cNvPr>
        <p:cNvGrpSpPr/>
        <p:nvPr/>
      </p:nvGrpSpPr>
      <p:grpSpPr>
        <a:xfrm>
          <a:off x="0" y="0"/>
          <a:ext cx="0" cy="0"/>
          <a:chOff x="0" y="0"/>
          <a:chExt cx="0" cy="0"/>
        </a:xfrm>
      </p:grpSpPr>
      <p:sp>
        <p:nvSpPr>
          <p:cNvPr id="11" name="object 2">
            <a:extLst>
              <a:ext uri="{FF2B5EF4-FFF2-40B4-BE49-F238E27FC236}">
                <a16:creationId xmlns:a16="http://schemas.microsoft.com/office/drawing/2014/main" id="{F92393CF-754B-F261-2276-AC7FF85C5D61}"/>
              </a:ext>
            </a:extLst>
          </p:cNvPr>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p>
        </p:txBody>
      </p:sp>
      <p:sp>
        <p:nvSpPr>
          <p:cNvPr id="2" name="Text 0">
            <a:extLst>
              <a:ext uri="{FF2B5EF4-FFF2-40B4-BE49-F238E27FC236}">
                <a16:creationId xmlns:a16="http://schemas.microsoft.com/office/drawing/2014/main" id="{690FFFE5-58EC-7B2B-4782-59C06BD887B0}"/>
              </a:ext>
            </a:extLst>
          </p:cNvPr>
          <p:cNvSpPr/>
          <p:nvPr/>
        </p:nvSpPr>
        <p:spPr>
          <a:xfrm>
            <a:off x="822960" y="548640"/>
            <a:ext cx="16733520" cy="822960"/>
          </a:xfrm>
          <a:prstGeom prst="rect">
            <a:avLst/>
          </a:prstGeom>
          <a:noFill/>
          <a:ln/>
        </p:spPr>
        <p:txBody>
          <a:bodyPr wrap="square" rtlCol="0" anchor="ctr"/>
          <a:lstStyle/>
          <a:p>
            <a:r>
              <a:rPr lang="en-US" sz="4500" b="1" dirty="0">
                <a:solidFill>
                  <a:srgbClr val="0F172A"/>
                </a:solidFill>
                <a:latin typeface="Garamond" panose="02020404030301010803" pitchFamily="18" charset="0"/>
                <a:ea typeface="Calibri" pitchFamily="34" charset="-122"/>
                <a:cs typeface="Calibri" pitchFamily="34" charset="-120"/>
              </a:rPr>
              <a:t>9.2.1. Synthesis: Overall System Flowchart</a:t>
            </a:r>
            <a:endParaRPr lang="en-US" sz="4500" dirty="0">
              <a:latin typeface="Garamond" panose="02020404030301010803" pitchFamily="18" charset="0"/>
            </a:endParaRPr>
          </a:p>
        </p:txBody>
      </p:sp>
      <p:pic>
        <p:nvPicPr>
          <p:cNvPr id="4" name="Picture 3">
            <a:extLst>
              <a:ext uri="{FF2B5EF4-FFF2-40B4-BE49-F238E27FC236}">
                <a16:creationId xmlns:a16="http://schemas.microsoft.com/office/drawing/2014/main" id="{19BC9295-D5CB-33D7-144A-FE9EFFF9F17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1371600"/>
            <a:ext cx="4724400" cy="8748661"/>
          </a:xfrm>
          <a:prstGeom prst="rect">
            <a:avLst/>
          </a:prstGeom>
          <a:noFill/>
          <a:ln>
            <a:noFill/>
          </a:ln>
        </p:spPr>
      </p:pic>
    </p:spTree>
    <p:extLst>
      <p:ext uri="{BB962C8B-B14F-4D97-AF65-F5344CB8AC3E}">
        <p14:creationId xmlns:p14="http://schemas.microsoft.com/office/powerpoint/2010/main" val="1061279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descr="$PPTXTitle"/>
          <p:cNvSpPr txBox="1">
            <a:spLocks noGrp="1"/>
          </p:cNvSpPr>
          <p:nvPr>
            <p:ph type="title"/>
          </p:nvPr>
        </p:nvSpPr>
        <p:spPr>
          <a:xfrm>
            <a:off x="3810000" y="4613868"/>
            <a:ext cx="11504852" cy="1059264"/>
          </a:xfrm>
          <a:prstGeom prst="rect">
            <a:avLst/>
          </a:prstGeom>
        </p:spPr>
        <p:txBody>
          <a:bodyPr vert="horz" wrap="square" lIns="0" tIns="12700" rIns="0" bIns="0" rtlCol="0">
            <a:spAutoFit/>
          </a:bodyPr>
          <a:lstStyle/>
          <a:p>
            <a:pPr marL="12700">
              <a:lnSpc>
                <a:spcPct val="100000"/>
              </a:lnSpc>
              <a:spcBef>
                <a:spcPts val="100"/>
              </a:spcBef>
            </a:pPr>
            <a:r>
              <a:rPr lang="en-US" spc="385" dirty="0"/>
              <a:t>Conclusion and Further Work</a:t>
            </a:r>
            <a:endParaRPr spc="484"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2">
            <a:extLst>
              <a:ext uri="{FF2B5EF4-FFF2-40B4-BE49-F238E27FC236}">
                <a16:creationId xmlns:a16="http://schemas.microsoft.com/office/drawing/2014/main" id="{641C9F3F-7305-CB89-53E5-98540B2B2EB2}"/>
              </a:ext>
            </a:extLst>
          </p:cNvPr>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1EADE"/>
          </a:solidFill>
        </p:spPr>
        <p:txBody>
          <a:bodyPr wrap="square" lIns="0" tIns="0" rIns="0" bIns="0" rtlCol="0"/>
          <a:lstStyle/>
          <a:p>
            <a:endParaRPr>
              <a:latin typeface="Garamond" panose="02020404030301010803" pitchFamily="18" charset="0"/>
            </a:endParaRPr>
          </a:p>
        </p:txBody>
      </p:sp>
      <p:sp>
        <p:nvSpPr>
          <p:cNvPr id="2" name="Text 0"/>
          <p:cNvSpPr/>
          <p:nvPr/>
        </p:nvSpPr>
        <p:spPr>
          <a:xfrm>
            <a:off x="822960" y="548640"/>
            <a:ext cx="16733520" cy="822960"/>
          </a:xfrm>
          <a:prstGeom prst="rect">
            <a:avLst/>
          </a:prstGeom>
          <a:noFill/>
          <a:ln/>
        </p:spPr>
        <p:txBody>
          <a:bodyPr wrap="square" rtlCol="0" anchor="ctr"/>
          <a:lstStyle/>
          <a:p>
            <a:r>
              <a:rPr lang="en-US" sz="4500" b="1" dirty="0">
                <a:solidFill>
                  <a:srgbClr val="0F172A"/>
                </a:solidFill>
                <a:latin typeface="Garamond" panose="02020404030301010803" pitchFamily="18" charset="0"/>
                <a:ea typeface="Calibri" pitchFamily="34" charset="-122"/>
                <a:cs typeface="Calibri" pitchFamily="34" charset="-120"/>
              </a:rPr>
              <a:t>10. Conclusion &amp; Further Work</a:t>
            </a:r>
            <a:endParaRPr lang="en-US" sz="4500" dirty="0">
              <a:latin typeface="Garamond" panose="02020404030301010803" pitchFamily="18" charset="0"/>
            </a:endParaRPr>
          </a:p>
        </p:txBody>
      </p:sp>
      <p:sp>
        <p:nvSpPr>
          <p:cNvPr id="3" name="Shape 1"/>
          <p:cNvSpPr/>
          <p:nvPr/>
        </p:nvSpPr>
        <p:spPr>
          <a:xfrm>
            <a:off x="822960" y="1440180"/>
            <a:ext cx="16733520" cy="0"/>
          </a:xfrm>
          <a:prstGeom prst="line">
            <a:avLst/>
          </a:prstGeom>
          <a:noFill/>
          <a:ln w="12700">
            <a:solidFill>
              <a:srgbClr val="CBD5E1"/>
            </a:solidFill>
            <a:prstDash val="solid"/>
          </a:ln>
        </p:spPr>
        <p:txBody>
          <a:bodyPr/>
          <a:lstStyle/>
          <a:p>
            <a:endParaRPr lang="en-US">
              <a:latin typeface="Garamond" panose="02020404030301010803" pitchFamily="18" charset="0"/>
            </a:endParaRPr>
          </a:p>
        </p:txBody>
      </p:sp>
      <p:sp>
        <p:nvSpPr>
          <p:cNvPr id="4" name="Shape 2"/>
          <p:cNvSpPr/>
          <p:nvPr/>
        </p:nvSpPr>
        <p:spPr>
          <a:xfrm>
            <a:off x="891540" y="1714500"/>
            <a:ext cx="17244060" cy="8023860"/>
          </a:xfrm>
          <a:prstGeom prst="roundRect">
            <a:avLst/>
          </a:prstGeom>
          <a:solidFill>
            <a:schemeClr val="bg1">
              <a:lumMod val="95000"/>
            </a:schemeClr>
          </a:solidFill>
          <a:ln w="12700">
            <a:solidFill>
              <a:srgbClr val="E2E8F0"/>
            </a:solidFill>
            <a:prstDash val="solid"/>
          </a:ln>
          <a:effectLst>
            <a:outerShdw blurRad="38100" dist="12700" dir="2700000" algn="bl" rotWithShape="0">
              <a:srgbClr val="000000">
                <a:alpha val="10000"/>
              </a:srgbClr>
            </a:outerShdw>
          </a:effectLst>
        </p:spPr>
        <p:txBody>
          <a:bodyPr/>
          <a:lstStyle/>
          <a:p>
            <a:endParaRPr lang="en-US">
              <a:latin typeface="Garamond" panose="02020404030301010803" pitchFamily="18" charset="0"/>
            </a:endParaRPr>
          </a:p>
        </p:txBody>
      </p:sp>
      <p:sp>
        <p:nvSpPr>
          <p:cNvPr id="5" name="Shape 3"/>
          <p:cNvSpPr/>
          <p:nvPr/>
        </p:nvSpPr>
        <p:spPr>
          <a:xfrm>
            <a:off x="1303020" y="2194560"/>
            <a:ext cx="5212080" cy="7063740"/>
          </a:xfrm>
          <a:prstGeom prst="roundRect">
            <a:avLst/>
          </a:prstGeom>
          <a:solidFill>
            <a:srgbClr val="FFFFFF"/>
          </a:solidFill>
          <a:ln w="12700">
            <a:solidFill>
              <a:srgbClr val="E2E8F0"/>
            </a:solidFill>
            <a:prstDash val="solid"/>
          </a:ln>
        </p:spPr>
        <p:txBody>
          <a:bodyPr/>
          <a:lstStyle/>
          <a:p>
            <a:endParaRPr lang="en-US">
              <a:latin typeface="Garamond" panose="02020404030301010803" pitchFamily="18" charset="0"/>
            </a:endParaRPr>
          </a:p>
        </p:txBody>
      </p:sp>
      <p:sp>
        <p:nvSpPr>
          <p:cNvPr id="6" name="Text 4"/>
          <p:cNvSpPr/>
          <p:nvPr/>
        </p:nvSpPr>
        <p:spPr>
          <a:xfrm>
            <a:off x="1645920" y="2537460"/>
            <a:ext cx="4526280" cy="548640"/>
          </a:xfrm>
          <a:prstGeom prst="rect">
            <a:avLst/>
          </a:prstGeom>
          <a:noFill/>
          <a:ln/>
        </p:spPr>
        <p:txBody>
          <a:bodyPr wrap="square" rtlCol="0" anchor="ctr"/>
          <a:lstStyle/>
          <a:p>
            <a:r>
              <a:rPr lang="en-US" sz="3200" b="1" dirty="0">
                <a:solidFill>
                  <a:srgbClr val="0F172A"/>
                </a:solidFill>
                <a:latin typeface="Garamond" panose="02020404030301010803" pitchFamily="18" charset="0"/>
                <a:ea typeface="Calibri" pitchFamily="34" charset="-122"/>
                <a:cs typeface="Calibri" pitchFamily="34" charset="-120"/>
              </a:rPr>
              <a:t>What worked</a:t>
            </a:r>
            <a:endParaRPr lang="en-US" sz="3200" dirty="0">
              <a:latin typeface="Garamond" panose="02020404030301010803" pitchFamily="18" charset="0"/>
            </a:endParaRPr>
          </a:p>
        </p:txBody>
      </p:sp>
      <p:sp>
        <p:nvSpPr>
          <p:cNvPr id="7" name="Text 5"/>
          <p:cNvSpPr/>
          <p:nvPr/>
        </p:nvSpPr>
        <p:spPr>
          <a:xfrm>
            <a:off x="1645920" y="3223260"/>
            <a:ext cx="4526280" cy="5692140"/>
          </a:xfrm>
          <a:prstGeom prst="rect">
            <a:avLst/>
          </a:prstGeom>
          <a:noFill/>
          <a:ln/>
        </p:spPr>
        <p:txBody>
          <a:bodyPr wrap="square" rtlCol="0" anchor="t"/>
          <a:lstStyle/>
          <a:p>
            <a:pPr marL="342900" indent="-342900">
              <a:spcAft>
                <a:spcPts val="9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End-to-end Top-N pipeline</a:t>
            </a:r>
            <a:endParaRPr lang="en-US" sz="2800" dirty="0">
              <a:latin typeface="Garamond" panose="02020404030301010803" pitchFamily="18" charset="0"/>
            </a:endParaRPr>
          </a:p>
          <a:p>
            <a:pPr marL="342900" indent="-342900">
              <a:spcAft>
                <a:spcPts val="9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Time-aware evaluation</a:t>
            </a:r>
            <a:endParaRPr lang="en-US" sz="2800" dirty="0">
              <a:latin typeface="Garamond" panose="02020404030301010803" pitchFamily="18" charset="0"/>
            </a:endParaRPr>
          </a:p>
          <a:p>
            <a:pPr marL="342900" indent="-342900">
              <a:spcAft>
                <a:spcPts val="9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Functional CLI demo</a:t>
            </a:r>
            <a:endParaRPr lang="en-US" sz="2800" dirty="0">
              <a:latin typeface="Garamond" panose="02020404030301010803" pitchFamily="18" charset="0"/>
            </a:endParaRPr>
          </a:p>
        </p:txBody>
      </p:sp>
      <p:sp>
        <p:nvSpPr>
          <p:cNvPr id="8" name="Shape 6"/>
          <p:cNvSpPr/>
          <p:nvPr/>
        </p:nvSpPr>
        <p:spPr>
          <a:xfrm>
            <a:off x="6995160" y="2194560"/>
            <a:ext cx="5212080" cy="7063740"/>
          </a:xfrm>
          <a:prstGeom prst="roundRect">
            <a:avLst/>
          </a:prstGeom>
          <a:solidFill>
            <a:srgbClr val="FFFFFF"/>
          </a:solidFill>
          <a:ln w="12700">
            <a:solidFill>
              <a:srgbClr val="E2E8F0"/>
            </a:solidFill>
            <a:prstDash val="solid"/>
          </a:ln>
        </p:spPr>
        <p:txBody>
          <a:bodyPr/>
          <a:lstStyle/>
          <a:p>
            <a:endParaRPr lang="en-US">
              <a:latin typeface="Garamond" panose="02020404030301010803" pitchFamily="18" charset="0"/>
            </a:endParaRPr>
          </a:p>
        </p:txBody>
      </p:sp>
      <p:sp>
        <p:nvSpPr>
          <p:cNvPr id="9" name="Text 7"/>
          <p:cNvSpPr/>
          <p:nvPr/>
        </p:nvSpPr>
        <p:spPr>
          <a:xfrm>
            <a:off x="7338060" y="2537460"/>
            <a:ext cx="4526280" cy="548640"/>
          </a:xfrm>
          <a:prstGeom prst="rect">
            <a:avLst/>
          </a:prstGeom>
          <a:noFill/>
          <a:ln/>
        </p:spPr>
        <p:txBody>
          <a:bodyPr wrap="square" rtlCol="0" anchor="ctr"/>
          <a:lstStyle/>
          <a:p>
            <a:r>
              <a:rPr lang="en-US" sz="3200" b="1" dirty="0">
                <a:solidFill>
                  <a:srgbClr val="0F172A"/>
                </a:solidFill>
                <a:latin typeface="Garamond" panose="02020404030301010803" pitchFamily="18" charset="0"/>
                <a:ea typeface="Calibri" pitchFamily="34" charset="-122"/>
                <a:cs typeface="Calibri" pitchFamily="34" charset="-120"/>
              </a:rPr>
              <a:t>Real-world value</a:t>
            </a:r>
            <a:endParaRPr lang="en-US" sz="3200" dirty="0">
              <a:latin typeface="Garamond" panose="02020404030301010803" pitchFamily="18" charset="0"/>
            </a:endParaRPr>
          </a:p>
        </p:txBody>
      </p:sp>
      <p:sp>
        <p:nvSpPr>
          <p:cNvPr id="10" name="Text 8"/>
          <p:cNvSpPr/>
          <p:nvPr/>
        </p:nvSpPr>
        <p:spPr>
          <a:xfrm>
            <a:off x="7338060" y="3223260"/>
            <a:ext cx="4526280" cy="5692140"/>
          </a:xfrm>
          <a:prstGeom prst="rect">
            <a:avLst/>
          </a:prstGeom>
          <a:noFill/>
          <a:ln/>
        </p:spPr>
        <p:txBody>
          <a:bodyPr wrap="square" rtlCol="0" anchor="t"/>
          <a:lstStyle/>
          <a:p>
            <a:pPr marL="342900" indent="-342900">
              <a:spcAft>
                <a:spcPts val="9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Improves product discovery</a:t>
            </a:r>
            <a:endParaRPr lang="en-US" sz="2800" dirty="0">
              <a:latin typeface="Garamond" panose="02020404030301010803" pitchFamily="18" charset="0"/>
            </a:endParaRPr>
          </a:p>
          <a:p>
            <a:pPr marL="342900" indent="-342900">
              <a:spcAft>
                <a:spcPts val="9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Saves browsing time</a:t>
            </a:r>
            <a:endParaRPr lang="en-US" sz="2800" dirty="0">
              <a:latin typeface="Garamond" panose="02020404030301010803" pitchFamily="18" charset="0"/>
            </a:endParaRPr>
          </a:p>
          <a:p>
            <a:pPr marL="342900" indent="-342900">
              <a:spcAft>
                <a:spcPts val="9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Reduces choice overload</a:t>
            </a:r>
            <a:endParaRPr lang="en-US" sz="2800" dirty="0">
              <a:latin typeface="Garamond" panose="02020404030301010803" pitchFamily="18" charset="0"/>
            </a:endParaRPr>
          </a:p>
        </p:txBody>
      </p:sp>
      <p:sp>
        <p:nvSpPr>
          <p:cNvPr id="11" name="Shape 9"/>
          <p:cNvSpPr/>
          <p:nvPr/>
        </p:nvSpPr>
        <p:spPr>
          <a:xfrm>
            <a:off x="12610914" y="2194560"/>
            <a:ext cx="5212080" cy="7063740"/>
          </a:xfrm>
          <a:prstGeom prst="roundRect">
            <a:avLst/>
          </a:prstGeom>
          <a:solidFill>
            <a:srgbClr val="FFFFFF"/>
          </a:solidFill>
          <a:ln w="12700">
            <a:solidFill>
              <a:srgbClr val="E2E8F0"/>
            </a:solidFill>
            <a:prstDash val="solid"/>
          </a:ln>
        </p:spPr>
        <p:txBody>
          <a:bodyPr/>
          <a:lstStyle/>
          <a:p>
            <a:endParaRPr lang="en-US">
              <a:latin typeface="Garamond" panose="02020404030301010803" pitchFamily="18" charset="0"/>
            </a:endParaRPr>
          </a:p>
        </p:txBody>
      </p:sp>
      <p:sp>
        <p:nvSpPr>
          <p:cNvPr id="12" name="Text 10"/>
          <p:cNvSpPr/>
          <p:nvPr/>
        </p:nvSpPr>
        <p:spPr>
          <a:xfrm>
            <a:off x="13030200" y="2537460"/>
            <a:ext cx="4526280" cy="548640"/>
          </a:xfrm>
          <a:prstGeom prst="rect">
            <a:avLst/>
          </a:prstGeom>
          <a:noFill/>
          <a:ln/>
        </p:spPr>
        <p:txBody>
          <a:bodyPr wrap="square" rtlCol="0" anchor="ctr"/>
          <a:lstStyle/>
          <a:p>
            <a:r>
              <a:rPr lang="en-US" sz="3200" b="1" dirty="0">
                <a:solidFill>
                  <a:srgbClr val="0F172A"/>
                </a:solidFill>
                <a:latin typeface="Garamond" panose="02020404030301010803" pitchFamily="18" charset="0"/>
                <a:ea typeface="Calibri" pitchFamily="34" charset="-122"/>
                <a:cs typeface="Calibri" pitchFamily="34" charset="-120"/>
              </a:rPr>
              <a:t>Limitations / Next steps</a:t>
            </a:r>
            <a:endParaRPr lang="en-US" sz="3200" dirty="0">
              <a:latin typeface="Garamond" panose="02020404030301010803" pitchFamily="18" charset="0"/>
            </a:endParaRPr>
          </a:p>
        </p:txBody>
      </p:sp>
      <p:sp>
        <p:nvSpPr>
          <p:cNvPr id="13" name="Text 11"/>
          <p:cNvSpPr/>
          <p:nvPr/>
        </p:nvSpPr>
        <p:spPr>
          <a:xfrm>
            <a:off x="13030200" y="3223260"/>
            <a:ext cx="4526280" cy="5692140"/>
          </a:xfrm>
          <a:prstGeom prst="rect">
            <a:avLst/>
          </a:prstGeom>
          <a:noFill/>
          <a:ln/>
        </p:spPr>
        <p:txBody>
          <a:bodyPr wrap="square" rtlCol="0" anchor="t"/>
          <a:lstStyle/>
          <a:p>
            <a:pPr marL="342900" indent="-342900">
              <a:spcAft>
                <a:spcPts val="9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System Implementation</a:t>
            </a:r>
            <a:endParaRPr lang="en-US" sz="2800" dirty="0">
              <a:latin typeface="Garamond" panose="02020404030301010803" pitchFamily="18" charset="0"/>
            </a:endParaRPr>
          </a:p>
          <a:p>
            <a:pPr marL="342900" indent="-342900">
              <a:spcAft>
                <a:spcPts val="9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Live Dataset from a store</a:t>
            </a:r>
            <a:endParaRPr lang="en-US" sz="2800" dirty="0">
              <a:latin typeface="Garamond" panose="02020404030301010803" pitchFamily="18" charset="0"/>
            </a:endParaRPr>
          </a:p>
          <a:p>
            <a:pPr marL="342900" indent="-342900">
              <a:spcAft>
                <a:spcPts val="9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Hybrid model and web UI</a:t>
            </a:r>
          </a:p>
          <a:p>
            <a:pPr marL="342900" indent="-342900">
              <a:spcAft>
                <a:spcPts val="900"/>
              </a:spcAft>
              <a:buSzPct val="100000"/>
              <a:buChar char="•"/>
            </a:pPr>
            <a:r>
              <a:rPr lang="en-US" sz="2800" dirty="0">
                <a:solidFill>
                  <a:srgbClr val="0F172A"/>
                </a:solidFill>
                <a:latin typeface="Garamond" panose="02020404030301010803" pitchFamily="18" charset="0"/>
                <a:ea typeface="Calibri" pitchFamily="34" charset="-122"/>
                <a:cs typeface="Calibri" pitchFamily="34" charset="-120"/>
              </a:rPr>
              <a:t>Using more advanced Models for more accurate results</a:t>
            </a:r>
            <a:endParaRPr lang="en-US" sz="2800" dirty="0">
              <a:latin typeface="Garamond" panose="02020404030301010803"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49747-4298-297E-1B84-D5D3DE987A5A}"/>
            </a:ext>
          </a:extLst>
        </p:cNvPr>
        <p:cNvGrpSpPr/>
        <p:nvPr/>
      </p:nvGrpSpPr>
      <p:grpSpPr>
        <a:xfrm>
          <a:off x="0" y="0"/>
          <a:ext cx="0" cy="0"/>
          <a:chOff x="0" y="0"/>
          <a:chExt cx="0" cy="0"/>
        </a:xfrm>
      </p:grpSpPr>
      <p:sp>
        <p:nvSpPr>
          <p:cNvPr id="4" name="object 4" descr="$PPTXTitle">
            <a:extLst>
              <a:ext uri="{FF2B5EF4-FFF2-40B4-BE49-F238E27FC236}">
                <a16:creationId xmlns:a16="http://schemas.microsoft.com/office/drawing/2014/main" id="{45F554CB-1527-E135-944F-2B8E4928C628}"/>
              </a:ext>
            </a:extLst>
          </p:cNvPr>
          <p:cNvSpPr txBox="1">
            <a:spLocks noGrp="1"/>
          </p:cNvSpPr>
          <p:nvPr>
            <p:ph type="title"/>
          </p:nvPr>
        </p:nvSpPr>
        <p:spPr>
          <a:xfrm>
            <a:off x="6783148" y="4055429"/>
            <a:ext cx="11504852" cy="1059264"/>
          </a:xfrm>
          <a:prstGeom prst="rect">
            <a:avLst/>
          </a:prstGeom>
        </p:spPr>
        <p:txBody>
          <a:bodyPr vert="horz" wrap="square" lIns="0" tIns="12700" rIns="0" bIns="0" rtlCol="0">
            <a:spAutoFit/>
          </a:bodyPr>
          <a:lstStyle/>
          <a:p>
            <a:pPr marL="12700">
              <a:lnSpc>
                <a:spcPct val="100000"/>
              </a:lnSpc>
              <a:spcBef>
                <a:spcPts val="100"/>
              </a:spcBef>
            </a:pPr>
            <a:r>
              <a:rPr lang="en-US" spc="385" dirty="0"/>
              <a:t>Thank You!</a:t>
            </a:r>
            <a:endParaRPr spc="484" dirty="0"/>
          </a:p>
        </p:txBody>
      </p:sp>
    </p:spTree>
    <p:extLst>
      <p:ext uri="{BB962C8B-B14F-4D97-AF65-F5344CB8AC3E}">
        <p14:creationId xmlns:p14="http://schemas.microsoft.com/office/powerpoint/2010/main" val="1884754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121</TotalTime>
  <Words>1647</Words>
  <Application>Microsoft Office PowerPoint</Application>
  <PresentationFormat>Custom</PresentationFormat>
  <Paragraphs>252</Paragraphs>
  <Slides>36</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Aptos</vt:lpstr>
      <vt:lpstr>Aptos Display</vt:lpstr>
      <vt:lpstr>Arial</vt:lpstr>
      <vt:lpstr>Calibri</vt:lpstr>
      <vt:lpstr>Garamond</vt:lpstr>
      <vt:lpstr>Gill Sans MT</vt:lpstr>
      <vt:lpstr>Office Theme</vt:lpstr>
      <vt:lpstr>1_Office Theme</vt:lpstr>
      <vt:lpstr>PowerPoint Presentation</vt:lpstr>
      <vt:lpstr>Agenda</vt:lpstr>
      <vt:lpstr> Introduction</vt:lpstr>
      <vt:lpstr>1. Introduction</vt:lpstr>
      <vt:lpstr>Problem &amp; Motivation</vt:lpstr>
      <vt:lpstr>2.1. Problem:</vt:lpstr>
      <vt:lpstr>PowerPoint Presentation</vt:lpstr>
      <vt:lpstr>2.3. Final Thoughts after addressing the problems:</vt:lpstr>
      <vt:lpstr>Data Set Overview</vt:lpstr>
      <vt:lpstr>PowerPoint Presentation</vt:lpstr>
      <vt:lpstr>3.2. Original Dataset Size &amp; Structure</vt:lpstr>
      <vt:lpstr>AI Concepts &amp; Research Evidence</vt:lpstr>
      <vt:lpstr>PowerPoint Presentation</vt:lpstr>
      <vt:lpstr>4.1. Research Evidence</vt:lpstr>
      <vt:lpstr>System Pipeline: How it Works</vt:lpstr>
      <vt:lpstr>5. System Pipeline Overview</vt:lpstr>
      <vt:lpstr>5.1. How it Works:</vt:lpstr>
      <vt:lpstr>5.1.1. Demo:</vt:lpstr>
      <vt:lpstr>Comparison Of  Methods</vt:lpstr>
      <vt:lpstr>6. Models Implemented</vt:lpstr>
      <vt:lpstr>PowerPoint Presentation</vt:lpstr>
      <vt:lpstr>Solution and Achieved Results</vt:lpstr>
      <vt:lpstr>7.1.How We Used Train/Test Strategy</vt:lpstr>
      <vt:lpstr>PowerPoint Presentation</vt:lpstr>
      <vt:lpstr>PowerPoint Presentation</vt:lpstr>
      <vt:lpstr>Truncated SVD: How the Main Model Works</vt:lpstr>
      <vt:lpstr>PowerPoint Presentation</vt:lpstr>
      <vt:lpstr>Synthesis: Pseudocode and Flowchart</vt:lpstr>
      <vt:lpstr>Pseudocode Overview</vt:lpstr>
      <vt:lpstr>PowerPoint Presentation</vt:lpstr>
      <vt:lpstr>PowerPoint Presentation</vt:lpstr>
      <vt:lpstr>PowerPoint Presentation</vt:lpstr>
      <vt:lpstr>PowerPoint Presentation</vt:lpstr>
      <vt:lpstr>Conclusion and Further Work</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SujaL</dc:creator>
  <cp:lastModifiedBy>Sujal Parajuli</cp:lastModifiedBy>
  <cp:revision>192</cp:revision>
  <dcterms:created xsi:type="dcterms:W3CDTF">2026-01-21T09:32:44Z</dcterms:created>
  <dcterms:modified xsi:type="dcterms:W3CDTF">2026-01-21T11:50:29Z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2026-01-21T00:00:00Z</vt:filetime>
  </property>
  <property fmtid="{D5CDD505-2E9C-101B-9397-08002B2CF9AE}" pid="3" name="CreationClient">
    <vt:lpwstr>outline-to-presentation</vt:lpwstr>
  </property>
  <property fmtid="{D5CDD505-2E9C-101B-9397-08002B2CF9AE}" pid="4" name="Creator">
    <vt:lpwstr>Adobe Express</vt:lpwstr>
  </property>
  <property fmtid="{D5CDD505-2E9C-101B-9397-08002B2CF9AE}" pid="5" name="LastSaved">
    <vt:filetime>2026-01-21T00:00:00Z</vt:filetime>
  </property>
  <property fmtid="{D5CDD505-2E9C-101B-9397-08002B2CF9AE}" pid="6" name="Producer">
    <vt:lpwstr>Adobe Express</vt:lpwstr>
  </property>
</Properties>
</file>